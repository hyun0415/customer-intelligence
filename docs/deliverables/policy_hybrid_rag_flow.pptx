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23019803b241b0" /><Relationship Type="http://schemas.openxmlformats.org/officeDocument/2006/relationships/extended-properties" Target="/docProps/app.xml" Id="Rf97ac1db15c74096" /><Relationship Type="http://schemas.openxmlformats.org/officeDocument/2006/relationships/officeDocument" Target="/ppt/presentation.xml" Id="R82d75fc981a24e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7df41d984046a8"/>
  </p:sldMasterIdLst>
  <p:notesMasterIdLst>
    <p:notesMasterId xmlns:r="http://schemas.openxmlformats.org/officeDocument/2006/relationships" r:id="Rfab9b848f2804f4d"/>
  </p:notesMasterIdLst>
  <p:sldIdLst>
    <p:sldId xmlns:r="http://schemas.openxmlformats.org/officeDocument/2006/relationships" id="256" r:id="Ra8e62ea1976f4e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38df97e59e4886" /><Relationship Type="http://schemas.openxmlformats.org/officeDocument/2006/relationships/slideMaster" Target="/ppt/slideMasters/slideMaster1.xml" Id="R177df41d984046a8" /><Relationship Type="http://schemas.openxmlformats.org/officeDocument/2006/relationships/notesMaster" Target="/ppt/notesMasters/notesMaster1.xml" Id="Rfab9b848f2804f4d" /><Relationship Type="http://schemas.openxmlformats.org/officeDocument/2006/relationships/presProps" Target="/ppt/presProps.xml" Id="R857cf8fcc8404924" /><Relationship Type="http://schemas.openxmlformats.org/officeDocument/2006/relationships/tableStyles" Target="/ppt/tableStyles.xml" Id="Ra08578865f4d4644" /><Relationship Type="http://schemas.openxmlformats.org/officeDocument/2006/relationships/slide" Target="/ppt/slides/slide1.xml" Id="Ra8e62ea1976f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7ed50f777846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0aca9c18984573" /><Relationship Type="http://schemas.openxmlformats.org/officeDocument/2006/relationships/notesMaster" Target="/ppt/notesMasters/notesMaster1.xml" Id="Ra8b1088d9b9942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근거: src/rag/retriever.py, src/rag/rerankers.py, src/rag/evidence.py, src/rag/config.py. PostgreSQL FTS와 OpenAI Embedding 검색을 RRF로 통합하고, BGE-M3 multi-vector MaxSim 재정렬, 정책 우선순위, LLM 근거 유효성 판정을 거쳐 응답 상태를 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1b574b5d1f45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138ec7f3da4215" /><Relationship Type="http://schemas.openxmlformats.org/officeDocument/2006/relationships/slideLayout" Target="/ppt/slideLayouts/slideLayout1.xml" Id="Ra7fe93902d564c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e93902d564c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f4400e3b943a8" /><Relationship Type="http://schemas.openxmlformats.org/officeDocument/2006/relationships/image" Target="/ppt/media/image.png" Id="Rb15db1022ea44bd8" /><Relationship Type="http://schemas.openxmlformats.org/officeDocument/2006/relationships/image" Target="/ppt/media/image.svg" Id="R6f45bff5edd949ab" /><Relationship Type="http://schemas.openxmlformats.org/officeDocument/2006/relationships/image" Target="/ppt/media/image2.png" Id="Rba3f471bb82e4c3b" /><Relationship Type="http://schemas.openxmlformats.org/officeDocument/2006/relationships/image" Target="/ppt/media/image2.svg" Id="R837a260a89d5477f" /><Relationship Type="http://schemas.openxmlformats.org/officeDocument/2006/relationships/image" Target="/ppt/media/image3.png" Id="R3f1d9a15d3e84692" /><Relationship Type="http://schemas.openxmlformats.org/officeDocument/2006/relationships/image" Target="/ppt/media/image3.svg" Id="Rb4b492c3110d4128" /><Relationship Type="http://schemas.openxmlformats.org/officeDocument/2006/relationships/image" Target="/ppt/media/image4.png" Id="R57d4181d54cf4463" /><Relationship Type="http://schemas.openxmlformats.org/officeDocument/2006/relationships/image" Target="/ppt/media/image4.svg" Id="R190eac104e6c471a" /><Relationship Type="http://schemas.openxmlformats.org/officeDocument/2006/relationships/image" Target="/ppt/media/image5.png" Id="R64d9cc60392b4bb3" /><Relationship Type="http://schemas.openxmlformats.org/officeDocument/2006/relationships/image" Target="/ppt/media/image5.svg" Id="R7807f0f326f640fc" /><Relationship Type="http://schemas.openxmlformats.org/officeDocument/2006/relationships/image" Target="/ppt/media/image6.png" Id="Ra3017e9132bb410c" /><Relationship Type="http://schemas.openxmlformats.org/officeDocument/2006/relationships/image" Target="/ppt/media/image6.svg" Id="R8346c9fa24d44fa2" /><Relationship Type="http://schemas.openxmlformats.org/officeDocument/2006/relationships/image" Target="/ppt/media/image7.png" Id="R73723d41cb4c4631" /><Relationship Type="http://schemas.openxmlformats.org/officeDocument/2006/relationships/image" Target="/ppt/media/image7.svg" Id="R5e43dc29b87043a7" /><Relationship Type="http://schemas.openxmlformats.org/officeDocument/2006/relationships/notesSlide" Target="/ppt/notesSlides/notesSlide1.xml" Id="Rc1a7e5ae185347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3B79834-FB4D-422B-AE3E-F59E3A18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88C71-CBAB-457A-99C0-3A51D90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정책 Hybrid RAG 검색과 근거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A9DB5-42FE-4A3C-B522-1332B631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1917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권한 범위 안에서 후보를 찾고, 재정렬과 근거 판정을 거쳐 응답 상태를 결정합니다.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9AEB1-CFBF-42F8-8183-68FB4F74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01  범위 제한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DD3F8-9330-4321-8721-B48CDF1C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02  후보 검색과 정밀 재정렬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02126-7D77-4A2D-A4DE-61D95FA4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049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1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03  근거 판정과 응답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9FCAE-E78D-483C-88F3-8BB2BE46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347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075C9-87DC-4851-B972-C26D0D19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7165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16E05-48EF-41D9-BC60-2682310B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716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8E3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5C5B1-5460-462B-B760-F9F74B4D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38425"/>
            <a:ext cx="1428750" cy="1000125"/>
          </a:xfrm>
          <a:prstGeom xmlns:a="http://schemas.openxmlformats.org/drawingml/2006/main" prst="roundRect">
            <a:avLst>
              <a:gd name="adj" fmla="val 1238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D8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4FCBF-2454-4D88-86A5-765B52C7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db1022ea44bd8">
            <a:extLst>
              <a:ext uri="{96DAC541-7B7A-43D3-8B79-37D633B846F1}">
                <asvg:svgBlip xmlns:asvg="http://schemas.microsoft.com/office/drawing/2016/SVG/main" r:embed="R6f45bff5edd949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28098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48715-C74A-43E8-8092-85955F68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43200"/>
            <a:ext cx="828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F8872-A3D4-4BF7-944F-E0460D89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14650"/>
            <a:ext cx="828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정책 질문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0D695-7F4C-4113-9E07-923F6FC1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71825"/>
            <a:ext cx="828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질문과 사용자 권한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B7B2D-8076-4BF7-921F-68F74D8E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47925"/>
            <a:ext cx="1809750" cy="1381125"/>
          </a:xfrm>
          <a:prstGeom xmlns:a="http://schemas.openxmlformats.org/drawingml/2006/main" prst="roundRect">
            <a:avLst>
              <a:gd name="adj" fmla="val 8966"/>
            </a:avLst>
          </a:prstGeom>
          <a:solidFill xmlns:a="http://schemas.openxmlformats.org/drawingml/2006/main">
            <a:srgbClr val="F2FAF6"/>
          </a:solidFill>
          <a:ln xmlns:a="http://schemas.openxmlformats.org/drawingml/2006/main" w="11430">
            <a:solidFill>
              <a:srgbClr val="5E8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B6D22-FAFA-4912-8DC5-B50EA566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622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f471bb82e4c3b">
            <a:extLst>
              <a:ext uri="{96DAC541-7B7A-43D3-8B79-37D633B846F1}">
                <asvg:svgBlip xmlns:asvg="http://schemas.microsoft.com/office/drawing/2016/SVG/main" r:embed="R837a260a89d547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305050" y="26193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3906F-66AD-4214-B7D8-C1DD9872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52700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SERVER FILTER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4C7E5-CD39-45B7-BD53-0D5ABF43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24150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정책 범위 필터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52AE3-7CA6-4D1F-851E-FEC97D00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81325"/>
            <a:ext cx="12096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제품 범위·유효기간</a:t>
            </a:r>
          </a:p>
          <a:p xmlns:a="http://schemas.openxmlformats.org/drawingml/2006/main">
            <a:pPr algn="l"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Collection·관할·부서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1F7FF-21CD-4650-85ED-D02CCA9D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57575"/>
            <a:ext cx="6381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7664F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권한 강제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EFCCC9-57FB-415E-91CE-B16814A3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1809750" cy="981075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97060C-3DF4-4E9B-925F-DA017A77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d9a15d3e84692">
            <a:extLst>
              <a:ext uri="{96DAC541-7B7A-43D3-8B79-37D633B846F1}">
                <asvg:svgBlip xmlns:asvg="http://schemas.microsoft.com/office/drawing/2016/SVG/main" r:embed="Rb4b492c3110d412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21526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55EF3-ABA9-4295-8C7C-6603E68B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85975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KEYWORD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5F37A5-55EF-4A6B-A467-A49934E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257425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PostgreSQL FTS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47889-D184-4A5C-8F32-5E61F965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14600"/>
            <a:ext cx="1209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정확한 용어와 조건 검색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2DCBEA-F5A3-4620-B308-7C05865D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1809750" cy="981075"/>
          </a:xfrm>
          <a:prstGeom xmlns:a="http://schemas.openxmlformats.org/drawingml/2006/main" prst="roundRect">
            <a:avLst>
              <a:gd name="adj" fmla="val 12621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11430">
            <a:solidFill>
              <a:srgbClr val="6B4BB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1B299E-0349-4B3F-810F-3BD497A6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4181d54cf4463">
            <a:extLst>
              <a:ext uri="{96DAC541-7B7A-43D3-8B79-37D633B846F1}">
                <asvg:svgBlip xmlns:asvg="http://schemas.microsoft.com/office/drawing/2016/SVG/main" r:embed="R190eac104e6c47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3638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F7B810-C47D-4637-87E8-74EC2859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71875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SEMANTIC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E8BA3-7429-4A08-8D74-B70DA393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43325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284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Embedding 기반 검색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5E82F7-376F-448E-8D80-4C699B58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00500"/>
            <a:ext cx="1209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질문과 Child 의미 유사도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31B081-F6B2-4B6F-BA5B-8D95B0CA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2"/>
          </a:solidFill>
          <a:ln xmlns:a="http://schemas.openxmlformats.org/drawingml/2006/main" w="19050">
            <a:solidFill>
              <a:srgbClr val="27664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FUSION</a:t>
            </a:r>
          </a:p>
          <a:p xmlns:a="http://schemas.openxmlformats.org/drawingml/2006/main">
            <a:pPr algn="ctr">
              <a:def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RRF</a:t>
            </a:r>
          </a:p>
          <a:p xmlns:a="http://schemas.openxmlformats.org/drawingml/2006/main">
            <a:pPr algn="ctr">
              <a:def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두 검색 순위 통합</a:t>
            </a:r>
          </a:p>
          <a:p xmlns:a="http://schemas.openxmlformats.org/drawingml/2006/main">
            <a:pPr algn="ctr">
              <a:def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k = 60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A6780-8CDF-44B6-8990-F280E58A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95525"/>
            <a:ext cx="1809750" cy="1685925"/>
          </a:xfrm>
          <a:prstGeom xmlns:a="http://schemas.openxmlformats.org/drawingml/2006/main" prst="roundRect">
            <a:avLst>
              <a:gd name="adj" fmla="val 7345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19050">
            <a:solidFill>
              <a:srgbClr val="6B4B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38C7C0-BAD4-4DB3-88A5-5891413C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098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9cc60392b4bb3">
            <a:extLst>
              <a:ext uri="{96DAC541-7B7A-43D3-8B79-37D633B846F1}">
                <asvg:svgBlip xmlns:asvg="http://schemas.microsoft.com/office/drawing/2016/SVG/main" r:embed="R7807f0f326f640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81975" y="24669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E758A5-3D53-4DA4-B1EB-E0A9C816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12096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RERANKER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6CA177-BB3F-40DB-8668-E446350D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1209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BGE-M3 재정렬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C1D7D-367F-4B16-A2FF-459C03A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12096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Multi-vector Late Interaction</a:t>
            </a:r>
          </a:p>
          <a:p xmlns:a="http://schemas.openxmlformats.org/drawingml/2006/main">
            <a:pPr algn="l"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질문 토큰별 MaxSim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5B728A-C31C-4B52-A0C8-F91A4B17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551BD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A20C6B-FC8F-4AF0-8E21-A48C0DD0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31921E-E5ED-4F23-8170-7A6198AA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A92D8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264B33-0348-413F-8B0B-B6D12262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188E84-4849-4EAD-A2EC-21A4C11B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4E9CA4-3CCC-4D26-BD2A-14F53321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F0515D-58FD-4DF0-8190-790FA013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551BD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57A2A6-461D-4091-B61B-E45F08D1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578B54-9DCF-4A91-8FAD-77B1960A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A92D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BB8860-F09B-4EC9-908B-1D445D58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385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CEE076-114A-4C88-8C8F-F8991570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A92D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497F72-1512-4BEF-B195-E97A8EF8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552B2E-EEF1-49C6-A0C5-EC877410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4B0905-56BF-4615-A2A2-A1F7C811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551BD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7BC762-9986-46F4-80DA-81E5EDA1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52850"/>
            <a:ext cx="123825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D5F4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D70F92E-A043-41B4-BA6C-82586537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28825"/>
            <a:ext cx="1562100" cy="800100"/>
          </a:xfrm>
          <a:prstGeom xmlns:a="http://schemas.openxmlformats.org/drawingml/2006/main" prst="roundRect">
            <a:avLst>
              <a:gd name="adj" fmla="val 15476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208817-AE35-4C72-A0B7-5562DFE8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43125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17e9132bb410c">
            <a:extLst>
              <a:ext uri="{96DAC541-7B7A-43D3-8B79-37D633B846F1}">
                <asvg:svgBlip xmlns:asvg="http://schemas.microsoft.com/office/drawing/2016/SVG/main" r:embed="R8346c9fa24d44f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06050" y="22002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4E1E27-CC70-4A14-B421-BE9B1416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133600"/>
            <a:ext cx="9620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POLICY RULE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D80535D-94FC-47FB-BF8D-5F231A6B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305050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정책 우선순위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624DFC-B437-4072-A5DE-420F210D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562225"/>
            <a:ext cx="962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323"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제품 범위·Authority·최신 버전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6B47BD-0984-40B8-B5D5-92986495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81350"/>
            <a:ext cx="1562100" cy="971550"/>
          </a:xfrm>
          <a:prstGeom xmlns:a="http://schemas.openxmlformats.org/drawingml/2006/main" prst="roundRect">
            <a:avLst>
              <a:gd name="adj" fmla="val 12745"/>
            </a:avLst>
          </a:prstGeom>
          <a:solidFill xmlns:a="http://schemas.openxmlformats.org/drawingml/2006/main">
            <a:srgbClr val="F6F1FB"/>
          </a:solidFill>
          <a:ln xmlns:a="http://schemas.openxmlformats.org/drawingml/2006/main" w="19050">
            <a:solidFill>
              <a:srgbClr val="6B4BB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12D04C-D83C-489B-AE4B-D0B9C4D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95650"/>
            <a:ext cx="342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23d41cb4c4631">
            <a:extLst>
              <a:ext uri="{96DAC541-7B7A-43D3-8B79-37D633B846F1}">
                <asvg:svgBlip xmlns:asvg="http://schemas.microsoft.com/office/drawing/2016/SVG/main" r:embed="R5e43dc29b87043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06050" y="33528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3747A0-B65E-4D46-91C0-AA268EBF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286125"/>
            <a:ext cx="9620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23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LLM JUDGMENT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833241-67E7-4ED7-AECB-22B0EE84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457575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근거 유효성 판정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CE45AF-3412-4449-B377-CBD1AEFA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714750"/>
            <a:ext cx="962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9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sufficient · insufficient · conflict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C18903D-73D0-4A2F-9A82-20910F62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7664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018E2F-CA49-46A4-BEB0-334EF0DB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555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SUFFICIENT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62CD120-E027-4382-821A-747E16C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근거 인용 답변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1B712C-1C02-4E1B-A9A7-DFDB853E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유효 정책과 출처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E61133-560F-4F42-A4B7-1A01E1F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D8E3DE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85914C1-7ACA-4D57-BCD7-7F12FF8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55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INSUFFICIENT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9ACDC9-5A39-4DD4-BF2E-92F88E6F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근거 부족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4E5320F-7DB9-40C3-A035-E9B90AAE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no_evidence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61427BB-A5B5-4CD1-9B01-1C30389D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1430">
            <a:solidFill>
              <a:srgbClr val="A5621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37F421-40C6-445B-A767-8C23F9A2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1">
                <a:solidFill>
                  <a:srgbClr val="A56216"/>
                </a:solidFill>
                <a:latin typeface="Noto Sans KR"/>
                <a:ea typeface="Noto Sans KR"/>
                <a:cs typeface="Noto Sans KR"/>
              </a:defRPr>
            </a:pPr>
            <a:r>
              <a:rPr sz="555" b="1">
                <a:solidFill>
                  <a:srgbClr val="A56216"/>
                </a:solidFill>
                <a:latin typeface="Noto Sans KR"/>
                <a:ea typeface="Noto Sans KR"/>
                <a:cs typeface="Noto Sans KR"/>
              </a:rPr>
              <a:t>CONFLICT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A0E312F-A924-4127-997F-AD7F24AB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정책 충돌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792D298-7DBD-4567-B611-AE6C5D80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담당자 확인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FCA979-1090-43A3-95D6-0BFA3183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86325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1430">
            <a:solidFill>
              <a:srgbClr val="A13C4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D2B199-DFE2-43DE-AA7A-FCA90875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991100"/>
            <a:ext cx="1104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1">
                <a:solidFill>
                  <a:srgbClr val="A13C4A"/>
                </a:solidFill>
                <a:latin typeface="Noto Sans KR"/>
                <a:ea typeface="Noto Sans KR"/>
                <a:cs typeface="Noto Sans KR"/>
              </a:defRPr>
            </a:pPr>
            <a:r>
              <a:rPr sz="555" b="1">
                <a:solidFill>
                  <a:srgbClr val="A13C4A"/>
                </a:solidFill>
                <a:latin typeface="Noto Sans KR"/>
                <a:ea typeface="Noto Sans KR"/>
                <a:cs typeface="Noto Sans KR"/>
              </a:rPr>
              <a:t>MEDICAL · SAFETY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AA49179-5B99-4D55-AC14-13EBBB8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172075"/>
            <a:ext cx="1104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즉시 Escalation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83F22DB-FBC9-4FF7-AA0C-EAB4F5CC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410200"/>
            <a:ext cx="110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38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안전 담당자 연결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DC0003D-EC8C-4B11-AE54-9B262336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337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F85C434-977D-4FC2-9731-D912D569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337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1E5ABD-450B-4E3C-8B8A-2338EBBD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6697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982BF80-595C-49C5-840A-A91BAA36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669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06DD03-1A4C-42D1-BF8A-6C6DB2BE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337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D7DAB72-F2DE-45DE-A937-CC375FB4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33725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F9D7CC3-EBB7-475E-A87A-DC0CA061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5287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F049F24-615F-47BF-9D1B-9073F609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6697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B99DCB3-3A6E-4F3B-AF6F-8E22E9CE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3E9E5FD-4D86-4AB6-8DA0-F20C5FA7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057FA4A-F133-47FB-AE4A-C6AD6F5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52875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8B0F59C-9010-43F4-BAAA-DA08CB7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932EA79-B944-474E-ABD2-97C08A29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432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8B999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02F3415-E128-4CA6-BF81-79868EE6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DE0283B-DB0A-478B-8F94-E695A446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432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3414997-86FF-4417-B041-A6A952A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2892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8B999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498DAD6-79A5-4250-8955-633DB007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529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7E4C878-9C09-430D-8A77-BCEB2E96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396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A5FFB60-625A-44A7-AEB8-E79772AE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C3AE90C-17C2-4CB6-A00F-0206432C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7CF1A4-67CB-447E-9346-4931FD0E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50FB83-8F04-4C49-BBE2-CD0B5158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5148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664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025AA7-8FB6-4B71-B455-A7ADEB46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DE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6C4C47-EE47-451E-8960-52D1FAC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150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핵심 통제: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026D076-3A86-47EB-AECA-B117C060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315075"/>
            <a:ext cx="1051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6564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46564F"/>
                </a:solidFill>
                <a:latin typeface="Noto Sans KR"/>
                <a:ea typeface="Noto Sans KR"/>
                <a:cs typeface="Noto Sans KR"/>
              </a:rPr>
              <a:t>검색 점수만으로 답변하지 않고, 사용자 권한과 근거 유효성 판정을 통과한 정책만 Agent 답변에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2022943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2026-09-05T13:56:25.9760000Z</dcterms:created>
  <dcterms:modified xsi:type="dcterms:W3CDTF">2026-09-05T13:56:25.9760000Z</dcterms:modified>
</coreProperties>
</file>