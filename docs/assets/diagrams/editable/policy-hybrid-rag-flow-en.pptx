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2613e6fc5f40f4" /><Relationship Type="http://schemas.openxmlformats.org/officeDocument/2006/relationships/extended-properties" Target="/docProps/app.xml" Id="Ra84b93f2a79e4ca3" /><Relationship Type="http://schemas.openxmlformats.org/officeDocument/2006/relationships/officeDocument" Target="/ppt/presentation.xml" Id="Re98ac622a1204c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52101ba909439f"/>
  </p:sldMasterIdLst>
  <p:notesMasterIdLst>
    <p:notesMasterId xmlns:r="http://schemas.openxmlformats.org/officeDocument/2006/relationships" r:id="Rebc17217749b4f81"/>
  </p:notesMasterIdLst>
  <p:sldIdLst>
    <p:sldId xmlns:r="http://schemas.openxmlformats.org/officeDocument/2006/relationships" id="256" r:id="R565ca1626e944332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bda81f769d4ba2" /><Relationship Type="http://schemas.openxmlformats.org/officeDocument/2006/relationships/slideMaster" Target="/ppt/slideMasters/slideMaster1.xml" Id="R2452101ba909439f" /><Relationship Type="http://schemas.openxmlformats.org/officeDocument/2006/relationships/notesMaster" Target="/ppt/notesMasters/notesMaster1.xml" Id="Rebc17217749b4f81" /><Relationship Type="http://schemas.openxmlformats.org/officeDocument/2006/relationships/presProps" Target="/ppt/presProps.xml" Id="R86db182b35334e4d" /><Relationship Type="http://schemas.openxmlformats.org/officeDocument/2006/relationships/viewProps" Target="/ppt/viewProps.xml" Id="R7dc319af8376421f" /><Relationship Type="http://schemas.openxmlformats.org/officeDocument/2006/relationships/tableStyles" Target="/ppt/tableStyles.xml" Id="R27d588de249849b9" /><Relationship Type="http://schemas.openxmlformats.org/officeDocument/2006/relationships/slide" Target="/ppt/slides/slide1.xml" Id="R565ca1626e9443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678a10d5a24c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9fdf79f8c04504" /><Relationship Type="http://schemas.openxmlformats.org/officeDocument/2006/relationships/notesMaster" Target="/ppt/notesMasters/notesMaster1.xml" Id="Rdf4f9c569ce14f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근거: src/rag/retriever.py, src/rag/rerankers.py, src/rag/evidence.py, src/rag/config.py. PostgreSQL FTS와 OpenAI Embedding 검색을 RRF로 통합하고, BGE-M3 multi-vector MaxSim 재정렬, 정책 우선순위, LLM 근거 유효성 판정을 거쳐 응답 상태를 결정한다.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e0093be5034f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faae4585a74935" /><Relationship Type="http://schemas.openxmlformats.org/officeDocument/2006/relationships/slideLayout" Target="/ppt/slideLayouts/slideLayout1.xml" Id="Rbd4114c83a924c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4114c83a924c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027fc796d4a03" /><Relationship Type="http://schemas.openxmlformats.org/officeDocument/2006/relationships/image" Target="/ppt/media/image.png" Id="R6855ba96601a45e9" /><Relationship Type="http://schemas.openxmlformats.org/officeDocument/2006/relationships/image" Target="/ppt/media/image.svg" Id="Rffb03598a83f4a1f" /><Relationship Type="http://schemas.openxmlformats.org/officeDocument/2006/relationships/image" Target="/ppt/media/image2.png" Id="Rc400117c3590454e" /><Relationship Type="http://schemas.openxmlformats.org/officeDocument/2006/relationships/image" Target="/ppt/media/image2.svg" Id="R8abb4b11b54e4f1e" /><Relationship Type="http://schemas.openxmlformats.org/officeDocument/2006/relationships/image" Target="/ppt/media/image3.png" Id="R4c7085c1a69649b8" /><Relationship Type="http://schemas.openxmlformats.org/officeDocument/2006/relationships/image" Target="/ppt/media/image3.svg" Id="Ref3173bc37804ffc" /><Relationship Type="http://schemas.openxmlformats.org/officeDocument/2006/relationships/image" Target="/ppt/media/image4.png" Id="R6ca8abebe9264c47" /><Relationship Type="http://schemas.openxmlformats.org/officeDocument/2006/relationships/image" Target="/ppt/media/image4.svg" Id="R86414be9a836438b" /><Relationship Type="http://schemas.openxmlformats.org/officeDocument/2006/relationships/image" Target="/ppt/media/image5.png" Id="R77ab47e05ecd42d5" /><Relationship Type="http://schemas.openxmlformats.org/officeDocument/2006/relationships/image" Target="/ppt/media/image5.svg" Id="Rad82e44ce16e427d" /><Relationship Type="http://schemas.openxmlformats.org/officeDocument/2006/relationships/image" Target="/ppt/media/image6.png" Id="R0bb340c1993842b8" /><Relationship Type="http://schemas.openxmlformats.org/officeDocument/2006/relationships/image" Target="/ppt/media/image6.svg" Id="R4f8be29401ee4dd8" /><Relationship Type="http://schemas.openxmlformats.org/officeDocument/2006/relationships/image" Target="/ppt/media/image7.png" Id="R70a4fd2eedb44aed" /><Relationship Type="http://schemas.openxmlformats.org/officeDocument/2006/relationships/image" Target="/ppt/media/image7.svg" Id="Rd6f63a9f274a4db8" /><Relationship Type="http://schemas.openxmlformats.org/officeDocument/2006/relationships/notesSlide" Target="/ppt/notesSlides/notesSlide1.xml" Id="Rdf0e2f7792b046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직사각형 109">
            <a:extLst xmlns:a="http://schemas.openxmlformats.org/drawingml/2006/main">
              <a:ext uri="{FF2B5EF4-FFF2-40B4-BE49-F238E27FC236}">
                <a16:creationId xmlns:a16="http://schemas.microsoft.com/office/drawing/2014/main" id="{93B79834-FB4D-422B-AE3E-F59E3A18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20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760"/>
            </a:defPPr>
          </a:lstStyle>
          <a:p xmlns:a="http://schemas.openxmlformats.org/drawingml/2006/main">
            <a:pPr algn="l">
              <a:buNone/>
              <a:defRPr sz="760" b="1">
                <a:solidFill>
                  <a:srgbClr val="27664F"/>
                </a:solidFill>
                <a:latin typeface="Noto Sans KR"/>
                <a:ea typeface="Noto Sans KR"/>
                <a:cs typeface="Noto Sans KR"/>
              </a:defRPr>
            </a:pPr>
            <a:r>
              <a:rPr sz="760" b="1">
                <a:solidFill>
                  <a:srgbClr val="27664F"/>
                </a:solidFill>
                <a:latin typeface="나눔고딕OTF"/>
                <a:ea typeface="나눔고딕OTF"/>
                <a:cs typeface="나눔고딕OTF"/>
              </a:rPr>
              <a:t>CUSTOMER INTELLIGENCE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93D88C71-CBAB-457A-99C0-3A51D903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"/>
            <a:ext cx="11201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112"/>
            </a:defPPr>
          </a:lstStyle>
          <a:p xmlns:a="http://schemas.openxmlformats.org/drawingml/2006/main">
            <a:pPr algn="l">
              <a:buNone/>
              <a:defRPr sz="2112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2112" b="1">
                <a:solidFill>
                  <a:srgbClr val="17231F"/>
                </a:solidFill>
                <a:latin typeface="나눔고딕OTF"/>
                <a:ea typeface="나눔고딕OTF"/>
                <a:cs typeface="나눔고딕OTF"/>
              </a:rPr>
              <a:t>Policy Hybrid RAG and Evidence Check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791A9DB5-42FE-4A3C-B522-1332B631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19175"/>
            <a:ext cx="1120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872"/>
            </a:defPPr>
          </a:lstStyle>
          <a:p xmlns:a="http://schemas.openxmlformats.org/drawingml/2006/main">
            <a:pPr algn="l">
              <a:buNone/>
              <a:defRPr sz="872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872" b="0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Enforce access and validity, rerank Parent candidates, then determine the response status.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4B09AEB1-CFBF-42F8-8183-68FB4F74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347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924"/>
            </a:defPPr>
          </a:lstStyle>
          <a:p xmlns:a="http://schemas.openxmlformats.org/drawingml/2006/main">
            <a:pPr algn="l">
              <a:buNone/>
              <a:defRPr sz="924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924" b="1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01  SCOPE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B02DD3F8-9330-4321-8721-B48CDF1C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04950"/>
            <a:ext cx="528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924"/>
            </a:defPPr>
          </a:lstStyle>
          <a:p xmlns:a="http://schemas.openxmlformats.org/drawingml/2006/main">
            <a:pPr algn="l">
              <a:buNone/>
              <a:defRPr sz="924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924" b="1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02  RETRIEVAL AND RERANKING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C0202126-7D77-4A2D-A4DE-61D95FA4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504950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924"/>
            </a:defPPr>
          </a:lstStyle>
          <a:p xmlns:a="http://schemas.openxmlformats.org/drawingml/2006/main">
            <a:pPr algn="l">
              <a:buNone/>
              <a:defRPr sz="924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924" b="1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03  EVIDENCE AND RESPONSE</a:t>
            </a:r>
          </a:p>
        </p:txBody>
      </p:sp>
      <p:sp>
        <p:nvSpPr>
          <p:cNvPr id="7" name="직선 연결선 6">
            <a:extLst xmlns:a="http://schemas.openxmlformats.org/drawingml/2006/main">
              <a:ext uri="{FF2B5EF4-FFF2-40B4-BE49-F238E27FC236}">
                <a16:creationId xmlns:a16="http://schemas.microsoft.com/office/drawing/2014/main" id="{3819FCAE-E78D-483C-88F3-8BB2BE46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71650"/>
            <a:ext cx="3476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8E3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8" name="직선 연결선 7">
            <a:extLst xmlns:a="http://schemas.openxmlformats.org/drawingml/2006/main">
              <a:ext uri="{FF2B5EF4-FFF2-40B4-BE49-F238E27FC236}">
                <a16:creationId xmlns:a16="http://schemas.microsoft.com/office/drawing/2014/main" id="{B61075C9-87DC-4851-B972-C26D0D19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71650"/>
            <a:ext cx="5286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8E3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9" name="직선 연결선 8">
            <a:extLst xmlns:a="http://schemas.openxmlformats.org/drawingml/2006/main">
              <a:ext uri="{FF2B5EF4-FFF2-40B4-BE49-F238E27FC236}">
                <a16:creationId xmlns:a16="http://schemas.microsoft.com/office/drawing/2014/main" id="{52316E05-48EF-41D9-BC60-2682310B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771650"/>
            <a:ext cx="194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8E3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10" name="사각형: 둥근 모서리 9">
            <a:extLst xmlns:a="http://schemas.openxmlformats.org/drawingml/2006/main">
              <a:ext uri="{FF2B5EF4-FFF2-40B4-BE49-F238E27FC236}">
                <a16:creationId xmlns:a16="http://schemas.microsoft.com/office/drawing/2014/main" id="{0385C5B1-5460-462B-B760-F9F74B4D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38425"/>
            <a:ext cx="1428750" cy="1000125"/>
          </a:xfrm>
          <a:prstGeom xmlns:a="http://schemas.openxmlformats.org/drawingml/2006/main" prst="roundRect">
            <a:avLst>
              <a:gd name="adj" fmla="val 12381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11430">
            <a:solidFill>
              <a:srgbClr val="D8E3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11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6FE4FCBF-2454-4D88-86A5-765B52C7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52725"/>
            <a:ext cx="342900" cy="3429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pic>
        <p:nvPicPr>
          <p:cNvPr id="121" name="그래픽 120">
            <a:extLst xmlns:a="http://schemas.openxmlformats.org/drawingml/2006/main">
              <a:ext uri="{FF2B5EF4-FFF2-40B4-BE49-F238E27FC236}">
                <a16:creationId xmlns:a16="http://schemas.microsoft.com/office/drawing/2014/main" id="{2208FE6C-7DA1-4BF9-B454-C838B07BCF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55ba96601a45e9">
            <a:extLst>
              <a:ext uri="{96DAC541-7B7A-43D3-8B79-37D633B846F1}">
                <asvg:svgBlip xmlns:asvg="http://schemas.microsoft.com/office/drawing/2016/SVG/main" r:embed="Rffb03598a83f4a1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" y="28098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92F48715-C74A-43E8-8092-85955F68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743200"/>
            <a:ext cx="8286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704"/>
            </a:defPPr>
          </a:lstStyle>
          <a:p xmlns:a="http://schemas.openxmlformats.org/drawingml/2006/main">
            <a:pPr algn="l">
              <a:buNone/>
              <a:defRPr sz="704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04" b="1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INPUT</a:t>
            </a:r>
            <a:endParaRPr sz="623" b="1">
              <a:solidFill>
                <a:srgbClr val="64716B"/>
              </a:solidFill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643F8872-A3D4-4BF7-944F-E0460D89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914650"/>
            <a:ext cx="8286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872"/>
            </a:defPPr>
          </a:lstStyle>
          <a:p xmlns:a="http://schemas.openxmlformats.org/drawingml/2006/main">
            <a:pPr algn="l">
              <a:buNone/>
              <a:defRPr sz="872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872" b="1">
                <a:solidFill>
                  <a:srgbClr val="17231F"/>
                </a:solidFill>
                <a:latin typeface="나눔고딕OTF"/>
                <a:ea typeface="나눔고딕OTF"/>
                <a:cs typeface="나눔고딕OTF"/>
              </a:rPr>
              <a:t>Policy question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87F0D695-7F4C-4113-9E07-923F6FC1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171825"/>
            <a:ext cx="82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614"/>
            </a:defPPr>
          </a:lstStyle>
          <a:p xmlns:a="http://schemas.openxmlformats.org/drawingml/2006/main">
            <a:pPr algn="l">
              <a:buNone/>
              <a:defRPr sz="614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14" b="0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Question and user access</a:t>
            </a:r>
          </a:p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D39B7B2D-8076-4BF7-921F-68F74D8E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47925"/>
            <a:ext cx="1809750" cy="1381125"/>
          </a:xfrm>
          <a:prstGeom xmlns:a="http://schemas.openxmlformats.org/drawingml/2006/main" prst="roundRect">
            <a:avLst>
              <a:gd name="adj" fmla="val 8966"/>
            </a:avLst>
          </a:prstGeom>
          <a:solidFill xmlns:a="http://schemas.openxmlformats.org/drawingml/2006/main">
            <a:srgbClr val="F2FAF6"/>
          </a:solidFill>
          <a:ln xmlns:a="http://schemas.openxmlformats.org/drawingml/2006/main" w="11430">
            <a:solidFill>
              <a:srgbClr val="5E8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2DDB6D22-FAFA-4912-8DC5-B50EA566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562225"/>
            <a:ext cx="342900" cy="3429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pic>
        <p:nvPicPr>
          <p:cNvPr id="127" name="그래픽 126">
            <a:extLst xmlns:a="http://schemas.openxmlformats.org/drawingml/2006/main">
              <a:ext uri="{FF2B5EF4-FFF2-40B4-BE49-F238E27FC236}">
                <a16:creationId xmlns:a16="http://schemas.microsoft.com/office/drawing/2014/main" id="{F2819BAA-15F8-44BF-974F-A912FB056D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0117c3590454e">
            <a:extLst>
              <a:ext uri="{96DAC541-7B7A-43D3-8B79-37D633B846F1}">
                <asvg:svgBlip xmlns:asvg="http://schemas.microsoft.com/office/drawing/2016/SVG/main" r:embed="R8abb4b11b54e4f1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305050" y="26193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9C93906F-66AD-4214-B7D8-C1DD9872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552700"/>
            <a:ext cx="12096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704"/>
            </a:defPPr>
          </a:lstStyle>
          <a:p xmlns:a="http://schemas.openxmlformats.org/drawingml/2006/main">
            <a:pPr algn="l">
              <a:buNone/>
              <a:defRPr sz="704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04" b="1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SERVER FILTER</a:t>
            </a:r>
          </a:p>
        </p:txBody>
      </p:sp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BB34C7E5-CD39-45B7-BD53-0D5ABF43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724150"/>
            <a:ext cx="12096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872"/>
            </a:defPPr>
          </a:lstStyle>
          <a:p xmlns:a="http://schemas.openxmlformats.org/drawingml/2006/main">
            <a:pPr algn="l">
              <a:buNone/>
              <a:defRPr sz="872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872" b="1">
                <a:solidFill>
                  <a:srgbClr val="17231F"/>
                </a:solidFill>
                <a:latin typeface="나눔고딕OTF"/>
                <a:ea typeface="나눔고딕OTF"/>
                <a:cs typeface="나눔고딕OTF"/>
              </a:rPr>
              <a:t>Policy scope filter</a:t>
            </a:r>
          </a:p>
        </p:txBody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21252AE3-7CA6-4D1F-851E-FEC97D00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981325"/>
            <a:ext cx="12096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704"/>
            </a:defPPr>
          </a:lstStyle>
          <a:p xmlns:a="http://schemas.openxmlformats.org/drawingml/2006/main">
            <a:pPr algn="l">
              <a:buNone/>
              <a:defRPr sz="704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04" b="0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Approval, product, validity</a:t>
            </a:r>
            <a:endParaRPr sz="800" b="0">
              <a:solidFill>
                <a:srgbClr val="64716B"/>
              </a:solidFill>
              <a:latin typeface="나눔고딕OTF"/>
              <a:ea typeface="나눔고딕OTF"/>
              <a:cs typeface="나눔고딕OTF"/>
            </a:endParaRPr>
          </a:p>
          <a:p xmlns:a="http://schemas.openxmlformats.org/drawingml/2006/main">
            <a:pPr algn="l">
              <a:buNone/>
              <a:defRPr sz="704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04" b="0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Collection, jurisdiction, department</a:t>
            </a:r>
          </a:p>
        </p:txBody>
      </p:sp>
      <p:sp>
        <p:nvSpPr>
          <p:cNvPr id="22" name="사각형: 둥근 모서리 21">
            <a:extLst xmlns:a="http://schemas.openxmlformats.org/drawingml/2006/main">
              <a:ext uri="{FF2B5EF4-FFF2-40B4-BE49-F238E27FC236}">
                <a16:creationId xmlns:a16="http://schemas.microsoft.com/office/drawing/2014/main" id="{D801F7FF-21CD-4650-85ED-D02CCA9D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57575"/>
            <a:ext cx="638175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7664F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>
            <a:defPPr>
              <a:defRPr sz="563"/>
            </a:defPPr>
          </a:lstStyle>
          <a:p xmlns:a="http://schemas.openxmlformats.org/drawingml/2006/main">
            <a:pPr algn="ctr">
              <a:buNone/>
              <a:defRPr sz="563" b="1">
                <a:solidFill>
                  <a:srgbClr val="27664F"/>
                </a:solidFill>
                <a:latin typeface="Noto Sans KR"/>
                <a:ea typeface="Noto Sans KR"/>
                <a:cs typeface="Noto Sans KR"/>
              </a:defRPr>
            </a:pPr>
            <a:r>
              <a:rPr sz="563" b="1">
                <a:solidFill>
                  <a:srgbClr val="27664F"/>
                </a:solidFill>
                <a:latin typeface="나눔고딕OTF"/>
                <a:ea typeface="나눔고딕OTF"/>
                <a:cs typeface="나눔고딕OTF"/>
              </a:rPr>
              <a:t>Access enforced</a:t>
            </a:r>
          </a:p>
        </p:txBody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E3EFCCC9-57FB-415E-91CE-B16814A3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1809750" cy="981075"/>
          </a:xfrm>
          <a:prstGeom xmlns:a="http://schemas.openxmlformats.org/drawingml/2006/main" prst="roundRect">
            <a:avLst>
              <a:gd name="adj" fmla="val 12621"/>
            </a:avLst>
          </a:prstGeom>
          <a:solidFill xmlns:a="http://schemas.openxmlformats.org/drawingml/2006/main">
            <a:srgbClr val="EDF6FC"/>
          </a:solidFill>
          <a:ln xmlns:a="http://schemas.openxmlformats.org/drawingml/2006/main" w="11430">
            <a:solidFill>
              <a:srgbClr val="2E6F9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24" name="사각형: 둥근 모서리 23">
            <a:extLst xmlns:a="http://schemas.openxmlformats.org/drawingml/2006/main">
              <a:ext uri="{FF2B5EF4-FFF2-40B4-BE49-F238E27FC236}">
                <a16:creationId xmlns:a16="http://schemas.microsoft.com/office/drawing/2014/main" id="{CB97060C-3DF4-4E9B-925F-DA017A77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95500"/>
            <a:ext cx="342900" cy="3429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pic>
        <p:nvPicPr>
          <p:cNvPr id="134" name="그래픽 133">
            <a:extLst xmlns:a="http://schemas.openxmlformats.org/drawingml/2006/main">
              <a:ext uri="{FF2B5EF4-FFF2-40B4-BE49-F238E27FC236}">
                <a16:creationId xmlns:a16="http://schemas.microsoft.com/office/drawing/2014/main" id="{F50224DB-A10E-45F2-B2F6-73CCCF7D23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7085c1a69649b8">
            <a:extLst>
              <a:ext uri="{96DAC541-7B7A-43D3-8B79-37D633B846F1}">
                <asvg:svgBlip xmlns:asvg="http://schemas.microsoft.com/office/drawing/2016/SVG/main" r:embed="Ref3173bc37804ff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95800" y="21526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6" name="직사각형 25">
            <a:extLst xmlns:a="http://schemas.openxmlformats.org/drawingml/2006/main">
              <a:ext uri="{FF2B5EF4-FFF2-40B4-BE49-F238E27FC236}">
                <a16:creationId xmlns:a16="http://schemas.microsoft.com/office/drawing/2014/main" id="{6FE55EF3-ABA9-4295-8C7C-6603E68B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085975"/>
            <a:ext cx="12096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704"/>
            </a:defPPr>
          </a:lstStyle>
          <a:p xmlns:a="http://schemas.openxmlformats.org/drawingml/2006/main">
            <a:pPr algn="l">
              <a:buNone/>
              <a:defRPr sz="704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04" b="1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KEYWORD</a:t>
            </a:r>
          </a:p>
        </p:txBody>
      </p:sp>
      <p:sp>
        <p:nvSpPr>
          <p:cNvPr id="27" name="직사각형 26">
            <a:extLst xmlns:a="http://schemas.openxmlformats.org/drawingml/2006/main">
              <a:ext uri="{FF2B5EF4-FFF2-40B4-BE49-F238E27FC236}">
                <a16:creationId xmlns:a16="http://schemas.microsoft.com/office/drawing/2014/main" id="{875F37A5-55EF-4A6B-A467-A49934E4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257425"/>
            <a:ext cx="12096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872"/>
            </a:defPPr>
          </a:lstStyle>
          <a:p xmlns:a="http://schemas.openxmlformats.org/drawingml/2006/main">
            <a:pPr algn="l">
              <a:buNone/>
              <a:defRPr sz="872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872" b="1">
                <a:solidFill>
                  <a:srgbClr val="17231F"/>
                </a:solidFill>
                <a:latin typeface="나눔고딕OTF"/>
                <a:ea typeface="나눔고딕OTF"/>
                <a:cs typeface="나눔고딕OTF"/>
              </a:rPr>
              <a:t>PostgreSQL FTS</a:t>
            </a:r>
          </a:p>
        </p:txBody>
      </p:sp>
      <p:sp>
        <p:nvSpPr>
          <p:cNvPr id="28" name="직사각형 27">
            <a:extLst xmlns:a="http://schemas.openxmlformats.org/drawingml/2006/main">
              <a:ext uri="{FF2B5EF4-FFF2-40B4-BE49-F238E27FC236}">
                <a16:creationId xmlns:a16="http://schemas.microsoft.com/office/drawing/2014/main" id="{3CD47889-D184-4A5C-8F32-5E61F965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514600"/>
            <a:ext cx="1209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704"/>
            </a:defPPr>
          </a:lstStyle>
          <a:p xmlns:a="http://schemas.openxmlformats.org/drawingml/2006/main">
            <a:pPr algn="l">
              <a:buNone/>
              <a:defRPr sz="704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04" b="0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websearch_to_tsquery</a:t>
            </a:r>
            <a:endParaRPr sz="800" b="0">
              <a:solidFill>
                <a:srgbClr val="64716B"/>
              </a:solidFill>
              <a:latin typeface="나눔고딕OTF"/>
              <a:ea typeface="나눔고딕OTF"/>
              <a:cs typeface="나눔고딕OTF"/>
            </a:endParaRPr>
          </a:p>
          <a:p xmlns:a="http://schemas.openxmlformats.org/drawingml/2006/main">
            <a:pPr algn="l">
              <a:buNone/>
              <a:defRPr sz="704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04" b="0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10 Child candidates</a:t>
            </a:r>
          </a:p>
        </p:txBody>
      </p:sp>
      <p:sp>
        <p:nvSpPr>
          <p:cNvPr id="29" name="사각형: 둥근 모서리 28">
            <a:extLst xmlns:a="http://schemas.openxmlformats.org/drawingml/2006/main">
              <a:ext uri="{FF2B5EF4-FFF2-40B4-BE49-F238E27FC236}">
                <a16:creationId xmlns:a16="http://schemas.microsoft.com/office/drawing/2014/main" id="{DE2DCBEA-F5A3-4620-B308-7C05865D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67100"/>
            <a:ext cx="1809750" cy="981075"/>
          </a:xfrm>
          <a:prstGeom xmlns:a="http://schemas.openxmlformats.org/drawingml/2006/main" prst="roundRect">
            <a:avLst>
              <a:gd name="adj" fmla="val 12621"/>
            </a:avLst>
          </a:prstGeom>
          <a:solidFill xmlns:a="http://schemas.openxmlformats.org/drawingml/2006/main">
            <a:srgbClr val="F1ECFB"/>
          </a:solidFill>
          <a:ln xmlns:a="http://schemas.openxmlformats.org/drawingml/2006/main" w="11430">
            <a:solidFill>
              <a:srgbClr val="6B4B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30" name="사각형: 둥근 모서리 29">
            <a:extLst xmlns:a="http://schemas.openxmlformats.org/drawingml/2006/main">
              <a:ext uri="{FF2B5EF4-FFF2-40B4-BE49-F238E27FC236}">
                <a16:creationId xmlns:a16="http://schemas.microsoft.com/office/drawing/2014/main" id="{F21B299E-0349-4B3F-810F-3BD497A6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81400"/>
            <a:ext cx="342900" cy="3429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pic>
        <p:nvPicPr>
          <p:cNvPr id="140" name="그래픽 139">
            <a:extLst xmlns:a="http://schemas.openxmlformats.org/drawingml/2006/main">
              <a:ext uri="{FF2B5EF4-FFF2-40B4-BE49-F238E27FC236}">
                <a16:creationId xmlns:a16="http://schemas.microsoft.com/office/drawing/2014/main" id="{0E06F349-6F24-47C5-8FC8-1998B0DF27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a8abebe9264c47">
            <a:extLst>
              <a:ext uri="{96DAC541-7B7A-43D3-8B79-37D633B846F1}">
                <asvg:svgBlip xmlns:asvg="http://schemas.microsoft.com/office/drawing/2016/SVG/main" r:embed="R86414be9a836438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95800" y="3638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2" name="직사각형 31">
            <a:extLst xmlns:a="http://schemas.openxmlformats.org/drawingml/2006/main">
              <a:ext uri="{FF2B5EF4-FFF2-40B4-BE49-F238E27FC236}">
                <a16:creationId xmlns:a16="http://schemas.microsoft.com/office/drawing/2014/main" id="{21F7B810-C47D-4637-87E8-74EC2859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571875"/>
            <a:ext cx="12096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704"/>
            </a:defPPr>
          </a:lstStyle>
          <a:p xmlns:a="http://schemas.openxmlformats.org/drawingml/2006/main">
            <a:pPr algn="l">
              <a:buNone/>
              <a:defRPr sz="704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04" b="1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SEMANTIC</a:t>
            </a:r>
          </a:p>
        </p:txBody>
      </p:sp>
      <p:sp>
        <p:nvSpPr>
          <p:cNvPr id="33" name="직사각형 32">
            <a:extLst xmlns:a="http://schemas.openxmlformats.org/drawingml/2006/main">
              <a:ext uri="{FF2B5EF4-FFF2-40B4-BE49-F238E27FC236}">
                <a16:creationId xmlns:a16="http://schemas.microsoft.com/office/drawing/2014/main" id="{382E8BA3-7429-4A08-8D74-B70DA393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743325"/>
            <a:ext cx="12096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872"/>
            </a:defPPr>
          </a:lstStyle>
          <a:p xmlns:a="http://schemas.openxmlformats.org/drawingml/2006/main">
            <a:pPr algn="l">
              <a:buNone/>
              <a:defRPr sz="872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872" b="1">
                <a:solidFill>
                  <a:srgbClr val="17231F"/>
                </a:solidFill>
                <a:latin typeface="나눔고딕OTF"/>
                <a:ea typeface="나눔고딕OTF"/>
                <a:cs typeface="나눔고딕OTF"/>
              </a:rPr>
              <a:t>Embedding retrieval</a:t>
            </a:r>
            <a:endParaRPr sz="990" b="1">
              <a:solidFill>
                <a:srgbClr val="17231F"/>
              </a:solidFill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34" name="직사각형 33">
            <a:extLst xmlns:a="http://schemas.openxmlformats.org/drawingml/2006/main">
              <a:ext uri="{FF2B5EF4-FFF2-40B4-BE49-F238E27FC236}">
                <a16:creationId xmlns:a16="http://schemas.microsoft.com/office/drawing/2014/main" id="{695E82F7-376F-448E-8D80-4C699B58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000500"/>
            <a:ext cx="1209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704"/>
            </a:defPPr>
          </a:lstStyle>
          <a:p xmlns:a="http://schemas.openxmlformats.org/drawingml/2006/main">
            <a:pPr algn="l">
              <a:buNone/>
              <a:defRPr sz="704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04" b="0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Cosine + HNSW</a:t>
            </a:r>
            <a:endParaRPr sz="800" b="0">
              <a:solidFill>
                <a:srgbClr val="64716B"/>
              </a:solidFill>
              <a:latin typeface="나눔고딕OTF"/>
              <a:ea typeface="나눔고딕OTF"/>
              <a:cs typeface="나눔고딕OTF"/>
            </a:endParaRPr>
          </a:p>
          <a:p xmlns:a="http://schemas.openxmlformats.org/drawingml/2006/main">
            <a:pPr algn="l">
              <a:buNone/>
              <a:defRPr sz="704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04" b="0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10 Child candidates</a:t>
            </a:r>
          </a:p>
        </p:txBody>
      </p:sp>
      <p:sp>
        <p:nvSpPr>
          <p:cNvPr id="35" name="타원 34">
            <a:extLst xmlns:a="http://schemas.openxmlformats.org/drawingml/2006/main">
              <a:ext uri="{FF2B5EF4-FFF2-40B4-BE49-F238E27FC236}">
                <a16:creationId xmlns:a16="http://schemas.microsoft.com/office/drawing/2014/main" id="{9E31B081-F6B2-4B6F-BA5B-8D95B0CA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00325"/>
            <a:ext cx="1085850" cy="1085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7F2"/>
          </a:solidFill>
          <a:ln xmlns:a="http://schemas.openxmlformats.org/drawingml/2006/main" w="19050">
            <a:solidFill>
              <a:srgbClr val="27664F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>
              <a:defRPr sz="704"/>
            </a:defPPr>
          </a:lstStyle>
          <a:p xmlns:a="http://schemas.openxmlformats.org/drawingml/2006/main">
            <a:pPr algn="ctr">
              <a:buNone/>
              <a:defRPr sz="704" b="1">
                <a:solidFill>
                  <a:srgbClr val="27664F"/>
                </a:solidFill>
                <a:latin typeface="Noto Sans KR"/>
                <a:ea typeface="Noto Sans KR"/>
                <a:cs typeface="Noto Sans KR"/>
              </a:defRPr>
            </a:pPr>
            <a:r>
              <a:rPr sz="704" b="1">
                <a:solidFill>
                  <a:srgbClr val="27664F"/>
                </a:solidFill>
                <a:latin typeface="나눔고딕OTF"/>
                <a:ea typeface="나눔고딕OTF"/>
                <a:cs typeface="나눔고딕OTF"/>
              </a:rPr>
              <a:t>FUSION RRF</a:t>
            </a:r>
            <a:endParaRPr sz="800" b="1">
              <a:solidFill>
                <a:srgbClr val="27664F"/>
              </a:solidFill>
              <a:latin typeface="나눔고딕OTF"/>
              <a:ea typeface="나눔고딕OTF"/>
              <a:cs typeface="나눔고딕OTF"/>
            </a:endParaRPr>
          </a:p>
          <a:p xmlns:a="http://schemas.openxmlformats.org/drawingml/2006/main">
            <a:pPr algn="ctr">
              <a:buNone/>
              <a:defRPr sz="750" b="1">
                <a:solidFill>
                  <a:srgbClr val="27664F"/>
                </a:solidFill>
                <a:latin typeface="Noto Sans KR"/>
                <a:ea typeface="Noto Sans KR"/>
                <a:cs typeface="Noto Sans KR"/>
              </a:defRPr>
            </a:pPr>
          </a:p>
          <a:p xmlns:a="http://schemas.openxmlformats.org/drawingml/2006/main">
            <a:pPr algn="ctr">
              <a:buNone/>
              <a:defRPr sz="704" b="1">
                <a:solidFill>
                  <a:srgbClr val="27664F"/>
                </a:solidFill>
                <a:latin typeface="Noto Sans KR"/>
                <a:ea typeface="Noto Sans KR"/>
                <a:cs typeface="Noto Sans KR"/>
              </a:defRPr>
            </a:pPr>
            <a:r>
              <a:rPr sz="704" b="1">
                <a:solidFill>
                  <a:srgbClr val="27664F"/>
                </a:solidFill>
                <a:latin typeface="나눔고딕OTF"/>
                <a:ea typeface="나눔고딕OTF"/>
                <a:cs typeface="나눔고딕OTF"/>
              </a:rPr>
              <a:t>Fuse by Parent</a:t>
            </a:r>
          </a:p>
          <a:p xmlns:a="http://schemas.openxmlformats.org/drawingml/2006/main">
            <a:pPr algn="ctr">
              <a:buNone/>
              <a:defRPr sz="704" b="1">
                <a:solidFill>
                  <a:srgbClr val="27664F"/>
                </a:solidFill>
                <a:latin typeface="Noto Sans KR"/>
                <a:ea typeface="Noto Sans KR"/>
                <a:cs typeface="Noto Sans KR"/>
              </a:defRPr>
            </a:pPr>
            <a:r>
              <a:rPr sz="704" b="1">
                <a:solidFill>
                  <a:srgbClr val="27664F"/>
                </a:solidFill>
                <a:latin typeface="나눔고딕OTF"/>
                <a:ea typeface="나눔고딕OTF"/>
                <a:cs typeface="나눔고딕OTF"/>
              </a:rPr>
              <a:t>k = 60</a:t>
            </a:r>
          </a:p>
        </p:txBody>
      </p:sp>
      <p:sp>
        <p:nvSpPr>
          <p:cNvPr id="36" name="사각형: 둥근 모서리 35">
            <a:extLst xmlns:a="http://schemas.openxmlformats.org/drawingml/2006/main">
              <a:ext uri="{FF2B5EF4-FFF2-40B4-BE49-F238E27FC236}">
                <a16:creationId xmlns:a16="http://schemas.microsoft.com/office/drawing/2014/main" id="{2F4A6780-8CDF-44B6-8990-F280E58A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295525"/>
            <a:ext cx="1809750" cy="1685925"/>
          </a:xfrm>
          <a:prstGeom xmlns:a="http://schemas.openxmlformats.org/drawingml/2006/main" prst="roundRect">
            <a:avLst>
              <a:gd name="adj" fmla="val 7345"/>
            </a:avLst>
          </a:prstGeom>
          <a:solidFill xmlns:a="http://schemas.openxmlformats.org/drawingml/2006/main">
            <a:srgbClr val="F1ECFB"/>
          </a:solidFill>
          <a:ln xmlns:a="http://schemas.openxmlformats.org/drawingml/2006/main" w="19050">
            <a:solidFill>
              <a:srgbClr val="6B4B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37" name="사각형: 둥근 모서리 36">
            <a:extLst xmlns:a="http://schemas.openxmlformats.org/drawingml/2006/main">
              <a:ext uri="{FF2B5EF4-FFF2-40B4-BE49-F238E27FC236}">
                <a16:creationId xmlns:a16="http://schemas.microsoft.com/office/drawing/2014/main" id="{EA38C7C0-BAD4-4DB3-88A5-5891413C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409825"/>
            <a:ext cx="342900" cy="3429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pic>
        <p:nvPicPr>
          <p:cNvPr id="147" name="그래픽 146">
            <a:extLst xmlns:a="http://schemas.openxmlformats.org/drawingml/2006/main">
              <a:ext uri="{FF2B5EF4-FFF2-40B4-BE49-F238E27FC236}">
                <a16:creationId xmlns:a16="http://schemas.microsoft.com/office/drawing/2014/main" id="{6B683A11-D6C2-4B84-835A-24E2AEE840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ab47e05ecd42d5">
            <a:extLst>
              <a:ext uri="{96DAC541-7B7A-43D3-8B79-37D633B846F1}">
                <asvg:svgBlip xmlns:asvg="http://schemas.microsoft.com/office/drawing/2016/SVG/main" r:embed="Rad82e44ce16e427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81975" y="24669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직사각형 38">
            <a:extLst xmlns:a="http://schemas.openxmlformats.org/drawingml/2006/main">
              <a:ext uri="{FF2B5EF4-FFF2-40B4-BE49-F238E27FC236}">
                <a16:creationId xmlns:a16="http://schemas.microsoft.com/office/drawing/2014/main" id="{8EE758A5-3D53-4DA4-B1EB-E0A9C816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00300"/>
            <a:ext cx="12096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704"/>
            </a:defPPr>
          </a:lstStyle>
          <a:p xmlns:a="http://schemas.openxmlformats.org/drawingml/2006/main">
            <a:pPr algn="l">
              <a:buNone/>
              <a:defRPr sz="704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04" b="1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RERANKER</a:t>
            </a:r>
          </a:p>
        </p:txBody>
      </p:sp>
      <p:sp>
        <p:nvSpPr>
          <p:cNvPr id="40" name="직사각형 39">
            <a:extLst xmlns:a="http://schemas.openxmlformats.org/drawingml/2006/main">
              <a:ext uri="{FF2B5EF4-FFF2-40B4-BE49-F238E27FC236}">
                <a16:creationId xmlns:a16="http://schemas.microsoft.com/office/drawing/2014/main" id="{BE6CA177-BB3F-40DB-8668-E446350D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71750"/>
            <a:ext cx="12096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872"/>
            </a:defPPr>
          </a:lstStyle>
          <a:p xmlns:a="http://schemas.openxmlformats.org/drawingml/2006/main">
            <a:pPr algn="l">
              <a:buNone/>
              <a:defRPr sz="872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872" b="1">
                <a:solidFill>
                  <a:srgbClr val="17231F"/>
                </a:solidFill>
                <a:latin typeface="나눔고딕OTF"/>
                <a:ea typeface="나눔고딕OTF"/>
                <a:cs typeface="나눔고딕OTF"/>
              </a:rPr>
              <a:t>BGE-M3 reranking</a:t>
            </a:r>
            <a:endParaRPr sz="990" b="1">
              <a:solidFill>
                <a:srgbClr val="17231F"/>
              </a:solidFill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41" name="직사각형 40">
            <a:extLst xmlns:a="http://schemas.openxmlformats.org/drawingml/2006/main">
              <a:ext uri="{FF2B5EF4-FFF2-40B4-BE49-F238E27FC236}">
                <a16:creationId xmlns:a16="http://schemas.microsoft.com/office/drawing/2014/main" id="{AE6C1D7D-367F-4B16-A2FF-459C03A8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28925"/>
            <a:ext cx="12096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704"/>
            </a:defPPr>
          </a:lstStyle>
          <a:p xmlns:a="http://schemas.openxmlformats.org/drawingml/2006/main">
            <a:pPr algn="l">
              <a:buNone/>
              <a:defRPr sz="704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04" b="0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10 Parent candidates</a:t>
            </a:r>
            <a:endParaRPr sz="800" b="0">
              <a:solidFill>
                <a:srgbClr val="64716B"/>
              </a:solidFill>
              <a:latin typeface="나눔고딕OTF"/>
              <a:ea typeface="나눔고딕OTF"/>
              <a:cs typeface="나눔고딕OTF"/>
            </a:endParaRPr>
          </a:p>
          <a:p xmlns:a="http://schemas.openxmlformats.org/drawingml/2006/main">
            <a:pPr algn="l">
              <a:buNone/>
              <a:defRPr sz="704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04" b="0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ColBERT late interaction</a:t>
            </a:r>
          </a:p>
          <a:p xmlns:a="http://schemas.openxmlformats.org/drawingml/2006/main">
            <a:pPr algn="l">
              <a:buNone/>
              <a:defRPr sz="698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</a:p>
          <a:p xmlns:a="http://schemas.openxmlformats.org/drawingml/2006/main">
            <a:pPr algn="l">
              <a:buNone/>
              <a:defRPr sz="704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04" b="0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Token-level MaxSim</a:t>
            </a:r>
          </a:p>
        </p:txBody>
      </p:sp>
      <p:sp>
        <p:nvSpPr>
          <p:cNvPr id="42" name="사각형: 둥근 모서리 41">
            <a:extLst xmlns:a="http://schemas.openxmlformats.org/drawingml/2006/main">
              <a:ext uri="{FF2B5EF4-FFF2-40B4-BE49-F238E27FC236}">
                <a16:creationId xmlns:a16="http://schemas.microsoft.com/office/drawing/2014/main" id="{5B5B728A-C31C-4B52-A0C8-F91A4B17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524250"/>
            <a:ext cx="123825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7551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43" name="사각형: 둥근 모서리 42">
            <a:extLst xmlns:a="http://schemas.openxmlformats.org/drawingml/2006/main">
              <a:ext uri="{FF2B5EF4-FFF2-40B4-BE49-F238E27FC236}">
                <a16:creationId xmlns:a16="http://schemas.microsoft.com/office/drawing/2014/main" id="{58A20C6B-FC8F-4AF0-8E21-A48C0DD0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24250"/>
            <a:ext cx="123825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FD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44" name="사각형: 둥근 모서리 43">
            <a:extLst xmlns:a="http://schemas.openxmlformats.org/drawingml/2006/main">
              <a:ext uri="{FF2B5EF4-FFF2-40B4-BE49-F238E27FC236}">
                <a16:creationId xmlns:a16="http://schemas.microsoft.com/office/drawing/2014/main" id="{9631921E-E5ED-4F23-8170-7A6198AA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524250"/>
            <a:ext cx="123825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AA92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45" name="사각형: 둥근 모서리 44">
            <a:extLst xmlns:a="http://schemas.openxmlformats.org/drawingml/2006/main">
              <a:ext uri="{FF2B5EF4-FFF2-40B4-BE49-F238E27FC236}">
                <a16:creationId xmlns:a16="http://schemas.microsoft.com/office/drawing/2014/main" id="{01264B33-0348-413F-8B0B-B6D12262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24250"/>
            <a:ext cx="123825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FD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46" name="사각형: 둥근 모서리 45">
            <a:extLst xmlns:a="http://schemas.openxmlformats.org/drawingml/2006/main">
              <a:ext uri="{FF2B5EF4-FFF2-40B4-BE49-F238E27FC236}">
                <a16:creationId xmlns:a16="http://schemas.microsoft.com/office/drawing/2014/main" id="{57188E84-4849-4EAD-A2EC-21A4C11B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0"/>
            <a:ext cx="123825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FD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47" name="사각형: 둥근 모서리 46">
            <a:extLst xmlns:a="http://schemas.openxmlformats.org/drawingml/2006/main">
              <a:ext uri="{FF2B5EF4-FFF2-40B4-BE49-F238E27FC236}">
                <a16:creationId xmlns:a16="http://schemas.microsoft.com/office/drawing/2014/main" id="{084E9CA4-3CCC-4D26-BD2A-14F53321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638550"/>
            <a:ext cx="123825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FD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48" name="사각형: 둥근 모서리 47">
            <a:extLst xmlns:a="http://schemas.openxmlformats.org/drawingml/2006/main">
              <a:ext uri="{FF2B5EF4-FFF2-40B4-BE49-F238E27FC236}">
                <a16:creationId xmlns:a16="http://schemas.microsoft.com/office/drawing/2014/main" id="{FFF0515D-58FD-4DF0-8190-790FA013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38550"/>
            <a:ext cx="123825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7551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49" name="사각형: 둥근 모서리 48">
            <a:extLst xmlns:a="http://schemas.openxmlformats.org/drawingml/2006/main">
              <a:ext uri="{FF2B5EF4-FFF2-40B4-BE49-F238E27FC236}">
                <a16:creationId xmlns:a16="http://schemas.microsoft.com/office/drawing/2014/main" id="{AF57A2A6-461D-4091-B61B-E45F08D1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638550"/>
            <a:ext cx="123825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FD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50" name="사각형: 둥근 모서리 49">
            <a:extLst xmlns:a="http://schemas.openxmlformats.org/drawingml/2006/main">
              <a:ext uri="{FF2B5EF4-FFF2-40B4-BE49-F238E27FC236}">
                <a16:creationId xmlns:a16="http://schemas.microsoft.com/office/drawing/2014/main" id="{4B578B54-9DCF-4A91-8FAD-77B1960A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38550"/>
            <a:ext cx="123825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AA92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51" name="사각형: 둥근 모서리 50">
            <a:extLst xmlns:a="http://schemas.openxmlformats.org/drawingml/2006/main">
              <a:ext uri="{FF2B5EF4-FFF2-40B4-BE49-F238E27FC236}">
                <a16:creationId xmlns:a16="http://schemas.microsoft.com/office/drawing/2014/main" id="{34BB8860-F09B-4EC9-908B-1D445D58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638550"/>
            <a:ext cx="123825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FD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52" name="사각형: 둥근 모서리 51">
            <a:extLst xmlns:a="http://schemas.openxmlformats.org/drawingml/2006/main">
              <a:ext uri="{FF2B5EF4-FFF2-40B4-BE49-F238E27FC236}">
                <a16:creationId xmlns:a16="http://schemas.microsoft.com/office/drawing/2014/main" id="{27CEE076-114A-4C88-8C8F-F8991570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752850"/>
            <a:ext cx="123825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AA92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53" name="사각형: 둥근 모서리 52">
            <a:extLst xmlns:a="http://schemas.openxmlformats.org/drawingml/2006/main">
              <a:ext uri="{FF2B5EF4-FFF2-40B4-BE49-F238E27FC236}">
                <a16:creationId xmlns:a16="http://schemas.microsoft.com/office/drawing/2014/main" id="{AD497F72-1512-4BEF-B195-E97A8EF8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52850"/>
            <a:ext cx="123825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FD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54" name="사각형: 둥근 모서리 53">
            <a:extLst xmlns:a="http://schemas.openxmlformats.org/drawingml/2006/main">
              <a:ext uri="{FF2B5EF4-FFF2-40B4-BE49-F238E27FC236}">
                <a16:creationId xmlns:a16="http://schemas.microsoft.com/office/drawing/2014/main" id="{26552B2E-EEF1-49C6-A0C5-EC877410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752850"/>
            <a:ext cx="123825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FD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55" name="사각형: 둥근 모서리 54">
            <a:extLst xmlns:a="http://schemas.openxmlformats.org/drawingml/2006/main">
              <a:ext uri="{FF2B5EF4-FFF2-40B4-BE49-F238E27FC236}">
                <a16:creationId xmlns:a16="http://schemas.microsoft.com/office/drawing/2014/main" id="{254B0905-56BF-4615-A2A2-A1F7C811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52850"/>
            <a:ext cx="123825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7551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56" name="사각형: 둥근 모서리 55">
            <a:extLst xmlns:a="http://schemas.openxmlformats.org/drawingml/2006/main">
              <a:ext uri="{FF2B5EF4-FFF2-40B4-BE49-F238E27FC236}">
                <a16:creationId xmlns:a16="http://schemas.microsoft.com/office/drawing/2014/main" id="{BC7BC762-9986-46F4-80DA-81E5EDA1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752850"/>
            <a:ext cx="123825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FD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57" name="사각형: 둥근 모서리 56">
            <a:extLst xmlns:a="http://schemas.openxmlformats.org/drawingml/2006/main">
              <a:ext uri="{FF2B5EF4-FFF2-40B4-BE49-F238E27FC236}">
                <a16:creationId xmlns:a16="http://schemas.microsoft.com/office/drawing/2014/main" id="{7D70F92E-A043-41B4-BA6C-82586537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028825"/>
            <a:ext cx="1562100" cy="800100"/>
          </a:xfrm>
          <a:prstGeom xmlns:a="http://schemas.openxmlformats.org/drawingml/2006/main" prst="roundRect">
            <a:avLst>
              <a:gd name="adj" fmla="val 15476"/>
            </a:avLst>
          </a:prstGeom>
          <a:solidFill xmlns:a="http://schemas.openxmlformats.org/drawingml/2006/main">
            <a:srgbClr val="EDF6FC"/>
          </a:solidFill>
          <a:ln xmlns:a="http://schemas.openxmlformats.org/drawingml/2006/main" w="11430">
            <a:solidFill>
              <a:srgbClr val="2E6F9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58" name="사각형: 둥근 모서리 57">
            <a:extLst xmlns:a="http://schemas.openxmlformats.org/drawingml/2006/main">
              <a:ext uri="{FF2B5EF4-FFF2-40B4-BE49-F238E27FC236}">
                <a16:creationId xmlns:a16="http://schemas.microsoft.com/office/drawing/2014/main" id="{13208817-AE35-4C72-A0B7-5562DFE8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143125"/>
            <a:ext cx="342900" cy="3429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pic>
        <p:nvPicPr>
          <p:cNvPr id="168" name="그래픽 167">
            <a:extLst xmlns:a="http://schemas.openxmlformats.org/drawingml/2006/main">
              <a:ext uri="{FF2B5EF4-FFF2-40B4-BE49-F238E27FC236}">
                <a16:creationId xmlns:a16="http://schemas.microsoft.com/office/drawing/2014/main" id="{55F6407A-991C-40DE-ACF4-FF2835AEF3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b340c1993842b8">
            <a:extLst>
              <a:ext uri="{96DAC541-7B7A-43D3-8B79-37D633B846F1}">
                <asvg:svgBlip xmlns:asvg="http://schemas.microsoft.com/office/drawing/2016/SVG/main" r:embed="R4f8be29401ee4dd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306050" y="22002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60" name="직사각형 59">
            <a:extLst xmlns:a="http://schemas.openxmlformats.org/drawingml/2006/main">
              <a:ext uri="{FF2B5EF4-FFF2-40B4-BE49-F238E27FC236}">
                <a16:creationId xmlns:a16="http://schemas.microsoft.com/office/drawing/2014/main" id="{374E1E27-CC70-4A14-B421-BE9B1416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2133600"/>
            <a:ext cx="9620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704"/>
            </a:defPPr>
          </a:lstStyle>
          <a:p xmlns:a="http://schemas.openxmlformats.org/drawingml/2006/main">
            <a:pPr algn="l">
              <a:buNone/>
              <a:defRPr sz="704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04" b="1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POLICY RULE</a:t>
            </a:r>
          </a:p>
        </p:txBody>
      </p:sp>
      <p:sp>
        <p:nvSpPr>
          <p:cNvPr id="61" name="직사각형 60">
            <a:extLst xmlns:a="http://schemas.openxmlformats.org/drawingml/2006/main">
              <a:ext uri="{FF2B5EF4-FFF2-40B4-BE49-F238E27FC236}">
                <a16:creationId xmlns:a16="http://schemas.microsoft.com/office/drawing/2014/main" id="{2D80535D-94FC-47FB-BF8D-5F231A6B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2305050"/>
            <a:ext cx="962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872"/>
            </a:defPPr>
          </a:lstStyle>
          <a:p xmlns:a="http://schemas.openxmlformats.org/drawingml/2006/main">
            <a:pPr algn="l">
              <a:buNone/>
              <a:defRPr sz="872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872" b="1">
                <a:solidFill>
                  <a:srgbClr val="17231F"/>
                </a:solidFill>
                <a:latin typeface="나눔고딕OTF"/>
                <a:ea typeface="나눔고딕OTF"/>
                <a:cs typeface="나눔고딕OTF"/>
              </a:rPr>
              <a:t>Policy priority</a:t>
            </a:r>
          </a:p>
        </p:txBody>
      </p:sp>
      <p:sp>
        <p:nvSpPr>
          <p:cNvPr id="62" name="직사각형 61">
            <a:extLst xmlns:a="http://schemas.openxmlformats.org/drawingml/2006/main">
              <a:ext uri="{FF2B5EF4-FFF2-40B4-BE49-F238E27FC236}">
                <a16:creationId xmlns:a16="http://schemas.microsoft.com/office/drawing/2014/main" id="{47624DFC-B437-4072-A5DE-420F210D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2562225"/>
            <a:ext cx="9620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614"/>
            </a:defPPr>
          </a:lstStyle>
          <a:p xmlns:a="http://schemas.openxmlformats.org/drawingml/2006/main">
            <a:pPr algn="l">
              <a:buNone/>
              <a:defRPr sz="614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14" b="0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Product scope, authority, latest valid version</a:t>
            </a:r>
          </a:p>
        </p:txBody>
      </p:sp>
      <p:sp>
        <p:nvSpPr>
          <p:cNvPr id="63" name="사각형: 둥근 모서리 62">
            <a:extLst xmlns:a="http://schemas.openxmlformats.org/drawingml/2006/main">
              <a:ext uri="{FF2B5EF4-FFF2-40B4-BE49-F238E27FC236}">
                <a16:creationId xmlns:a16="http://schemas.microsoft.com/office/drawing/2014/main" id="{D46B47BD-0984-40B8-B5D5-92986495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181350"/>
            <a:ext cx="1562100" cy="971550"/>
          </a:xfrm>
          <a:prstGeom xmlns:a="http://schemas.openxmlformats.org/drawingml/2006/main" prst="roundRect">
            <a:avLst>
              <a:gd name="adj" fmla="val 12745"/>
            </a:avLst>
          </a:prstGeom>
          <a:solidFill xmlns:a="http://schemas.openxmlformats.org/drawingml/2006/main">
            <a:srgbClr val="F6F1FB"/>
          </a:solidFill>
          <a:ln xmlns:a="http://schemas.openxmlformats.org/drawingml/2006/main" w="19050">
            <a:solidFill>
              <a:srgbClr val="6B4B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64" name="사각형: 둥근 모서리 63">
            <a:extLst xmlns:a="http://schemas.openxmlformats.org/drawingml/2006/main">
              <a:ext uri="{FF2B5EF4-FFF2-40B4-BE49-F238E27FC236}">
                <a16:creationId xmlns:a16="http://schemas.microsoft.com/office/drawing/2014/main" id="{9B12D04C-D83C-489B-AE4B-D0B9C4D7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295650"/>
            <a:ext cx="342900" cy="3429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pic>
        <p:nvPicPr>
          <p:cNvPr id="174" name="그래픽 173">
            <a:extLst xmlns:a="http://schemas.openxmlformats.org/drawingml/2006/main">
              <a:ext uri="{FF2B5EF4-FFF2-40B4-BE49-F238E27FC236}">
                <a16:creationId xmlns:a16="http://schemas.microsoft.com/office/drawing/2014/main" id="{409D6917-0E1B-4166-A0C0-8922972BD6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a4fd2eedb44aed">
            <a:extLst>
              <a:ext uri="{96DAC541-7B7A-43D3-8B79-37D633B846F1}">
                <asvg:svgBlip xmlns:asvg="http://schemas.microsoft.com/office/drawing/2016/SVG/main" r:embed="Rd6f63a9f274a4db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306050" y="33528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4B3747A0-B65E-4D46-91C0-AA268EBF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3286125"/>
            <a:ext cx="9620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704"/>
            </a:defPPr>
          </a:lstStyle>
          <a:p xmlns:a="http://schemas.openxmlformats.org/drawingml/2006/main">
            <a:pPr algn="l">
              <a:buNone/>
              <a:defRPr sz="704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04" b="1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LLM JUDGMENT</a:t>
            </a:r>
          </a:p>
        </p:txBody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FA833241-67E7-4ED7-AECB-22B0EE84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3457575"/>
            <a:ext cx="962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767"/>
            </a:defPPr>
          </a:lstStyle>
          <a:p xmlns:a="http://schemas.openxmlformats.org/drawingml/2006/main">
            <a:pPr algn="l">
              <a:buNone/>
              <a:defRPr sz="767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767" b="1">
                <a:solidFill>
                  <a:srgbClr val="17231F"/>
                </a:solidFill>
                <a:latin typeface="나눔고딕OTF"/>
                <a:ea typeface="나눔고딕OTF"/>
                <a:cs typeface="나눔고딕OTF"/>
              </a:rPr>
              <a:t>Evidence assessment</a:t>
            </a:r>
            <a:endParaRPr sz="990" b="1">
              <a:solidFill>
                <a:srgbClr val="17231F"/>
              </a:solidFill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9FCE45AF-3412-4449-B377-CBD1AEFA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3714750"/>
            <a:ext cx="962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566"/>
            </a:defPPr>
          </a:lstStyle>
          <a:p xmlns:a="http://schemas.openxmlformats.org/drawingml/2006/main">
            <a:pPr algn="l">
              <a:buNone/>
              <a:defRPr sz="566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566" b="0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Final Parent K=5</a:t>
            </a:r>
          </a:p>
          <a:p xmlns:a="http://schemas.openxmlformats.org/drawingml/2006/main">
            <a:pPr algn="l">
              <a:buNone/>
              <a:defRPr sz="698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</a:p>
          <a:p xmlns:a="http://schemas.openxmlformats.org/drawingml/2006/main">
            <a:pPr algn="l">
              <a:buNone/>
              <a:defRPr sz="566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566" b="0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sufficient · insufficient · conflict</a:t>
            </a:r>
          </a:p>
        </p:txBody>
      </p:sp>
      <p:sp>
        <p:nvSpPr>
          <p:cNvPr id="69" name="사각형: 둥근 모서리 68">
            <a:extLst xmlns:a="http://schemas.openxmlformats.org/drawingml/2006/main">
              <a:ext uri="{FF2B5EF4-FFF2-40B4-BE49-F238E27FC236}">
                <a16:creationId xmlns:a16="http://schemas.microsoft.com/office/drawing/2014/main" id="{7C18903D-73D0-4A2F-9A82-20910F62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86325"/>
            <a:ext cx="12573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DF7F2"/>
          </a:solidFill>
          <a:ln xmlns:a="http://schemas.openxmlformats.org/drawingml/2006/main" w="11430">
            <a:solidFill>
              <a:srgbClr val="2766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A8018E2F-CA49-46A4-BEB0-334EF0DB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91100"/>
            <a:ext cx="11049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704"/>
            </a:defPPr>
          </a:lstStyle>
          <a:p xmlns:a="http://schemas.openxmlformats.org/drawingml/2006/main">
            <a:pPr algn="ctr">
              <a:buNone/>
              <a:defRPr sz="704" b="1">
                <a:solidFill>
                  <a:srgbClr val="27664F"/>
                </a:solidFill>
                <a:latin typeface="Noto Sans KR"/>
                <a:ea typeface="Noto Sans KR"/>
                <a:cs typeface="Noto Sans KR"/>
              </a:defRPr>
            </a:pPr>
            <a:r>
              <a:rPr sz="704" b="1">
                <a:solidFill>
                  <a:srgbClr val="27664F"/>
                </a:solidFill>
                <a:latin typeface="나눔고딕OTF"/>
                <a:ea typeface="나눔고딕OTF"/>
                <a:cs typeface="나눔고딕OTF"/>
              </a:rPr>
              <a:t>SUFFICIENT</a:t>
            </a:r>
          </a:p>
        </p:txBody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D62CD120-E027-4382-821A-747E16C1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172075"/>
            <a:ext cx="1104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740"/>
            </a:defPPr>
          </a:lstStyle>
          <a:p xmlns:a="http://schemas.openxmlformats.org/drawingml/2006/main">
            <a:pPr algn="ctr">
              <a:buNone/>
              <a:defRPr sz="74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740" b="1">
                <a:solidFill>
                  <a:srgbClr val="17231F"/>
                </a:solidFill>
                <a:latin typeface="나눔고딕OTF"/>
                <a:ea typeface="나눔고딕OTF"/>
                <a:cs typeface="나눔고딕OTF"/>
              </a:rPr>
              <a:t>Cited answer</a:t>
            </a:r>
            <a:endParaRPr sz="840" b="1">
              <a:solidFill>
                <a:srgbClr val="17231F"/>
              </a:solidFill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891B712C-1C02-4E1B-A9A7-DFDB853E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410200"/>
            <a:ext cx="1104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563"/>
            </a:defPPr>
          </a:lstStyle>
          <a:p xmlns:a="http://schemas.openxmlformats.org/drawingml/2006/main">
            <a:pPr algn="ctr">
              <a:buNone/>
              <a:defRPr sz="563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563" b="0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Valid policy and source</a:t>
            </a:r>
          </a:p>
        </p:txBody>
      </p:sp>
      <p:sp>
        <p:nvSpPr>
          <p:cNvPr id="73" name="사각형: 둥근 모서리 72">
            <a:extLst xmlns:a="http://schemas.openxmlformats.org/drawingml/2006/main">
              <a:ext uri="{FF2B5EF4-FFF2-40B4-BE49-F238E27FC236}">
                <a16:creationId xmlns:a16="http://schemas.microsoft.com/office/drawing/2014/main" id="{E6E61133-560F-4F42-A4B7-1A01E1F4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86325"/>
            <a:ext cx="12573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11430">
            <a:solidFill>
              <a:srgbClr val="D8E3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885914C1-7ACA-4D57-BCD7-7F12FF8B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91100"/>
            <a:ext cx="11049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704"/>
            </a:defPPr>
          </a:lstStyle>
          <a:p xmlns:a="http://schemas.openxmlformats.org/drawingml/2006/main">
            <a:pPr algn="ctr">
              <a:buNone/>
              <a:defRPr sz="704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04" b="1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INSUFFICIENT</a:t>
            </a:r>
          </a:p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A59ACDC9-5A39-4DD4-BF2E-92F88E6F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72075"/>
            <a:ext cx="1104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740"/>
            </a:defPPr>
          </a:lstStyle>
          <a:p xmlns:a="http://schemas.openxmlformats.org/drawingml/2006/main">
            <a:pPr algn="ctr">
              <a:buNone/>
              <a:defRPr sz="74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740" b="1">
                <a:solidFill>
                  <a:srgbClr val="17231F"/>
                </a:solidFill>
                <a:latin typeface="나눔고딕OTF"/>
                <a:ea typeface="나눔고딕OTF"/>
                <a:cs typeface="나눔고딕OTF"/>
              </a:rPr>
              <a:t>Insufficient evidence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64E5320F-7DB9-40C3-A035-E9B90AAE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10200"/>
            <a:ext cx="1104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563"/>
            </a:defPPr>
          </a:lstStyle>
          <a:p xmlns:a="http://schemas.openxmlformats.org/drawingml/2006/main">
            <a:pPr algn="ctr">
              <a:buNone/>
              <a:defRPr sz="563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563" b="0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no_evidence</a:t>
            </a:r>
          </a:p>
        </p:txBody>
      </p:sp>
      <p:sp>
        <p:nvSpPr>
          <p:cNvPr id="77" name="사각형: 둥근 모서리 76">
            <a:extLst xmlns:a="http://schemas.openxmlformats.org/drawingml/2006/main">
              <a:ext uri="{FF2B5EF4-FFF2-40B4-BE49-F238E27FC236}">
                <a16:creationId xmlns:a16="http://schemas.microsoft.com/office/drawing/2014/main" id="{461427BB-A5B5-4CD1-9B01-1C30389D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886325"/>
            <a:ext cx="12573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11430">
            <a:solidFill>
              <a:srgbClr val="A5621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5C37F421-40C6-445B-A767-8C23F9A2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991100"/>
            <a:ext cx="11049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704"/>
            </a:defPPr>
          </a:lstStyle>
          <a:p xmlns:a="http://schemas.openxmlformats.org/drawingml/2006/main">
            <a:pPr algn="ctr">
              <a:buNone/>
              <a:defRPr sz="704" b="1">
                <a:solidFill>
                  <a:srgbClr val="A56216"/>
                </a:solidFill>
                <a:latin typeface="Noto Sans KR"/>
                <a:ea typeface="Noto Sans KR"/>
                <a:cs typeface="Noto Sans KR"/>
              </a:defRPr>
            </a:pPr>
            <a:r>
              <a:rPr sz="704" b="1">
                <a:solidFill>
                  <a:srgbClr val="A56216"/>
                </a:solidFill>
                <a:latin typeface="나눔고딕OTF"/>
                <a:ea typeface="나눔고딕OTF"/>
                <a:cs typeface="나눔고딕OTF"/>
              </a:rPr>
              <a:t>CONFLICT</a:t>
            </a:r>
          </a:p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CA0E312F-A924-4127-997F-AD7F24AB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172075"/>
            <a:ext cx="1104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740"/>
            </a:defPPr>
          </a:lstStyle>
          <a:p xmlns:a="http://schemas.openxmlformats.org/drawingml/2006/main">
            <a:pPr algn="ctr">
              <a:buNone/>
              <a:defRPr sz="74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740" b="1">
                <a:solidFill>
                  <a:srgbClr val="17231F"/>
                </a:solidFill>
                <a:latin typeface="나눔고딕OTF"/>
                <a:ea typeface="나눔고딕OTF"/>
                <a:cs typeface="나눔고딕OTF"/>
              </a:rPr>
              <a:t>Policy conflict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6792D298-7DBD-4567-B611-AE6C5D80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410200"/>
            <a:ext cx="1104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563"/>
            </a:defPPr>
          </a:lstStyle>
          <a:p xmlns:a="http://schemas.openxmlformats.org/drawingml/2006/main">
            <a:pPr algn="ctr">
              <a:buNone/>
              <a:defRPr sz="563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563" b="0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Human review</a:t>
            </a:r>
          </a:p>
        </p:txBody>
      </p:sp>
      <p:sp>
        <p:nvSpPr>
          <p:cNvPr id="81" name="사각형: 둥근 모서리 80">
            <a:extLst xmlns:a="http://schemas.openxmlformats.org/drawingml/2006/main">
              <a:ext uri="{FF2B5EF4-FFF2-40B4-BE49-F238E27FC236}">
                <a16:creationId xmlns:a16="http://schemas.microsoft.com/office/drawing/2014/main" id="{16FCA979-1090-43A3-95D6-0BFA3183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886325"/>
            <a:ext cx="12573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11430">
            <a:solidFill>
              <a:srgbClr val="A13C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45D2B199-DFE2-43DE-AA7A-FCA90875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991100"/>
            <a:ext cx="11049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616"/>
            </a:defPPr>
          </a:lstStyle>
          <a:p xmlns:a="http://schemas.openxmlformats.org/drawingml/2006/main">
            <a:pPr algn="ctr">
              <a:buNone/>
              <a:defRPr sz="616" b="1">
                <a:solidFill>
                  <a:srgbClr val="A13C4A"/>
                </a:solidFill>
                <a:latin typeface="Noto Sans KR"/>
                <a:ea typeface="Noto Sans KR"/>
                <a:cs typeface="Noto Sans KR"/>
              </a:defRPr>
            </a:pPr>
            <a:r>
              <a:rPr sz="616" b="1">
                <a:solidFill>
                  <a:srgbClr val="A13C4A"/>
                </a:solidFill>
                <a:latin typeface="나눔고딕OTF"/>
                <a:ea typeface="나눔고딕OTF"/>
                <a:cs typeface="나눔고딕OTF"/>
              </a:rPr>
              <a:t>MEDICAL · SAFETY</a:t>
            </a:r>
          </a:p>
        </p:txBody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2AA49179-5B99-4D55-AC14-13EBBB85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172075"/>
            <a:ext cx="1104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740"/>
            </a:defPPr>
          </a:lstStyle>
          <a:p xmlns:a="http://schemas.openxmlformats.org/drawingml/2006/main">
            <a:pPr algn="ctr">
              <a:buNone/>
              <a:defRPr sz="74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740" b="1">
                <a:solidFill>
                  <a:srgbClr val="17231F"/>
                </a:solidFill>
                <a:latin typeface="나눔고딕OTF"/>
                <a:ea typeface="나눔고딕OTF"/>
                <a:cs typeface="나눔고딕OTF"/>
              </a:rPr>
              <a:t>Immediate escalation</a:t>
            </a:r>
          </a:p>
        </p:txBody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183F22DB-FBC9-4FF7-AA0C-EAB4F5CC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410200"/>
            <a:ext cx="1104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563"/>
            </a:defPPr>
          </a:lstStyle>
          <a:p xmlns:a="http://schemas.openxmlformats.org/drawingml/2006/main">
            <a:pPr algn="ctr">
              <a:buNone/>
              <a:defRPr sz="563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563" b="0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Route to safety owner</a:t>
            </a:r>
          </a:p>
        </p:txBody>
      </p:sp>
      <p:sp>
        <p:nvSpPr>
          <p:cNvPr id="85" name="직선 연결선 84">
            <a:extLst xmlns:a="http://schemas.openxmlformats.org/drawingml/2006/main">
              <a:ext uri="{FF2B5EF4-FFF2-40B4-BE49-F238E27FC236}">
                <a16:creationId xmlns:a16="http://schemas.microsoft.com/office/drawing/2014/main" id="{FDC0003D-EC8C-4B11-AE54-9B262336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1337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8B999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86" name="직선 연결선 85">
            <a:extLst xmlns:a="http://schemas.openxmlformats.org/drawingml/2006/main">
              <a:ext uri="{FF2B5EF4-FFF2-40B4-BE49-F238E27FC236}">
                <a16:creationId xmlns:a16="http://schemas.microsoft.com/office/drawing/2014/main" id="{FF85C434-977D-4FC2-9731-D912D569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1337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8B999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87" name="직선 연결선 86">
            <a:extLst xmlns:a="http://schemas.openxmlformats.org/drawingml/2006/main">
              <a:ext uri="{FF2B5EF4-FFF2-40B4-BE49-F238E27FC236}">
                <a16:creationId xmlns:a16="http://schemas.microsoft.com/office/drawing/2014/main" id="{9A1E5ABD-450B-4E3C-8B8A-2338EBBD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66975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8B999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88" name="직선 연결선 87">
            <a:extLst xmlns:a="http://schemas.openxmlformats.org/drawingml/2006/main">
              <a:ext uri="{FF2B5EF4-FFF2-40B4-BE49-F238E27FC236}">
                <a16:creationId xmlns:a16="http://schemas.microsoft.com/office/drawing/2014/main" id="{0982BF80-595C-49C5-840A-A91BAA36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6697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8B999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89" name="직선 연결선 88">
            <a:extLst xmlns:a="http://schemas.openxmlformats.org/drawingml/2006/main">
              <a:ext uri="{FF2B5EF4-FFF2-40B4-BE49-F238E27FC236}">
                <a16:creationId xmlns:a16="http://schemas.microsoft.com/office/drawing/2014/main" id="{3C06DD03-1A4C-42D1-BF8A-6C6DB2BE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1337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8B999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90" name="직선 연결선 89">
            <a:extLst xmlns:a="http://schemas.openxmlformats.org/drawingml/2006/main">
              <a:ext uri="{FF2B5EF4-FFF2-40B4-BE49-F238E27FC236}">
                <a16:creationId xmlns:a16="http://schemas.microsoft.com/office/drawing/2014/main" id="{0D7DAB72-F2DE-45DE-A937-CC375FB4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133725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8B999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91" name="직선 연결선 90">
            <a:extLst xmlns:a="http://schemas.openxmlformats.org/drawingml/2006/main">
              <a:ext uri="{FF2B5EF4-FFF2-40B4-BE49-F238E27FC236}">
                <a16:creationId xmlns:a16="http://schemas.microsoft.com/office/drawing/2014/main" id="{9F9D7CC3-EBB7-475E-A87A-DC0CA061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5287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8B999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92" name="직선 연결선 91">
            <a:extLst xmlns:a="http://schemas.openxmlformats.org/drawingml/2006/main">
              <a:ext uri="{FF2B5EF4-FFF2-40B4-BE49-F238E27FC236}">
                <a16:creationId xmlns:a16="http://schemas.microsoft.com/office/drawing/2014/main" id="{0F049F24-615F-47BF-9D1B-9073F609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66975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8B999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93" name="직선 연결선 92">
            <a:extLst xmlns:a="http://schemas.openxmlformats.org/drawingml/2006/main">
              <a:ext uri="{FF2B5EF4-FFF2-40B4-BE49-F238E27FC236}">
                <a16:creationId xmlns:a16="http://schemas.microsoft.com/office/drawing/2014/main" id="{6B99DCB3-3A6E-4F3B-AF6F-8E22E9CE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466975"/>
            <a:ext cx="0" cy="676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8B999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94" name="직선 연결선 93">
            <a:extLst xmlns:a="http://schemas.openxmlformats.org/drawingml/2006/main">
              <a:ext uri="{FF2B5EF4-FFF2-40B4-BE49-F238E27FC236}">
                <a16:creationId xmlns:a16="http://schemas.microsoft.com/office/drawing/2014/main" id="{03E9E5FD-4D86-4AB6-8DA0-F20C5FA7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143250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8B999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95" name="직선 연결선 94">
            <a:extLst xmlns:a="http://schemas.openxmlformats.org/drawingml/2006/main">
              <a:ext uri="{FF2B5EF4-FFF2-40B4-BE49-F238E27FC236}">
                <a16:creationId xmlns:a16="http://schemas.microsoft.com/office/drawing/2014/main" id="{1057FA4A-F133-47FB-AE4A-C6AD6F52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52875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8B999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96" name="직선 연결선 95">
            <a:extLst xmlns:a="http://schemas.openxmlformats.org/drawingml/2006/main">
              <a:ext uri="{FF2B5EF4-FFF2-40B4-BE49-F238E27FC236}">
                <a16:creationId xmlns:a16="http://schemas.microsoft.com/office/drawing/2014/main" id="{68B0F59C-9010-43F4-BAAA-DA08CB7B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143250"/>
            <a:ext cx="0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8B999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97" name="직선 연결선 96">
            <a:extLst xmlns:a="http://schemas.openxmlformats.org/drawingml/2006/main">
              <a:ext uri="{FF2B5EF4-FFF2-40B4-BE49-F238E27FC236}">
                <a16:creationId xmlns:a16="http://schemas.microsoft.com/office/drawing/2014/main" id="{3932EA79-B944-474E-ABD2-97C08A29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143250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8B999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98" name="직선 연결선 97">
            <a:extLst xmlns:a="http://schemas.openxmlformats.org/drawingml/2006/main">
              <a:ext uri="{FF2B5EF4-FFF2-40B4-BE49-F238E27FC236}">
                <a16:creationId xmlns:a16="http://schemas.microsoft.com/office/drawing/2014/main" id="{002F3415-E128-4CA6-BF81-79868EE6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43250"/>
            <a:ext cx="390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8B999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99" name="직선 연결선 98">
            <a:extLst xmlns:a="http://schemas.openxmlformats.org/drawingml/2006/main">
              <a:ext uri="{FF2B5EF4-FFF2-40B4-BE49-F238E27FC236}">
                <a16:creationId xmlns:a16="http://schemas.microsoft.com/office/drawing/2014/main" id="{EDE0283B-DB0A-478B-8F94-E695A446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617385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8B999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100" name="직선 연결선 99">
            <a:extLst xmlns:a="http://schemas.openxmlformats.org/drawingml/2006/main">
              <a:ext uri="{FF2B5EF4-FFF2-40B4-BE49-F238E27FC236}">
                <a16:creationId xmlns:a16="http://schemas.microsoft.com/office/drawing/2014/main" id="{E3414997-86FF-4417-B041-A6A952A7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28925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8B999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101" name="직선 연결선 100">
            <a:extLst xmlns:a="http://schemas.openxmlformats.org/drawingml/2006/main">
              <a:ext uri="{FF2B5EF4-FFF2-40B4-BE49-F238E27FC236}">
                <a16:creationId xmlns:a16="http://schemas.microsoft.com/office/drawing/2014/main" id="{2498DAD6-79A5-4250-8955-633DB007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5290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766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102" name="직선 연결선 101">
            <a:extLst xmlns:a="http://schemas.openxmlformats.org/drawingml/2006/main">
              <a:ext uri="{FF2B5EF4-FFF2-40B4-BE49-F238E27FC236}">
                <a16:creationId xmlns:a16="http://schemas.microsoft.com/office/drawing/2014/main" id="{47E4C878-9C09-430D-8A77-BCEB2E96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991350" y="4514849"/>
            <a:ext cx="4109466" cy="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766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103" name="직선 연결선 102">
            <a:extLst xmlns:a="http://schemas.openxmlformats.org/drawingml/2006/main">
              <a:ext uri="{FF2B5EF4-FFF2-40B4-BE49-F238E27FC236}">
                <a16:creationId xmlns:a16="http://schemas.microsoft.com/office/drawing/2014/main" id="{AA5FFB60-625A-44A7-AEB8-E79772AE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514850"/>
            <a:ext cx="0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766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104" name="직선 연결선 103">
            <a:extLst xmlns:a="http://schemas.openxmlformats.org/drawingml/2006/main">
              <a:ext uri="{FF2B5EF4-FFF2-40B4-BE49-F238E27FC236}">
                <a16:creationId xmlns:a16="http://schemas.microsoft.com/office/drawing/2014/main" id="{2C3AE90C-17C2-4CB6-A00F-0206432C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514850"/>
            <a:ext cx="0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766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105" name="직선 연결선 104">
            <a:extLst xmlns:a="http://schemas.openxmlformats.org/drawingml/2006/main">
              <a:ext uri="{FF2B5EF4-FFF2-40B4-BE49-F238E27FC236}">
                <a16:creationId xmlns:a16="http://schemas.microsoft.com/office/drawing/2014/main" id="{3C7CF1A4-67CB-447E-9346-4931FD0E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514850"/>
            <a:ext cx="0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766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106" name="직선 연결선 105">
            <a:extLst xmlns:a="http://schemas.openxmlformats.org/drawingml/2006/main">
              <a:ext uri="{FF2B5EF4-FFF2-40B4-BE49-F238E27FC236}">
                <a16:creationId xmlns:a16="http://schemas.microsoft.com/office/drawing/2014/main" id="{B950FB83-8F04-4C49-BBE2-CD0B5158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514850"/>
            <a:ext cx="0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766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107" name="직선 연결선 106">
            <a:extLst xmlns:a="http://schemas.openxmlformats.org/drawingml/2006/main">
              <a:ext uri="{FF2B5EF4-FFF2-40B4-BE49-F238E27FC236}">
                <a16:creationId xmlns:a16="http://schemas.microsoft.com/office/drawing/2014/main" id="{96025AA7-8FB6-4B71-B455-A7ADEB46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3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8" name="직사각형 107">
            <a:extLst xmlns:a="http://schemas.openxmlformats.org/drawingml/2006/main">
              <a:ext uri="{FF2B5EF4-FFF2-40B4-BE49-F238E27FC236}">
                <a16:creationId xmlns:a16="http://schemas.microsoft.com/office/drawing/2014/main" id="{696C4C47-EE47-451E-8960-52D1FACC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1507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624"/>
            </a:defPPr>
          </a:lstStyle>
          <a:p xmlns:a="http://schemas.openxmlformats.org/drawingml/2006/main">
            <a:pPr algn="l">
              <a:buNone/>
              <a:defRPr sz="624" b="1">
                <a:solidFill>
                  <a:srgbClr val="27664F"/>
                </a:solidFill>
                <a:latin typeface="Noto Sans KR"/>
                <a:ea typeface="Noto Sans KR"/>
                <a:cs typeface="Noto Sans KR"/>
              </a:defRPr>
            </a:pPr>
            <a:r>
              <a:rPr sz="624" b="1">
                <a:solidFill>
                  <a:srgbClr val="27664F"/>
                </a:solidFill>
                <a:latin typeface="Noto Sans KR"/>
                <a:ea typeface="Noto Sans KR"/>
                <a:cs typeface="Noto Sans KR"/>
              </a:rPr>
              <a:t>CORE CONTROL:</a:t>
            </a:r>
          </a:p>
        </p:txBody>
      </p:sp>
      <p:sp>
        <p:nvSpPr>
          <p:cNvPr id="109" name="직사각형 108">
            <a:extLst xmlns:a="http://schemas.openxmlformats.org/drawingml/2006/main">
              <a:ext uri="{FF2B5EF4-FFF2-40B4-BE49-F238E27FC236}">
                <a16:creationId xmlns:a16="http://schemas.microsoft.com/office/drawing/2014/main" id="{F026D076-3A86-47EB-AECA-B117C060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315075"/>
            <a:ext cx="10515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694"/>
            </a:defPPr>
          </a:lstStyle>
          <a:p xmlns:a="http://schemas.openxmlformats.org/drawingml/2006/main">
            <a:pPr algn="l">
              <a:buNone/>
              <a:defRPr sz="694" b="1">
                <a:solidFill>
                  <a:srgbClr val="46564F"/>
                </a:solidFill>
                <a:latin typeface="Noto Sans KR"/>
                <a:ea typeface="Noto Sans KR"/>
                <a:cs typeface="Noto Sans KR"/>
              </a:defRPr>
            </a:pPr>
            <a:r>
              <a:rPr sz="694" b="1">
                <a:solidFill>
                  <a:srgbClr val="46564F"/>
                </a:solidFill>
                <a:latin typeface="Noto Sans KR"/>
                <a:ea typeface="Noto Sans KR"/>
                <a:cs typeface="Noto Sans KR"/>
              </a:rPr>
              <a:t>Retrieval uses only authorized Child chunks. The Agent uses only policies that pass Parent reranking and evidence assessment.</a:t>
            </a:r>
          </a:p>
        </p:txBody>
      </p:sp>
    </p:spTree>
    <p:extLst>
      <p:ext uri="{BB962C8B-B14F-4D97-AF65-F5344CB8AC3E}">
        <p14:creationId xmlns:p14="http://schemas.microsoft.com/office/powerpoint/2010/main" val="20229433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2026-10-09T08:14:32.7500000Z</dcterms:created>
  <dcterms:modified xsi:type="dcterms:W3CDTF">2026-10-09T08:14:32.7500000Z</dcterms:modified>
</coreProperties>
</file>