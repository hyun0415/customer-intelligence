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ea287e4aff47d1" /><Relationship Type="http://schemas.openxmlformats.org/officeDocument/2006/relationships/extended-properties" Target="/docProps/app.xml" Id="R3558fa05c7cd4a1d" /><Relationship Type="http://schemas.openxmlformats.org/officeDocument/2006/relationships/officeDocument" Target="/ppt/presentation.xml" Id="R929dbde8d5ac4d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e8817f4e534df2"/>
  </p:sldMasterIdLst>
  <p:notesMasterIdLst>
    <p:notesMasterId xmlns:r="http://schemas.openxmlformats.org/officeDocument/2006/relationships" r:id="R137f31504da74056"/>
  </p:notesMasterIdLst>
  <p:sldIdLst>
    <p:sldId xmlns:r="http://schemas.openxmlformats.org/officeDocument/2006/relationships" id="256" r:id="Rd42051c4a8f74ce9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6719660f774832" /><Relationship Type="http://schemas.openxmlformats.org/officeDocument/2006/relationships/slideMaster" Target="/ppt/slideMasters/slideMaster1.xml" Id="R69e8817f4e534df2" /><Relationship Type="http://schemas.openxmlformats.org/officeDocument/2006/relationships/notesMaster" Target="/ppt/notesMasters/notesMaster1.xml" Id="R137f31504da74056" /><Relationship Type="http://schemas.openxmlformats.org/officeDocument/2006/relationships/presProps" Target="/ppt/presProps.xml" Id="Rd73fccde66a24e46" /><Relationship Type="http://schemas.openxmlformats.org/officeDocument/2006/relationships/viewProps" Target="/ppt/viewProps.xml" Id="Re3685aacbf014a0b" /><Relationship Type="http://schemas.openxmlformats.org/officeDocument/2006/relationships/tableStyles" Target="/ppt/tableStyles.xml" Id="R02259f8ec74d4b42" /><Relationship Type="http://schemas.openxmlformats.org/officeDocument/2006/relationships/slide" Target="/ppt/slides/slide1.xml" Id="Rd42051c4a8f74c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87b6b73f154f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1d5dac4f7540a4" /><Relationship Type="http://schemas.openxmlformats.org/officeDocument/2006/relationships/notesMaster" Target="/ppt/notesMasters/notesMaster1.xml" Id="Rc47df856331644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기술 표기 참고: OpenAI API https://openai.com/brand/ ; LangGraph https://docs.langchain.com/ ; PostgreSQL https://wiki.postgresql.org/wiki/Logo ; Python https://www.python.org/community/logos/ . 제품 로고를 변형하지 않고, 도식에는 자체 제작한 중립 픽토그램과 공식 기술명을 사용했다.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047bae2db244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607dfbbcc54f29" /><Relationship Type="http://schemas.openxmlformats.org/officeDocument/2006/relationships/slideLayout" Target="/ppt/slideLayouts/slideLayout1.xml" Id="R8e34e13e521944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34e13e521944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f796f5d4ac48bb" /><Relationship Type="http://schemas.openxmlformats.org/officeDocument/2006/relationships/image" Target="/ppt/media/image.png" Id="R13a54896db574701" /><Relationship Type="http://schemas.openxmlformats.org/officeDocument/2006/relationships/image" Target="/ppt/media/image.svg" Id="Ra8e23391379242c7" /><Relationship Type="http://schemas.openxmlformats.org/officeDocument/2006/relationships/image" Target="/ppt/media/image2.png" Id="R737fd02053a14305" /><Relationship Type="http://schemas.openxmlformats.org/officeDocument/2006/relationships/image" Target="/ppt/media/image2.svg" Id="R06e37e5f6f6945b8" /><Relationship Type="http://schemas.openxmlformats.org/officeDocument/2006/relationships/image" Target="/ppt/media/image3.png" Id="Re44a414a7a404052" /><Relationship Type="http://schemas.openxmlformats.org/officeDocument/2006/relationships/image" Target="/ppt/media/image3.svg" Id="Re702e163a4014f43" /><Relationship Type="http://schemas.openxmlformats.org/officeDocument/2006/relationships/image" Target="/ppt/media/image4.png" Id="Rc0eec03f9cee414c" /><Relationship Type="http://schemas.openxmlformats.org/officeDocument/2006/relationships/image" Target="/ppt/media/image4.svg" Id="R1493274fa2c8415d" /><Relationship Type="http://schemas.openxmlformats.org/officeDocument/2006/relationships/image" Target="/ppt/media/image5.png" Id="R5883e61cf12e4231" /><Relationship Type="http://schemas.openxmlformats.org/officeDocument/2006/relationships/image" Target="/ppt/media/image5.svg" Id="R09eec069b7004169" /><Relationship Type="http://schemas.openxmlformats.org/officeDocument/2006/relationships/image" Target="/ppt/media/image6.png" Id="R3b2c0d2ae8fe4070" /><Relationship Type="http://schemas.openxmlformats.org/officeDocument/2006/relationships/image" Target="/ppt/media/image6.svg" Id="Rd20f092e04934c21" /><Relationship Type="http://schemas.openxmlformats.org/officeDocument/2006/relationships/image" Target="/ppt/media/image7.png" Id="R145041e456314250" /><Relationship Type="http://schemas.openxmlformats.org/officeDocument/2006/relationships/image" Target="/ppt/media/image7.svg" Id="Rabeda1a9482e4232" /><Relationship Type="http://schemas.openxmlformats.org/officeDocument/2006/relationships/notesSlide" Target="/ppt/notesSlides/notesSlide1.xml" Id="Rb061ee966db246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직사각형 105">
            <a:extLst xmlns:a="http://schemas.openxmlformats.org/drawingml/2006/main">
              <a:ext uri="{FF2B5EF4-FFF2-40B4-BE49-F238E27FC236}">
                <a16:creationId xmlns:a16="http://schemas.microsoft.com/office/drawing/2014/main" id="{12F486DD-E093-4FFF-A76F-3AE3F03F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20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760"/>
            </a:defPPr>
          </a:lstStyle>
          <a:p xmlns:a="http://schemas.openxmlformats.org/drawingml/2006/main">
            <a:pPr algn="l">
              <a:buNone/>
              <a:defRPr sz="760" b="1">
                <a:solidFill>
                  <a:srgbClr val="27664F"/>
                </a:solidFill>
                <a:latin typeface="Noto Sans KR"/>
                <a:ea typeface="Noto Sans KR"/>
                <a:cs typeface="Noto Sans KR"/>
              </a:defRPr>
            </a:pPr>
            <a:r>
              <a:rPr sz="760" b="1">
                <a:solidFill>
                  <a:srgbClr val="27664F"/>
                </a:solidFill>
                <a:latin typeface="Noto Sans KR"/>
                <a:ea typeface="Noto Sans KR"/>
                <a:cs typeface="Noto Sans KR"/>
              </a:rPr>
              <a:t>CUSTOMER INTELLIGENCE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6FFB1FC4-0B91-4BF0-BD05-EFA7B7EA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"/>
            <a:ext cx="11201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112"/>
            </a:defPPr>
          </a:lstStyle>
          <a:p xmlns:a="http://schemas.openxmlformats.org/drawingml/2006/main">
            <a:pPr algn="l">
              <a:buNone/>
              <a:defRPr sz="2112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2112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Customer Review Analysis Flow</a:t>
            </a: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A15A4CD5-8E0E-4CB6-803F-96CBFF25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19175"/>
            <a:ext cx="11201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872"/>
            </a:defPPr>
          </a:lstStyle>
          <a:p xmlns:a="http://schemas.openxmlformats.org/drawingml/2006/main">
            <a:pPr algn="l">
              <a:buNone/>
              <a:defRPr sz="872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872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Separate Agent and Extractor I/O while tested code controls retrieval, validation, and aggregation.</a:t>
            </a:r>
          </a:p>
        </p:txBody>
      </p:sp>
      <p:sp>
        <p:nvSpPr>
          <p:cNvPr id="4" name="사각형: 둥근 모서리 3">
            <a:extLst xmlns:a="http://schemas.openxmlformats.org/drawingml/2006/main">
              <a:ext uri="{FF2B5EF4-FFF2-40B4-BE49-F238E27FC236}">
                <a16:creationId xmlns:a16="http://schemas.microsoft.com/office/drawing/2014/main" id="{2EA0F6B6-AD0B-434D-AE0D-E8FE22AFF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38275"/>
            <a:ext cx="3276600" cy="4619625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BFCFB"/>
          </a:solidFill>
          <a:ln xmlns:a="http://schemas.openxmlformats.org/drawingml/2006/main" w="9525">
            <a:solidFill>
              <a:srgbClr val="D8E3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타원 4">
            <a:extLst xmlns:a="http://schemas.openxmlformats.org/drawingml/2006/main">
              <a:ext uri="{FF2B5EF4-FFF2-40B4-BE49-F238E27FC236}">
                <a16:creationId xmlns:a16="http://schemas.microsoft.com/office/drawing/2014/main" id="{38628B5B-FC27-4854-9DC1-04A6A73D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314325" cy="3143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31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858"/>
            </a:defPPr>
          </a:lstStyle>
          <a:p xmlns:a="http://schemas.openxmlformats.org/drawingml/2006/main">
            <a:pPr algn="ctr">
              <a:buNone/>
              <a:defRPr sz="85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5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4CBD0818-EB83-498B-815A-6C4B4837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619250"/>
            <a:ext cx="2476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135"/>
            </a:defPPr>
          </a:lstStyle>
          <a:p xmlns:a="http://schemas.openxmlformats.org/drawingml/2006/main">
            <a:pPr algn="l">
              <a:buNone/>
              <a:defRPr sz="1135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1135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Review Retrieval</a:t>
            </a:r>
          </a:p>
        </p:txBody>
      </p:sp>
      <p:sp>
        <p:nvSpPr>
          <p:cNvPr id="7" name="사각형: 둥근 모서리 6">
            <a:extLst xmlns:a="http://schemas.openxmlformats.org/drawingml/2006/main">
              <a:ext uri="{FF2B5EF4-FFF2-40B4-BE49-F238E27FC236}">
                <a16:creationId xmlns:a16="http://schemas.microsoft.com/office/drawing/2014/main" id="{C53B9697-67B1-4DDE-8B5B-97D61E41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438275"/>
            <a:ext cx="3276600" cy="4619625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BFCFB"/>
          </a:solidFill>
          <a:ln xmlns:a="http://schemas.openxmlformats.org/drawingml/2006/main" w="9525">
            <a:solidFill>
              <a:srgbClr val="D8E3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타원 7">
            <a:extLst xmlns:a="http://schemas.openxmlformats.org/drawingml/2006/main">
              <a:ext uri="{FF2B5EF4-FFF2-40B4-BE49-F238E27FC236}">
                <a16:creationId xmlns:a16="http://schemas.microsoft.com/office/drawing/2014/main" id="{A856F402-3770-4F93-94EE-0125DC7F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609725"/>
            <a:ext cx="314325" cy="3143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31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858"/>
            </a:defPPr>
          </a:lstStyle>
          <a:p xmlns:a="http://schemas.openxmlformats.org/drawingml/2006/main">
            <a:pPr algn="ctr">
              <a:buNone/>
              <a:defRPr sz="85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5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C192352E-FBFA-46DD-9782-07497F58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619250"/>
            <a:ext cx="2476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135"/>
            </a:defPPr>
          </a:lstStyle>
          <a:p xmlns:a="http://schemas.openxmlformats.org/drawingml/2006/main">
            <a:pPr algn="l">
              <a:buNone/>
              <a:defRPr sz="1135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1135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Tool Analysis</a:t>
            </a:r>
          </a:p>
        </p:txBody>
      </p:sp>
      <p:sp>
        <p:nvSpPr>
          <p:cNvPr id="10" name="사각형: 둥근 모서리 9">
            <a:extLst xmlns:a="http://schemas.openxmlformats.org/drawingml/2006/main">
              <a:ext uri="{FF2B5EF4-FFF2-40B4-BE49-F238E27FC236}">
                <a16:creationId xmlns:a16="http://schemas.microsoft.com/office/drawing/2014/main" id="{DA097CFB-4DA5-4BE2-A48B-D6F9FF80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438275"/>
            <a:ext cx="3276600" cy="4619625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BFCFB"/>
          </a:solidFill>
          <a:ln xmlns:a="http://schemas.openxmlformats.org/drawingml/2006/main" w="9525">
            <a:solidFill>
              <a:srgbClr val="D8E3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타원 10">
            <a:extLst xmlns:a="http://schemas.openxmlformats.org/drawingml/2006/main">
              <a:ext uri="{FF2B5EF4-FFF2-40B4-BE49-F238E27FC236}">
                <a16:creationId xmlns:a16="http://schemas.microsoft.com/office/drawing/2014/main" id="{2F80F7B2-7814-4627-8F03-8D3DDA77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609725"/>
            <a:ext cx="314325" cy="3143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31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858"/>
            </a:defPPr>
          </a:lstStyle>
          <a:p xmlns:a="http://schemas.openxmlformats.org/drawingml/2006/main">
            <a:pPr algn="ctr">
              <a:buNone/>
              <a:defRPr sz="85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5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78E4A2CC-3786-4009-A93D-CE3469B6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619250"/>
            <a:ext cx="2476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135"/>
            </a:defPPr>
          </a:lstStyle>
          <a:p xmlns:a="http://schemas.openxmlformats.org/drawingml/2006/main">
            <a:pPr algn="l">
              <a:buNone/>
              <a:defRPr sz="1135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1135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Final Response</a:t>
            </a:r>
          </a:p>
        </p:txBody>
      </p:sp>
      <p:sp>
        <p:nvSpPr>
          <p:cNvPr id="13" name="사각형: 둥근 모서리 12">
            <a:extLst xmlns:a="http://schemas.openxmlformats.org/drawingml/2006/main">
              <a:ext uri="{FF2B5EF4-FFF2-40B4-BE49-F238E27FC236}">
                <a16:creationId xmlns:a16="http://schemas.microsoft.com/office/drawing/2014/main" id="{A2487EE6-05A3-46CE-BD8C-F548E10E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285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11430">
            <a:solidFill>
              <a:srgbClr val="8B989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528B19D3-CDE4-4645-8892-224A9C50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76475"/>
            <a:ext cx="371475" cy="371475"/>
          </a:xfrm>
          <a:prstGeom xmlns:a="http://schemas.openxmlformats.org/drawingml/2006/main" prst="roundRect">
            <a:avLst>
              <a:gd name="adj" fmla="val 25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20" name="그래픽 119">
            <a:extLst xmlns:a="http://schemas.openxmlformats.org/drawingml/2006/main">
              <a:ext uri="{FF2B5EF4-FFF2-40B4-BE49-F238E27FC236}">
                <a16:creationId xmlns:a16="http://schemas.microsoft.com/office/drawing/2014/main" id="{10403AE2-FBD9-41B2-A911-76EE69E0CC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a54896db574701">
            <a:extLst>
              <a:ext uri="{96DAC541-7B7A-43D3-8B79-37D633B846F1}">
                <asvg:svgBlip xmlns:asvg="http://schemas.microsoft.com/office/drawing/2016/SVG/main" r:embed="Ra8e23391379242c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6300" y="234315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87568125-4973-4415-98A2-3D6D449B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200275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581"/>
            </a:defPPr>
          </a:lstStyle>
          <a:p xmlns:a="http://schemas.openxmlformats.org/drawingml/2006/main">
            <a:pPr algn="l">
              <a:buNone/>
              <a:defRPr sz="581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581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INPUT</a:t>
            </a:r>
          </a:p>
        </p:txBody>
      </p:sp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83CB3B6A-50B0-4E7C-BD45-037691B0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371725"/>
            <a:ext cx="2114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686"/>
            </a:defPPr>
          </a:lstStyle>
          <a:p xmlns:a="http://schemas.openxmlformats.org/drawingml/2006/main">
            <a:pPr algn="l">
              <a:buNone/>
              <a:defRPr sz="686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686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“Find recurring complaints and</a:t>
            </a:r>
          </a:p>
          <a:p xmlns:a="http://schemas.openxmlformats.org/drawingml/2006/main">
            <a:pPr algn="l">
              <a:buNone/>
              <a:defRPr sz="686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686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product improvement priorities”</a:t>
            </a:r>
          </a:p>
        </p:txBody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45735F71-C821-4C74-B625-73C73BD8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619375"/>
            <a:ext cx="2114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634"/>
            </a:defPPr>
          </a:lstStyle>
          <a:p xmlns:a="http://schemas.openxmlformats.org/drawingml/2006/main">
            <a:pPr algn="l">
              <a:buNone/>
              <a:defRPr sz="634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34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User question and recent context</a:t>
            </a:r>
          </a:p>
        </p:txBody>
      </p:sp>
      <p:sp>
        <p:nvSpPr>
          <p:cNvPr id="19" name="화살표: 아래쪽 18">
            <a:extLst xmlns:a="http://schemas.openxmlformats.org/drawingml/2006/main">
              <a:ext uri="{FF2B5EF4-FFF2-40B4-BE49-F238E27FC236}">
                <a16:creationId xmlns:a16="http://schemas.microsoft.com/office/drawing/2014/main" id="{39D947F0-1FCD-42EF-9D50-25101D26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86075"/>
            <a:ext cx="76200" cy="152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8B99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사각형: 둥근 모서리 19">
            <a:extLst xmlns:a="http://schemas.openxmlformats.org/drawingml/2006/main">
              <a:ext uri="{FF2B5EF4-FFF2-40B4-BE49-F238E27FC236}">
                <a16:creationId xmlns:a16="http://schemas.microsoft.com/office/drawing/2014/main" id="{17D9D755-F452-4ACD-AD23-4458743C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57525"/>
            <a:ext cx="285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1ECFB"/>
          </a:solidFill>
          <a:ln xmlns:a="http://schemas.openxmlformats.org/drawingml/2006/main" w="23813">
            <a:solidFill>
              <a:srgbClr val="6B4B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사각형: 둥근 모서리 20">
            <a:extLst xmlns:a="http://schemas.openxmlformats.org/drawingml/2006/main">
              <a:ext uri="{FF2B5EF4-FFF2-40B4-BE49-F238E27FC236}">
                <a16:creationId xmlns:a16="http://schemas.microsoft.com/office/drawing/2014/main" id="{87CB24B5-0F6D-4293-90B8-1C6640A38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38500"/>
            <a:ext cx="371475" cy="371475"/>
          </a:xfrm>
          <a:prstGeom xmlns:a="http://schemas.openxmlformats.org/drawingml/2006/main" prst="roundRect">
            <a:avLst>
              <a:gd name="adj" fmla="val 25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27" name="그래픽 126">
            <a:extLst xmlns:a="http://schemas.openxmlformats.org/drawingml/2006/main">
              <a:ext uri="{FF2B5EF4-FFF2-40B4-BE49-F238E27FC236}">
                <a16:creationId xmlns:a16="http://schemas.microsoft.com/office/drawing/2014/main" id="{86CC9CB6-9291-4E4D-AF35-945FD2C150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7fd02053a14305">
            <a:extLst>
              <a:ext uri="{96DAC541-7B7A-43D3-8B79-37D633B846F1}">
                <asvg:svgBlip xmlns:asvg="http://schemas.microsoft.com/office/drawing/2016/SVG/main" r:embed="R06e37e5f6f6945b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6300" y="3305175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23" name="직사각형 22">
            <a:extLst xmlns:a="http://schemas.openxmlformats.org/drawingml/2006/main">
              <a:ext uri="{FF2B5EF4-FFF2-40B4-BE49-F238E27FC236}">
                <a16:creationId xmlns:a16="http://schemas.microsoft.com/office/drawing/2014/main" id="{6FB07A58-2DCB-4E47-992D-179ED44B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162300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581"/>
            </a:defPPr>
          </a:lstStyle>
          <a:p xmlns:a="http://schemas.openxmlformats.org/drawingml/2006/main">
            <a:pPr algn="l">
              <a:buNone/>
              <a:defRPr sz="581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581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MODEL</a:t>
            </a:r>
          </a:p>
        </p:txBody>
      </p:sp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E37B9F8F-3CDA-45FE-A52F-0B1D62A8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333750"/>
            <a:ext cx="2114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892"/>
            </a:defPPr>
          </a:lstStyle>
          <a:p xmlns:a="http://schemas.openxmlformats.org/drawingml/2006/main">
            <a:pPr algn="l">
              <a:buNone/>
              <a:defRPr sz="892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892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Agent LLM</a:t>
            </a:r>
          </a:p>
        </p:txBody>
      </p:sp>
      <p:sp>
        <p:nvSpPr>
          <p:cNvPr id="25" name="직사각형 24">
            <a:extLst xmlns:a="http://schemas.openxmlformats.org/drawingml/2006/main">
              <a:ext uri="{FF2B5EF4-FFF2-40B4-BE49-F238E27FC236}">
                <a16:creationId xmlns:a16="http://schemas.microsoft.com/office/drawing/2014/main" id="{3FDD40A6-C3D7-4D40-9DAF-1C8DB922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581400"/>
            <a:ext cx="2114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634"/>
            </a:defPPr>
          </a:lstStyle>
          <a:p xmlns:a="http://schemas.openxmlformats.org/drawingml/2006/main">
            <a:pPr algn="l">
              <a:buNone/>
              <a:defRPr sz="634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34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Interpret intent and retrieval filters</a:t>
            </a:r>
          </a:p>
        </p:txBody>
      </p:sp>
      <p:sp>
        <p:nvSpPr>
          <p:cNvPr id="26" name="사각형: 둥근 모서리 25">
            <a:extLst xmlns:a="http://schemas.openxmlformats.org/drawingml/2006/main">
              <a:ext uri="{FF2B5EF4-FFF2-40B4-BE49-F238E27FC236}">
                <a16:creationId xmlns:a16="http://schemas.microsoft.com/office/drawing/2014/main" id="{C114A853-4CA9-4978-8922-2697CDC2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133725"/>
            <a:ext cx="638175" cy="180975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111111"/>
            </a:solidFill>
            <a:prstDash val="solid"/>
          </a:ln>
        </p:spPr>
        <p:txBody>
          <a:bodyPr xmlns:a="http://schemas.openxmlformats.org/drawingml/2006/main" wrap="none" lIns="28575" tIns="0" rIns="28575" bIns="0" anchor="ctr">
            <a:normAutofit fontScale="100000"/>
          </a:bodyPr>
          <a:lstStyle xmlns:a="http://schemas.openxmlformats.org/drawingml/2006/main">
            <a:defPPr>
              <a:defRPr sz="563"/>
            </a:defPPr>
          </a:lstStyle>
          <a:p xmlns:a="http://schemas.openxmlformats.org/drawingml/2006/main">
            <a:pPr algn="ctr">
              <a:buNone/>
              <a:defRPr sz="563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563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OpenAI / vLLM</a:t>
            </a:r>
          </a:p>
        </p:txBody>
      </p:sp>
      <p:sp>
        <p:nvSpPr>
          <p:cNvPr id="27" name="사각형: 둥근 모서리 26">
            <a:extLst xmlns:a="http://schemas.openxmlformats.org/drawingml/2006/main">
              <a:ext uri="{FF2B5EF4-FFF2-40B4-BE49-F238E27FC236}">
                <a16:creationId xmlns:a16="http://schemas.microsoft.com/office/drawing/2014/main" id="{69AA7EB4-CF60-45A8-9C27-65655C0C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133725"/>
            <a:ext cx="619125" cy="180975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5B3DA1"/>
            </a:solidFill>
            <a:prstDash val="solid"/>
          </a:ln>
        </p:spPr>
        <p:txBody>
          <a:bodyPr xmlns:a="http://schemas.openxmlformats.org/drawingml/2006/main" wrap="none" lIns="28575" tIns="0" rIns="28575" bIns="0" anchor="ctr">
            <a:normAutofit fontScale="100000"/>
          </a:bodyPr>
          <a:lstStyle xmlns:a="http://schemas.openxmlformats.org/drawingml/2006/main">
            <a:defPPr>
              <a:defRPr sz="563"/>
            </a:defPPr>
          </a:lstStyle>
          <a:p xmlns:a="http://schemas.openxmlformats.org/drawingml/2006/main">
            <a:pPr algn="ctr">
              <a:buNone/>
              <a:defRPr sz="563" b="1">
                <a:solidFill>
                  <a:srgbClr val="5B3DA1"/>
                </a:solidFill>
                <a:latin typeface="Noto Sans KR"/>
                <a:ea typeface="Noto Sans KR"/>
                <a:cs typeface="Noto Sans KR"/>
              </a:defRPr>
            </a:pPr>
            <a:r>
              <a:rPr sz="563" b="1">
                <a:solidFill>
                  <a:srgbClr val="5B3DA1"/>
                </a:solidFill>
                <a:latin typeface="Noto Sans KR"/>
                <a:ea typeface="Noto Sans KR"/>
                <a:cs typeface="Noto Sans KR"/>
              </a:rPr>
              <a:t>LangGraph</a:t>
            </a:r>
          </a:p>
        </p:txBody>
      </p:sp>
      <p:sp>
        <p:nvSpPr>
          <p:cNvPr id="28" name="화살표: 아래쪽 27">
            <a:extLst xmlns:a="http://schemas.openxmlformats.org/drawingml/2006/main">
              <a:ext uri="{FF2B5EF4-FFF2-40B4-BE49-F238E27FC236}">
                <a16:creationId xmlns:a16="http://schemas.microsoft.com/office/drawing/2014/main" id="{48494215-2C49-466A-9C9E-89713B3A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48100"/>
            <a:ext cx="76200" cy="152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8B99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사각형: 둥근 모서리 28">
            <a:extLst xmlns:a="http://schemas.openxmlformats.org/drawingml/2006/main">
              <a:ext uri="{FF2B5EF4-FFF2-40B4-BE49-F238E27FC236}">
                <a16:creationId xmlns:a16="http://schemas.microsoft.com/office/drawing/2014/main" id="{FB108C4A-DD13-49FE-B535-85D64778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285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DF7F2"/>
          </a:solidFill>
          <a:ln xmlns:a="http://schemas.openxmlformats.org/drawingml/2006/main" w="11430">
            <a:solidFill>
              <a:srgbClr val="2F76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사각형: 둥근 모서리 29">
            <a:extLst xmlns:a="http://schemas.openxmlformats.org/drawingml/2006/main">
              <a:ext uri="{FF2B5EF4-FFF2-40B4-BE49-F238E27FC236}">
                <a16:creationId xmlns:a16="http://schemas.microsoft.com/office/drawing/2014/main" id="{458D7613-6147-41B9-814D-B2BC3356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00525"/>
            <a:ext cx="371475" cy="371475"/>
          </a:xfrm>
          <a:prstGeom xmlns:a="http://schemas.openxmlformats.org/drawingml/2006/main" prst="roundRect">
            <a:avLst>
              <a:gd name="adj" fmla="val 25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36" name="그래픽 135">
            <a:extLst xmlns:a="http://schemas.openxmlformats.org/drawingml/2006/main">
              <a:ext uri="{FF2B5EF4-FFF2-40B4-BE49-F238E27FC236}">
                <a16:creationId xmlns:a16="http://schemas.microsoft.com/office/drawing/2014/main" id="{DB280967-25CB-4415-BC37-3A643D1A5A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4a414a7a404052">
            <a:extLst>
              <a:ext uri="{96DAC541-7B7A-43D3-8B79-37D633B846F1}">
                <asvg:svgBlip xmlns:asvg="http://schemas.microsoft.com/office/drawing/2016/SVG/main" r:embed="Re702e163a4014f4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6300" y="426720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32" name="직사각형 31">
            <a:extLst xmlns:a="http://schemas.openxmlformats.org/drawingml/2006/main">
              <a:ext uri="{FF2B5EF4-FFF2-40B4-BE49-F238E27FC236}">
                <a16:creationId xmlns:a16="http://schemas.microsoft.com/office/drawing/2014/main" id="{E0C86282-1252-49B2-A94B-9AA4CEEF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124325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581"/>
            </a:defPPr>
          </a:lstStyle>
          <a:p xmlns:a="http://schemas.openxmlformats.org/drawingml/2006/main">
            <a:pPr algn="l">
              <a:buNone/>
              <a:defRPr sz="581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581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TOOL CALL</a:t>
            </a:r>
          </a:p>
        </p:txBody>
      </p:sp>
      <p:sp>
        <p:nvSpPr>
          <p:cNvPr id="33" name="직사각형 32">
            <a:extLst xmlns:a="http://schemas.openxmlformats.org/drawingml/2006/main">
              <a:ext uri="{FF2B5EF4-FFF2-40B4-BE49-F238E27FC236}">
                <a16:creationId xmlns:a16="http://schemas.microsoft.com/office/drawing/2014/main" id="{BBCC659D-BEB4-450F-AD97-121A353C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295775"/>
            <a:ext cx="2114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694"/>
            </a:defPPr>
          </a:lstStyle>
          <a:p xmlns:a="http://schemas.openxmlformats.org/drawingml/2006/main">
            <a:pPr algn="l">
              <a:buNone/>
              <a:defRPr sz="694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694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get_review_patterns_tool</a:t>
            </a:r>
          </a:p>
        </p:txBody>
      </p:sp>
      <p:sp>
        <p:nvSpPr>
          <p:cNvPr id="34" name="직사각형 33">
            <a:extLst xmlns:a="http://schemas.openxmlformats.org/drawingml/2006/main">
              <a:ext uri="{FF2B5EF4-FFF2-40B4-BE49-F238E27FC236}">
                <a16:creationId xmlns:a16="http://schemas.microsoft.com/office/drawing/2014/main" id="{B5F3AD1F-95E9-4FEA-BA00-123EE613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543425"/>
            <a:ext cx="2114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634"/>
            </a:defPPr>
          </a:lstStyle>
          <a:p xmlns:a="http://schemas.openxmlformats.org/drawingml/2006/main">
            <a:pPr algn="l">
              <a:buNone/>
              <a:defRPr sz="634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34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parent_asin · limit=20</a:t>
            </a:r>
          </a:p>
        </p:txBody>
      </p:sp>
      <p:sp>
        <p:nvSpPr>
          <p:cNvPr id="35" name="화살표: 아래쪽 34">
            <a:extLst xmlns:a="http://schemas.openxmlformats.org/drawingml/2006/main">
              <a:ext uri="{FF2B5EF4-FFF2-40B4-BE49-F238E27FC236}">
                <a16:creationId xmlns:a16="http://schemas.microsoft.com/office/drawing/2014/main" id="{26D667AD-CFA1-4D18-A593-A1715B32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810125"/>
            <a:ext cx="76200" cy="152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8B99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사각형: 둥근 모서리 35">
            <a:extLst xmlns:a="http://schemas.openxmlformats.org/drawingml/2006/main">
              <a:ext uri="{FF2B5EF4-FFF2-40B4-BE49-F238E27FC236}">
                <a16:creationId xmlns:a16="http://schemas.microsoft.com/office/drawing/2014/main" id="{48B0A629-9795-4CF4-9DA4-B6570354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81575"/>
            <a:ext cx="285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DF6FC"/>
          </a:solidFill>
          <a:ln xmlns:a="http://schemas.openxmlformats.org/drawingml/2006/main" w="11430">
            <a:solidFill>
              <a:srgbClr val="2E6F9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사각형: 둥근 모서리 36">
            <a:extLst xmlns:a="http://schemas.openxmlformats.org/drawingml/2006/main">
              <a:ext uri="{FF2B5EF4-FFF2-40B4-BE49-F238E27FC236}">
                <a16:creationId xmlns:a16="http://schemas.microsoft.com/office/drawing/2014/main" id="{5E719A87-FE8F-4E65-9343-F1EF0074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162550"/>
            <a:ext cx="371475" cy="371475"/>
          </a:xfrm>
          <a:prstGeom xmlns:a="http://schemas.openxmlformats.org/drawingml/2006/main" prst="roundRect">
            <a:avLst>
              <a:gd name="adj" fmla="val 25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43" name="그래픽 142">
            <a:extLst xmlns:a="http://schemas.openxmlformats.org/drawingml/2006/main">
              <a:ext uri="{FF2B5EF4-FFF2-40B4-BE49-F238E27FC236}">
                <a16:creationId xmlns:a16="http://schemas.microsoft.com/office/drawing/2014/main" id="{73636054-9DF3-4852-89EE-46DEEACAB9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eec03f9cee414c">
            <a:extLst>
              <a:ext uri="{96DAC541-7B7A-43D3-8B79-37D633B846F1}">
                <asvg:svgBlip xmlns:asvg="http://schemas.microsoft.com/office/drawing/2016/SVG/main" r:embed="R1493274fa2c8415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6300" y="5229225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39" name="직사각형 38">
            <a:extLst xmlns:a="http://schemas.openxmlformats.org/drawingml/2006/main">
              <a:ext uri="{FF2B5EF4-FFF2-40B4-BE49-F238E27FC236}">
                <a16:creationId xmlns:a16="http://schemas.microsoft.com/office/drawing/2014/main" id="{86E6D736-87E4-4A12-B20A-3F26E5DF4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5086350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581"/>
            </a:defPPr>
          </a:lstStyle>
          <a:p xmlns:a="http://schemas.openxmlformats.org/drawingml/2006/main">
            <a:pPr algn="l">
              <a:buNone/>
              <a:defRPr sz="581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581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TOOL INTERNAL</a:t>
            </a:r>
          </a:p>
        </p:txBody>
      </p:sp>
      <p:sp>
        <p:nvSpPr>
          <p:cNvPr id="40" name="직사각형 39">
            <a:extLst xmlns:a="http://schemas.openxmlformats.org/drawingml/2006/main">
              <a:ext uri="{FF2B5EF4-FFF2-40B4-BE49-F238E27FC236}">
                <a16:creationId xmlns:a16="http://schemas.microsoft.com/office/drawing/2014/main" id="{D7DD0919-3AAA-45FF-BE3C-97FFD60E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5257800"/>
            <a:ext cx="2114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892"/>
            </a:defPPr>
          </a:lstStyle>
          <a:p xmlns:a="http://schemas.openxmlformats.org/drawingml/2006/main">
            <a:pPr algn="l">
              <a:buNone/>
              <a:defRPr sz="892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892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Tested SQL Retrieval</a:t>
            </a:r>
          </a:p>
        </p:txBody>
      </p:sp>
      <p:sp>
        <p:nvSpPr>
          <p:cNvPr id="41" name="직사각형 40">
            <a:extLst xmlns:a="http://schemas.openxmlformats.org/drawingml/2006/main">
              <a:ext uri="{FF2B5EF4-FFF2-40B4-BE49-F238E27FC236}">
                <a16:creationId xmlns:a16="http://schemas.microsoft.com/office/drawing/2014/main" id="{28415A66-CF42-4459-BC3D-DEA92441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5505450"/>
            <a:ext cx="2114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634"/>
            </a:defPPr>
          </a:lstStyle>
          <a:p xmlns:a="http://schemas.openxmlformats.org/drawingml/2006/main">
            <a:pPr algn="l">
              <a:buNone/>
              <a:defRPr sz="634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34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rating ≤ 3 · helpful_vote ≥ 1</a:t>
            </a:r>
          </a:p>
        </p:txBody>
      </p:sp>
      <p:sp>
        <p:nvSpPr>
          <p:cNvPr id="42" name="사각형: 둥근 모서리 41">
            <a:extLst xmlns:a="http://schemas.openxmlformats.org/drawingml/2006/main">
              <a:ext uri="{FF2B5EF4-FFF2-40B4-BE49-F238E27FC236}">
                <a16:creationId xmlns:a16="http://schemas.microsoft.com/office/drawing/2014/main" id="{52F7FBC4-0558-4BC0-85A9-221B202E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5057775"/>
            <a:ext cx="685800" cy="180975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336791"/>
            </a:solidFill>
            <a:prstDash val="solid"/>
          </a:ln>
        </p:spPr>
        <p:txBody>
          <a:bodyPr xmlns:a="http://schemas.openxmlformats.org/drawingml/2006/main" wrap="none" lIns="28575" tIns="0" rIns="28575" bIns="0" anchor="ctr">
            <a:normAutofit fontScale="100000"/>
          </a:bodyPr>
          <a:lstStyle xmlns:a="http://schemas.openxmlformats.org/drawingml/2006/main">
            <a:defPPr>
              <a:defRPr sz="563"/>
            </a:defPPr>
          </a:lstStyle>
          <a:p xmlns:a="http://schemas.openxmlformats.org/drawingml/2006/main">
            <a:pPr algn="ctr">
              <a:buNone/>
              <a:defRPr sz="563" b="1">
                <a:solidFill>
                  <a:srgbClr val="336791"/>
                </a:solidFill>
                <a:latin typeface="Noto Sans KR"/>
                <a:ea typeface="Noto Sans KR"/>
                <a:cs typeface="Noto Sans KR"/>
              </a:defRPr>
            </a:pPr>
            <a:r>
              <a:rPr sz="563" b="1">
                <a:solidFill>
                  <a:srgbClr val="336791"/>
                </a:solidFill>
                <a:latin typeface="Noto Sans KR"/>
                <a:ea typeface="Noto Sans KR"/>
                <a:cs typeface="Noto Sans KR"/>
              </a:rPr>
              <a:t>PostgreSQL</a:t>
            </a:r>
          </a:p>
        </p:txBody>
      </p:sp>
      <p:sp>
        <p:nvSpPr>
          <p:cNvPr id="43" name="사각형: 둥근 모서리 42">
            <a:extLst xmlns:a="http://schemas.openxmlformats.org/drawingml/2006/main">
              <a:ext uri="{FF2B5EF4-FFF2-40B4-BE49-F238E27FC236}">
                <a16:creationId xmlns:a16="http://schemas.microsoft.com/office/drawing/2014/main" id="{C5B0E4BE-FDB1-4CC3-9F67-F7829663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0"/>
            <a:ext cx="285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11430">
            <a:solidFill>
              <a:srgbClr val="8B989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사각형: 둥근 모서리 43">
            <a:extLst xmlns:a="http://schemas.openxmlformats.org/drawingml/2006/main">
              <a:ext uri="{FF2B5EF4-FFF2-40B4-BE49-F238E27FC236}">
                <a16:creationId xmlns:a16="http://schemas.microsoft.com/office/drawing/2014/main" id="{BDC03F96-8311-4BCB-979D-EBB39C055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276475"/>
            <a:ext cx="371475" cy="371475"/>
          </a:xfrm>
          <a:prstGeom xmlns:a="http://schemas.openxmlformats.org/drawingml/2006/main" prst="roundRect">
            <a:avLst>
              <a:gd name="adj" fmla="val 25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50" name="그래픽 149">
            <a:extLst xmlns:a="http://schemas.openxmlformats.org/drawingml/2006/main">
              <a:ext uri="{FF2B5EF4-FFF2-40B4-BE49-F238E27FC236}">
                <a16:creationId xmlns:a16="http://schemas.microsoft.com/office/drawing/2014/main" id="{23C7322C-1CA4-4A11-A4B7-055EB0F0B2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a54896db574701">
            <a:extLst>
              <a:ext uri="{96DAC541-7B7A-43D3-8B79-37D633B846F1}">
                <asvg:svgBlip xmlns:asvg="http://schemas.microsoft.com/office/drawing/2016/SVG/main" r:embed="Ra8e23391379242c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838700" y="234315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46" name="직사각형 45">
            <a:extLst xmlns:a="http://schemas.openxmlformats.org/drawingml/2006/main">
              <a:ext uri="{FF2B5EF4-FFF2-40B4-BE49-F238E27FC236}">
                <a16:creationId xmlns:a16="http://schemas.microsoft.com/office/drawing/2014/main" id="{19D1B4A5-50A8-4BA1-93BE-26B81AB0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200275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581"/>
            </a:defPPr>
          </a:lstStyle>
          <a:p xmlns:a="http://schemas.openxmlformats.org/drawingml/2006/main">
            <a:pPr algn="l">
              <a:buNone/>
              <a:defRPr sz="581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581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TOOL INTERNAL INPUT</a:t>
            </a:r>
          </a:p>
        </p:txBody>
      </p:sp>
      <p:sp>
        <p:nvSpPr>
          <p:cNvPr id="47" name="직사각형 46">
            <a:extLst xmlns:a="http://schemas.openxmlformats.org/drawingml/2006/main">
              <a:ext uri="{FF2B5EF4-FFF2-40B4-BE49-F238E27FC236}">
                <a16:creationId xmlns:a16="http://schemas.microsoft.com/office/drawing/2014/main" id="{6208148F-F741-41D6-845A-9E59E77F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329390"/>
            <a:ext cx="2114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892"/>
            </a:defPPr>
          </a:lstStyle>
          <a:p xmlns:a="http://schemas.openxmlformats.org/drawingml/2006/main">
            <a:pPr algn="l">
              <a:buNone/>
              <a:defRPr sz="892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892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Review Sample</a:t>
            </a:r>
            <a:endParaRPr sz="1013" b="1">
              <a:solidFill>
                <a:srgbClr val="17231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8" name="직사각형 47">
            <a:extLst xmlns:a="http://schemas.openxmlformats.org/drawingml/2006/main">
              <a:ext uri="{FF2B5EF4-FFF2-40B4-BE49-F238E27FC236}">
                <a16:creationId xmlns:a16="http://schemas.microsoft.com/office/drawing/2014/main" id="{29582A28-BA14-4A11-AD53-31779837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585507"/>
            <a:ext cx="2114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634"/>
            </a:defPPr>
          </a:lstStyle>
          <a:p xmlns:a="http://schemas.openxmlformats.org/drawingml/2006/main">
            <a:pPr algn="l">
              <a:buNone/>
              <a:defRPr sz="634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34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Review text, rating, helpful_vote</a:t>
            </a:r>
          </a:p>
          <a:p xmlns:a="http://schemas.openxmlformats.org/drawingml/2006/main">
            <a:pPr algn="l">
              <a:buNone/>
              <a:defRPr sz="634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34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Fixed taxonomy and JSON Schema</a:t>
            </a:r>
          </a:p>
        </p:txBody>
      </p:sp>
      <p:sp>
        <p:nvSpPr>
          <p:cNvPr id="49" name="화살표: 아래쪽 48">
            <a:extLst xmlns:a="http://schemas.openxmlformats.org/drawingml/2006/main">
              <a:ext uri="{FF2B5EF4-FFF2-40B4-BE49-F238E27FC236}">
                <a16:creationId xmlns:a16="http://schemas.microsoft.com/office/drawing/2014/main" id="{4112E89E-5D79-43C5-B737-5CA14F48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86075"/>
            <a:ext cx="76200" cy="152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8B99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사각형: 둥근 모서리 49">
            <a:extLst xmlns:a="http://schemas.openxmlformats.org/drawingml/2006/main">
              <a:ext uri="{FF2B5EF4-FFF2-40B4-BE49-F238E27FC236}">
                <a16:creationId xmlns:a16="http://schemas.microsoft.com/office/drawing/2014/main" id="{9EE6F1FA-CD8E-48C1-B3CD-96200892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57525"/>
            <a:ext cx="285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1ECFB"/>
          </a:solidFill>
          <a:ln xmlns:a="http://schemas.openxmlformats.org/drawingml/2006/main" w="23813">
            <a:solidFill>
              <a:srgbClr val="6B4B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사각형: 둥근 모서리 50">
            <a:extLst xmlns:a="http://schemas.openxmlformats.org/drawingml/2006/main">
              <a:ext uri="{FF2B5EF4-FFF2-40B4-BE49-F238E27FC236}">
                <a16:creationId xmlns:a16="http://schemas.microsoft.com/office/drawing/2014/main" id="{C58012D7-91CD-4ACC-99ED-E7CA5EE1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238500"/>
            <a:ext cx="371475" cy="371475"/>
          </a:xfrm>
          <a:prstGeom xmlns:a="http://schemas.openxmlformats.org/drawingml/2006/main" prst="roundRect">
            <a:avLst>
              <a:gd name="adj" fmla="val 25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57" name="그래픽 156">
            <a:extLst xmlns:a="http://schemas.openxmlformats.org/drawingml/2006/main">
              <a:ext uri="{FF2B5EF4-FFF2-40B4-BE49-F238E27FC236}">
                <a16:creationId xmlns:a16="http://schemas.microsoft.com/office/drawing/2014/main" id="{7EE94FF5-9773-4AFC-BC7B-200A2E3E42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7fd02053a14305">
            <a:extLst>
              <a:ext uri="{96DAC541-7B7A-43D3-8B79-37D633B846F1}">
                <asvg:svgBlip xmlns:asvg="http://schemas.microsoft.com/office/drawing/2016/SVG/main" r:embed="R06e37e5f6f6945b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838700" y="3305175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53" name="직사각형 52">
            <a:extLst xmlns:a="http://schemas.openxmlformats.org/drawingml/2006/main">
              <a:ext uri="{FF2B5EF4-FFF2-40B4-BE49-F238E27FC236}">
                <a16:creationId xmlns:a16="http://schemas.microsoft.com/office/drawing/2014/main" id="{7F11B51E-4624-4CF5-B758-8F4FE2FF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162300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581"/>
            </a:defPPr>
          </a:lstStyle>
          <a:p xmlns:a="http://schemas.openxmlformats.org/drawingml/2006/main">
            <a:pPr algn="l">
              <a:buNone/>
              <a:defRPr sz="581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581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MODEL</a:t>
            </a:r>
          </a:p>
        </p:txBody>
      </p:sp>
      <p:sp>
        <p:nvSpPr>
          <p:cNvPr id="54" name="직사각형 53">
            <a:extLst xmlns:a="http://schemas.openxmlformats.org/drawingml/2006/main">
              <a:ext uri="{FF2B5EF4-FFF2-40B4-BE49-F238E27FC236}">
                <a16:creationId xmlns:a16="http://schemas.microsoft.com/office/drawing/2014/main" id="{A65AAFD9-9C5B-448A-A349-57986BC3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333750"/>
            <a:ext cx="2114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892"/>
            </a:defPPr>
          </a:lstStyle>
          <a:p xmlns:a="http://schemas.openxmlformats.org/drawingml/2006/main">
            <a:pPr algn="l">
              <a:buNone/>
              <a:defRPr sz="892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892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Aspect Extractor LLM</a:t>
            </a:r>
          </a:p>
        </p:txBody>
      </p:sp>
      <p:sp>
        <p:nvSpPr>
          <p:cNvPr id="55" name="직사각형 54">
            <a:extLst xmlns:a="http://schemas.openxmlformats.org/drawingml/2006/main">
              <a:ext uri="{FF2B5EF4-FFF2-40B4-BE49-F238E27FC236}">
                <a16:creationId xmlns:a16="http://schemas.microsoft.com/office/drawing/2014/main" id="{B4161FCF-347E-45D4-8EC9-F20FFE65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581400"/>
            <a:ext cx="2114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634"/>
            </a:defPPr>
          </a:lstStyle>
          <a:p xmlns:a="http://schemas.openxmlformats.org/drawingml/2006/main">
            <a:pPr algn="l">
              <a:buNone/>
              <a:defRPr sz="634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34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Identify topics, sentiment, and evidence</a:t>
            </a:r>
          </a:p>
        </p:txBody>
      </p:sp>
      <p:sp>
        <p:nvSpPr>
          <p:cNvPr id="56" name="사각형: 둥근 모서리 55">
            <a:extLst xmlns:a="http://schemas.openxmlformats.org/drawingml/2006/main">
              <a:ext uri="{FF2B5EF4-FFF2-40B4-BE49-F238E27FC236}">
                <a16:creationId xmlns:a16="http://schemas.microsoft.com/office/drawing/2014/main" id="{915235CE-57E2-413E-AB73-34C4D9F5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33725"/>
            <a:ext cx="638175" cy="180975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111111"/>
            </a:solidFill>
            <a:prstDash val="solid"/>
          </a:ln>
        </p:spPr>
        <p:txBody>
          <a:bodyPr xmlns:a="http://schemas.openxmlformats.org/drawingml/2006/main" wrap="none" lIns="28575" tIns="0" rIns="28575" bIns="0" anchor="ctr">
            <a:normAutofit fontScale="100000"/>
          </a:bodyPr>
          <a:lstStyle xmlns:a="http://schemas.openxmlformats.org/drawingml/2006/main">
            <a:defPPr>
              <a:defRPr sz="563"/>
            </a:defPPr>
          </a:lstStyle>
          <a:p xmlns:a="http://schemas.openxmlformats.org/drawingml/2006/main">
            <a:pPr algn="ctr">
              <a:buNone/>
              <a:defRPr sz="563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563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OpenAI / vLLM</a:t>
            </a:r>
          </a:p>
        </p:txBody>
      </p:sp>
      <p:sp>
        <p:nvSpPr>
          <p:cNvPr id="57" name="화살표: 아래쪽 56">
            <a:extLst xmlns:a="http://schemas.openxmlformats.org/drawingml/2006/main">
              <a:ext uri="{FF2B5EF4-FFF2-40B4-BE49-F238E27FC236}">
                <a16:creationId xmlns:a16="http://schemas.microsoft.com/office/drawing/2014/main" id="{A11737A8-2536-42D9-AC39-3581FF3F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848100"/>
            <a:ext cx="76200" cy="152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8B99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8" name="사각형: 둥근 모서리 57">
            <a:extLst xmlns:a="http://schemas.openxmlformats.org/drawingml/2006/main">
              <a:ext uri="{FF2B5EF4-FFF2-40B4-BE49-F238E27FC236}">
                <a16:creationId xmlns:a16="http://schemas.microsoft.com/office/drawing/2014/main" id="{D6AAFF9A-94CF-4CDE-B3E6-C6A6D5CA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19550"/>
            <a:ext cx="285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DF7F2"/>
          </a:solidFill>
          <a:ln xmlns:a="http://schemas.openxmlformats.org/drawingml/2006/main" w="11430">
            <a:solidFill>
              <a:srgbClr val="2F76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9" name="사각형: 둥근 모서리 58">
            <a:extLst xmlns:a="http://schemas.openxmlformats.org/drawingml/2006/main">
              <a:ext uri="{FF2B5EF4-FFF2-40B4-BE49-F238E27FC236}">
                <a16:creationId xmlns:a16="http://schemas.microsoft.com/office/drawing/2014/main" id="{421EF86D-9A05-4153-8684-4AEA9F10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200525"/>
            <a:ext cx="371475" cy="371475"/>
          </a:xfrm>
          <a:prstGeom xmlns:a="http://schemas.openxmlformats.org/drawingml/2006/main" prst="roundRect">
            <a:avLst>
              <a:gd name="adj" fmla="val 25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65" name="그래픽 164">
            <a:extLst xmlns:a="http://schemas.openxmlformats.org/drawingml/2006/main">
              <a:ext uri="{FF2B5EF4-FFF2-40B4-BE49-F238E27FC236}">
                <a16:creationId xmlns:a16="http://schemas.microsoft.com/office/drawing/2014/main" id="{52E1A069-633A-412E-A07A-74D4F8389F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83e61cf12e4231">
            <a:extLst>
              <a:ext uri="{96DAC541-7B7A-43D3-8B79-37D633B846F1}">
                <asvg:svgBlip xmlns:asvg="http://schemas.microsoft.com/office/drawing/2016/SVG/main" r:embed="R09eec069b700416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838700" y="426720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61" name="직사각형 60">
            <a:extLst xmlns:a="http://schemas.openxmlformats.org/drawingml/2006/main">
              <a:ext uri="{FF2B5EF4-FFF2-40B4-BE49-F238E27FC236}">
                <a16:creationId xmlns:a16="http://schemas.microsoft.com/office/drawing/2014/main" id="{5779B57C-D490-4488-974C-B3CE4AA4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124325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581"/>
            </a:defPPr>
          </a:lstStyle>
          <a:p xmlns:a="http://schemas.openxmlformats.org/drawingml/2006/main">
            <a:pPr algn="l">
              <a:buNone/>
              <a:defRPr sz="581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581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MODEL OUTPUT</a:t>
            </a:r>
          </a:p>
        </p:txBody>
      </p:sp>
      <p:sp>
        <p:nvSpPr>
          <p:cNvPr id="62" name="직사각형 61">
            <a:extLst xmlns:a="http://schemas.openxmlformats.org/drawingml/2006/main">
              <a:ext uri="{FF2B5EF4-FFF2-40B4-BE49-F238E27FC236}">
                <a16:creationId xmlns:a16="http://schemas.microsoft.com/office/drawing/2014/main" id="{E75C4798-B3EE-4890-A286-013AE75C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295775"/>
            <a:ext cx="2114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892"/>
            </a:defPPr>
          </a:lstStyle>
          <a:p xmlns:a="http://schemas.openxmlformats.org/drawingml/2006/main">
            <a:pPr algn="l">
              <a:buNone/>
              <a:defRPr sz="892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892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Aspect JSON</a:t>
            </a:r>
          </a:p>
        </p:txBody>
      </p:sp>
      <p:sp>
        <p:nvSpPr>
          <p:cNvPr id="63" name="직사각형 62">
            <a:extLst xmlns:a="http://schemas.openxmlformats.org/drawingml/2006/main">
              <a:ext uri="{FF2B5EF4-FFF2-40B4-BE49-F238E27FC236}">
                <a16:creationId xmlns:a16="http://schemas.microsoft.com/office/drawing/2014/main" id="{82524A26-7A0D-471E-AF79-9695B7A6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543425"/>
            <a:ext cx="2114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634"/>
            </a:defPPr>
          </a:lstStyle>
          <a:p xmlns:a="http://schemas.openxmlformats.org/drawingml/2006/main">
            <a:pPr algn="l">
              <a:buNone/>
              <a:defRPr sz="634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34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topic · sentiment · direct experience</a:t>
            </a:r>
          </a:p>
          <a:p xmlns:a="http://schemas.openxmlformats.org/drawingml/2006/main">
            <a:pPr algn="l">
              <a:buNone/>
              <a:defRPr sz="634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34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evidence · confidence</a:t>
            </a:r>
          </a:p>
        </p:txBody>
      </p:sp>
      <p:sp>
        <p:nvSpPr>
          <p:cNvPr id="64" name="화살표: 아래쪽 63">
            <a:extLst xmlns:a="http://schemas.openxmlformats.org/drawingml/2006/main">
              <a:ext uri="{FF2B5EF4-FFF2-40B4-BE49-F238E27FC236}">
                <a16:creationId xmlns:a16="http://schemas.microsoft.com/office/drawing/2014/main" id="{2E82AA74-0344-4CF8-8318-CF99914A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810125"/>
            <a:ext cx="76200" cy="152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8B99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5" name="사각형: 둥근 모서리 64">
            <a:extLst xmlns:a="http://schemas.openxmlformats.org/drawingml/2006/main">
              <a:ext uri="{FF2B5EF4-FFF2-40B4-BE49-F238E27FC236}">
                <a16:creationId xmlns:a16="http://schemas.microsoft.com/office/drawing/2014/main" id="{247208B7-DBDA-4B4A-8EA3-63CAEA29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81575"/>
            <a:ext cx="285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DF7F2"/>
          </a:solidFill>
          <a:ln xmlns:a="http://schemas.openxmlformats.org/drawingml/2006/main" w="11430">
            <a:solidFill>
              <a:srgbClr val="2F76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6" name="사각형: 둥근 모서리 65">
            <a:extLst xmlns:a="http://schemas.openxmlformats.org/drawingml/2006/main">
              <a:ext uri="{FF2B5EF4-FFF2-40B4-BE49-F238E27FC236}">
                <a16:creationId xmlns:a16="http://schemas.microsoft.com/office/drawing/2014/main" id="{F5E3A007-FC58-47BB-B0B1-5B9937C8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162550"/>
            <a:ext cx="371475" cy="371475"/>
          </a:xfrm>
          <a:prstGeom xmlns:a="http://schemas.openxmlformats.org/drawingml/2006/main" prst="roundRect">
            <a:avLst>
              <a:gd name="adj" fmla="val 25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72" name="그래픽 171">
            <a:extLst xmlns:a="http://schemas.openxmlformats.org/drawingml/2006/main">
              <a:ext uri="{FF2B5EF4-FFF2-40B4-BE49-F238E27FC236}">
                <a16:creationId xmlns:a16="http://schemas.microsoft.com/office/drawing/2014/main" id="{F8D4020B-BEB4-4805-88DB-15A2CEE0AA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2c0d2ae8fe4070">
            <a:extLst>
              <a:ext uri="{96DAC541-7B7A-43D3-8B79-37D633B846F1}">
                <asvg:svgBlip xmlns:asvg="http://schemas.microsoft.com/office/drawing/2016/SVG/main" r:embed="Rd20f092e04934c2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838700" y="5229225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8E2D2334-2A84-4927-AC8C-BA373E01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086350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581"/>
            </a:defPPr>
          </a:lstStyle>
          <a:p xmlns:a="http://schemas.openxmlformats.org/drawingml/2006/main">
            <a:pPr algn="l">
              <a:buNone/>
              <a:defRPr sz="581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581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TOOL RESULT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49F34080-57AC-47E8-B866-8CBE788E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257800"/>
            <a:ext cx="2114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694"/>
            </a:defPPr>
          </a:lstStyle>
          <a:p xmlns:a="http://schemas.openxmlformats.org/drawingml/2006/main">
            <a:pPr algn="l">
              <a:buNone/>
              <a:defRPr sz="694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694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Review</a:t>
            </a:r>
            <a:r>
              <a:rPr sz="694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694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Pattern</a:t>
            </a:r>
            <a:r>
              <a:rPr sz="694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694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Result</a:t>
            </a:r>
            <a:endParaRPr sz="788" b="1">
              <a:solidFill>
                <a:srgbClr val="17231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3A9E1AC4-05EF-4C49-A497-107F5FFF2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505450"/>
            <a:ext cx="2114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634"/>
            </a:defPPr>
          </a:lstStyle>
          <a:p xmlns:a="http://schemas.openxmlformats.org/drawingml/2006/main">
            <a:pPr algn="l">
              <a:buNone/>
              <a:defRPr sz="634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34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Source validation, Redis cache,</a:t>
            </a:r>
          </a:p>
          <a:p xmlns:a="http://schemas.openxmlformats.org/drawingml/2006/main">
            <a:pPr algn="l">
              <a:buNone/>
              <a:defRPr sz="634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34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frequency, sample ratio, and evidence</a:t>
            </a:r>
          </a:p>
        </p:txBody>
      </p:sp>
      <p:sp>
        <p:nvSpPr>
          <p:cNvPr id="71" name="사각형: 둥근 모서리 70">
            <a:extLst xmlns:a="http://schemas.openxmlformats.org/drawingml/2006/main">
              <a:ext uri="{FF2B5EF4-FFF2-40B4-BE49-F238E27FC236}">
                <a16:creationId xmlns:a16="http://schemas.microsoft.com/office/drawing/2014/main" id="{DA110CD4-6DEE-4C73-978C-C3282F29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057775"/>
            <a:ext cx="609600" cy="180975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286DA8"/>
            </a:solidFill>
            <a:prstDash val="solid"/>
          </a:ln>
        </p:spPr>
        <p:txBody>
          <a:bodyPr xmlns:a="http://schemas.openxmlformats.org/drawingml/2006/main" wrap="none" lIns="28575" tIns="0" rIns="28575" bIns="0" anchor="ctr">
            <a:normAutofit fontScale="95522"/>
          </a:bodyPr>
          <a:lstStyle xmlns:a="http://schemas.openxmlformats.org/drawingml/2006/main">
            <a:defPPr>
              <a:defRPr sz="563"/>
            </a:defPPr>
          </a:lstStyle>
          <a:p xmlns:a="http://schemas.openxmlformats.org/drawingml/2006/main">
            <a:pPr algn="ctr">
              <a:buNone/>
              <a:defRPr sz="563" b="1">
                <a:solidFill>
                  <a:srgbClr val="286DA8"/>
                </a:solidFill>
                <a:latin typeface="Noto Sans KR"/>
                <a:ea typeface="Noto Sans KR"/>
                <a:cs typeface="Noto Sans KR"/>
              </a:defRPr>
            </a:pPr>
            <a:r>
              <a:rPr sz="563" b="1">
                <a:solidFill>
                  <a:srgbClr val="286DA8"/>
                </a:solidFill>
                <a:latin typeface="Noto Sans KR"/>
                <a:ea typeface="Noto Sans KR"/>
                <a:cs typeface="Noto Sans KR"/>
              </a:rPr>
              <a:t>Python · Redis</a:t>
            </a:r>
          </a:p>
        </p:txBody>
      </p:sp>
      <p:sp>
        <p:nvSpPr>
          <p:cNvPr id="72" name="사각형: 둥근 모서리 71">
            <a:extLst xmlns:a="http://schemas.openxmlformats.org/drawingml/2006/main">
              <a:ext uri="{FF2B5EF4-FFF2-40B4-BE49-F238E27FC236}">
                <a16:creationId xmlns:a16="http://schemas.microsoft.com/office/drawing/2014/main" id="{D6B3608A-A2AB-4EF0-818A-8EFAA5B7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95500"/>
            <a:ext cx="285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11430">
            <a:solidFill>
              <a:srgbClr val="8B989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3" name="사각형: 둥근 모서리 72">
            <a:extLst xmlns:a="http://schemas.openxmlformats.org/drawingml/2006/main">
              <a:ext uri="{FF2B5EF4-FFF2-40B4-BE49-F238E27FC236}">
                <a16:creationId xmlns:a16="http://schemas.microsoft.com/office/drawing/2014/main" id="{31AE16C6-AC6A-4A74-A3E9-EAA098C2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276475"/>
            <a:ext cx="371475" cy="371475"/>
          </a:xfrm>
          <a:prstGeom xmlns:a="http://schemas.openxmlformats.org/drawingml/2006/main" prst="roundRect">
            <a:avLst>
              <a:gd name="adj" fmla="val 25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79" name="그래픽 178">
            <a:extLst xmlns:a="http://schemas.openxmlformats.org/drawingml/2006/main">
              <a:ext uri="{FF2B5EF4-FFF2-40B4-BE49-F238E27FC236}">
                <a16:creationId xmlns:a16="http://schemas.microsoft.com/office/drawing/2014/main" id="{72751393-EEE1-4EC8-B72E-6E70F8FEAA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a54896db574701">
            <a:extLst>
              <a:ext uri="{96DAC541-7B7A-43D3-8B79-37D633B846F1}">
                <asvg:svgBlip xmlns:asvg="http://schemas.microsoft.com/office/drawing/2016/SVG/main" r:embed="Ra8e23391379242c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801100" y="234315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38B76B7F-2E63-49BC-86B8-64DD7534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200275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581"/>
            </a:defPPr>
          </a:lstStyle>
          <a:p xmlns:a="http://schemas.openxmlformats.org/drawingml/2006/main">
            <a:pPr algn="l">
              <a:buNone/>
              <a:defRPr sz="581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581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INPUT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6FE00CC5-7DD1-405E-899B-08A7A76A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329390"/>
            <a:ext cx="2114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892"/>
            </a:defPPr>
          </a:lstStyle>
          <a:p xmlns:a="http://schemas.openxmlformats.org/drawingml/2006/main">
            <a:pPr algn="l">
              <a:buNone/>
              <a:defRPr sz="892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892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Question + Validated Patterns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205106D0-E1DD-45F0-9090-1A5DC2F6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585507"/>
            <a:ext cx="2114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634"/>
            </a:defPPr>
          </a:lstStyle>
          <a:p xmlns:a="http://schemas.openxmlformats.org/drawingml/2006/main">
            <a:pPr algn="l">
              <a:buNone/>
              <a:defRPr sz="634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34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Selection criteria, topic counts, sample ratios</a:t>
            </a:r>
            <a:endParaRPr sz="720" b="0">
              <a:solidFill>
                <a:srgbClr val="64716B"/>
              </a:solidFill>
              <a:latin typeface="Noto Sans KR"/>
              <a:ea typeface="Noto Sans KR"/>
              <a:cs typeface="Noto Sans KR"/>
            </a:endParaRPr>
          </a:p>
          <a:p xmlns:a="http://schemas.openxmlformats.org/drawingml/2006/main">
            <a:pPr algn="l">
              <a:buNone/>
              <a:defRPr sz="634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34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Representative source reviews</a:t>
            </a:r>
          </a:p>
        </p:txBody>
      </p:sp>
      <p:sp>
        <p:nvSpPr>
          <p:cNvPr id="78" name="화살표: 아래쪽 77">
            <a:extLst xmlns:a="http://schemas.openxmlformats.org/drawingml/2006/main">
              <a:ext uri="{FF2B5EF4-FFF2-40B4-BE49-F238E27FC236}">
                <a16:creationId xmlns:a16="http://schemas.microsoft.com/office/drawing/2014/main" id="{D728245D-3D30-4EA5-A2B8-5D0FC40C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886075"/>
            <a:ext cx="76200" cy="152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8B99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9" name="사각형: 둥근 모서리 78">
            <a:extLst xmlns:a="http://schemas.openxmlformats.org/drawingml/2006/main">
              <a:ext uri="{FF2B5EF4-FFF2-40B4-BE49-F238E27FC236}">
                <a16:creationId xmlns:a16="http://schemas.microsoft.com/office/drawing/2014/main" id="{BDEEA7A3-16C3-4B7C-8222-4AB177E6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57525"/>
            <a:ext cx="285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1ECFB"/>
          </a:solidFill>
          <a:ln xmlns:a="http://schemas.openxmlformats.org/drawingml/2006/main" w="23813">
            <a:solidFill>
              <a:srgbClr val="6B4B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0" name="사각형: 둥근 모서리 79">
            <a:extLst xmlns:a="http://schemas.openxmlformats.org/drawingml/2006/main">
              <a:ext uri="{FF2B5EF4-FFF2-40B4-BE49-F238E27FC236}">
                <a16:creationId xmlns:a16="http://schemas.microsoft.com/office/drawing/2014/main" id="{94C126F6-D833-405E-A7E2-E8DC9D9A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238500"/>
            <a:ext cx="371475" cy="371475"/>
          </a:xfrm>
          <a:prstGeom xmlns:a="http://schemas.openxmlformats.org/drawingml/2006/main" prst="roundRect">
            <a:avLst>
              <a:gd name="adj" fmla="val 25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6" name="그래픽 185">
            <a:extLst xmlns:a="http://schemas.openxmlformats.org/drawingml/2006/main">
              <a:ext uri="{FF2B5EF4-FFF2-40B4-BE49-F238E27FC236}">
                <a16:creationId xmlns:a16="http://schemas.microsoft.com/office/drawing/2014/main" id="{982B1C03-2BAB-440D-8A4B-DA7543122A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7fd02053a14305">
            <a:extLst>
              <a:ext uri="{96DAC541-7B7A-43D3-8B79-37D633B846F1}">
                <asvg:svgBlip xmlns:asvg="http://schemas.microsoft.com/office/drawing/2016/SVG/main" r:embed="R06e37e5f6f6945b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801100" y="3305175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82" name="직사각형 81">
            <a:extLst xmlns:a="http://schemas.openxmlformats.org/drawingml/2006/main">
              <a:ext uri="{FF2B5EF4-FFF2-40B4-BE49-F238E27FC236}">
                <a16:creationId xmlns:a16="http://schemas.microsoft.com/office/drawing/2014/main" id="{BC06DB59-668F-420E-9C0C-12E084A2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162300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581"/>
            </a:defPPr>
          </a:lstStyle>
          <a:p xmlns:a="http://schemas.openxmlformats.org/drawingml/2006/main">
            <a:pPr algn="l">
              <a:buNone/>
              <a:defRPr sz="581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581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MODEL</a:t>
            </a:r>
          </a:p>
        </p:txBody>
      </p:sp>
      <p:sp>
        <p:nvSpPr>
          <p:cNvPr id="83" name="직사각형 82">
            <a:extLst xmlns:a="http://schemas.openxmlformats.org/drawingml/2006/main">
              <a:ext uri="{FF2B5EF4-FFF2-40B4-BE49-F238E27FC236}">
                <a16:creationId xmlns:a16="http://schemas.microsoft.com/office/drawing/2014/main" id="{6F2B33D4-F4D3-4171-A1A6-311F4417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333750"/>
            <a:ext cx="2114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892"/>
            </a:defPPr>
          </a:lstStyle>
          <a:p xmlns:a="http://schemas.openxmlformats.org/drawingml/2006/main">
            <a:pPr algn="l">
              <a:buNone/>
              <a:defRPr sz="892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892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Agent LLM</a:t>
            </a:r>
          </a:p>
        </p:txBody>
      </p: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5B4C369E-D2F3-4565-833C-882DFA63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581400"/>
            <a:ext cx="2114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634"/>
            </a:defPPr>
          </a:lstStyle>
          <a:p xmlns:a="http://schemas.openxmlformats.org/drawingml/2006/main">
            <a:pPr algn="l">
              <a:buNone/>
              <a:defRPr sz="634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34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Interpret validated results for action</a:t>
            </a:r>
          </a:p>
        </p:txBody>
      </p:sp>
      <p:sp>
        <p:nvSpPr>
          <p:cNvPr id="85" name="사각형: 둥근 모서리 84">
            <a:extLst xmlns:a="http://schemas.openxmlformats.org/drawingml/2006/main">
              <a:ext uri="{FF2B5EF4-FFF2-40B4-BE49-F238E27FC236}">
                <a16:creationId xmlns:a16="http://schemas.microsoft.com/office/drawing/2014/main" id="{D11C7588-A1B3-414B-A62E-1E58B991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133725"/>
            <a:ext cx="638175" cy="180975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111111"/>
            </a:solidFill>
            <a:prstDash val="solid"/>
          </a:ln>
        </p:spPr>
        <p:txBody>
          <a:bodyPr xmlns:a="http://schemas.openxmlformats.org/drawingml/2006/main" wrap="none" lIns="28575" tIns="0" rIns="28575" bIns="0" anchor="ctr">
            <a:normAutofit fontScale="100000"/>
          </a:bodyPr>
          <a:lstStyle xmlns:a="http://schemas.openxmlformats.org/drawingml/2006/main">
            <a:defPPr>
              <a:defRPr sz="563"/>
            </a:defPPr>
          </a:lstStyle>
          <a:p xmlns:a="http://schemas.openxmlformats.org/drawingml/2006/main">
            <a:pPr algn="ctr">
              <a:buNone/>
              <a:defRPr sz="563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563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OpenAI / vLLM</a:t>
            </a:r>
          </a:p>
        </p:txBody>
      </p:sp>
      <p:sp>
        <p:nvSpPr>
          <p:cNvPr id="86" name="화살표: 아래쪽 85">
            <a:extLst xmlns:a="http://schemas.openxmlformats.org/drawingml/2006/main">
              <a:ext uri="{FF2B5EF4-FFF2-40B4-BE49-F238E27FC236}">
                <a16:creationId xmlns:a16="http://schemas.microsoft.com/office/drawing/2014/main" id="{1C8AD596-3CC4-4B95-BC3A-7CB01494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848100"/>
            <a:ext cx="76200" cy="152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8B99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7" name="사각형: 둥근 모서리 86">
            <a:extLst xmlns:a="http://schemas.openxmlformats.org/drawingml/2006/main">
              <a:ext uri="{FF2B5EF4-FFF2-40B4-BE49-F238E27FC236}">
                <a16:creationId xmlns:a16="http://schemas.microsoft.com/office/drawing/2014/main" id="{BA21F6D6-0565-4DD3-9425-EF46220F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19550"/>
            <a:ext cx="285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DF7F2"/>
          </a:solidFill>
          <a:ln xmlns:a="http://schemas.openxmlformats.org/drawingml/2006/main" w="11430">
            <a:solidFill>
              <a:srgbClr val="2F76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8" name="사각형: 둥근 모서리 87">
            <a:extLst xmlns:a="http://schemas.openxmlformats.org/drawingml/2006/main">
              <a:ext uri="{FF2B5EF4-FFF2-40B4-BE49-F238E27FC236}">
                <a16:creationId xmlns:a16="http://schemas.microsoft.com/office/drawing/2014/main" id="{79B6C142-50F8-42C4-83A2-30709872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200525"/>
            <a:ext cx="371475" cy="371475"/>
          </a:xfrm>
          <a:prstGeom xmlns:a="http://schemas.openxmlformats.org/drawingml/2006/main" prst="roundRect">
            <a:avLst>
              <a:gd name="adj" fmla="val 25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94" name="그래픽 193">
            <a:extLst xmlns:a="http://schemas.openxmlformats.org/drawingml/2006/main">
              <a:ext uri="{FF2B5EF4-FFF2-40B4-BE49-F238E27FC236}">
                <a16:creationId xmlns:a16="http://schemas.microsoft.com/office/drawing/2014/main" id="{C2193A21-381B-40F6-9542-0C2A8D7F83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5041e456314250">
            <a:extLst>
              <a:ext uri="{96DAC541-7B7A-43D3-8B79-37D633B846F1}">
                <asvg:svgBlip xmlns:asvg="http://schemas.microsoft.com/office/drawing/2016/SVG/main" r:embed="Rabeda1a9482e423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801100" y="426720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90" name="직사각형 89">
            <a:extLst xmlns:a="http://schemas.openxmlformats.org/drawingml/2006/main">
              <a:ext uri="{FF2B5EF4-FFF2-40B4-BE49-F238E27FC236}">
                <a16:creationId xmlns:a16="http://schemas.microsoft.com/office/drawing/2014/main" id="{BCC30905-11F7-4A7E-A121-5092633C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124325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581"/>
            </a:defPPr>
          </a:lstStyle>
          <a:p xmlns:a="http://schemas.openxmlformats.org/drawingml/2006/main">
            <a:pPr algn="l">
              <a:buNone/>
              <a:defRPr sz="581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581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FINAL OUTPUT</a:t>
            </a:r>
          </a:p>
        </p:txBody>
      </p:sp>
      <p:sp>
        <p:nvSpPr>
          <p:cNvPr id="91" name="직사각형 90">
            <a:extLst xmlns:a="http://schemas.openxmlformats.org/drawingml/2006/main">
              <a:ext uri="{FF2B5EF4-FFF2-40B4-BE49-F238E27FC236}">
                <a16:creationId xmlns:a16="http://schemas.microsoft.com/office/drawing/2014/main" id="{16A04E96-E47B-4725-973C-2E10C898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295775"/>
            <a:ext cx="2114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892"/>
            </a:defPPr>
          </a:lstStyle>
          <a:p xmlns:a="http://schemas.openxmlformats.org/drawingml/2006/main">
            <a:pPr algn="l">
              <a:buNone/>
              <a:defRPr sz="892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892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Actionable response</a:t>
            </a:r>
          </a:p>
        </p:txBody>
      </p:sp>
      <p:sp>
        <p:nvSpPr>
          <p:cNvPr id="92" name="직사각형 91">
            <a:extLst xmlns:a="http://schemas.openxmlformats.org/drawingml/2006/main">
              <a:ext uri="{FF2B5EF4-FFF2-40B4-BE49-F238E27FC236}">
                <a16:creationId xmlns:a16="http://schemas.microsoft.com/office/drawing/2014/main" id="{B11CA259-105B-4566-8D77-CABF6268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543425"/>
            <a:ext cx="2114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634"/>
            </a:defPPr>
          </a:lstStyle>
          <a:p xmlns:a="http://schemas.openxmlformats.org/drawingml/2006/main">
            <a:pPr algn="l">
              <a:buNone/>
              <a:defRPr sz="634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34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Recurring complaints, metrics, and evidence</a:t>
            </a:r>
          </a:p>
          <a:p xmlns:a="http://schemas.openxmlformats.org/drawingml/2006/main">
            <a:pPr algn="l">
              <a:buNone/>
              <a:defRPr sz="634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34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Product improvement priorities</a:t>
            </a:r>
          </a:p>
        </p:txBody>
      </p:sp>
      <p:sp>
        <p:nvSpPr>
          <p:cNvPr id="93" name="직사각형 92">
            <a:extLst xmlns:a="http://schemas.openxmlformats.org/drawingml/2006/main">
              <a:ext uri="{FF2B5EF4-FFF2-40B4-BE49-F238E27FC236}">
                <a16:creationId xmlns:a16="http://schemas.microsoft.com/office/drawing/2014/main" id="{48D2E936-5BEA-47F6-878E-4D4DB2CAD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38137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>
            <a:defPPr>
              <a:defRPr sz="620"/>
            </a:defPPr>
          </a:lstStyle>
          <a:p xmlns:a="http://schemas.openxmlformats.org/drawingml/2006/main">
            <a:pPr algn="ctr">
              <a:buNone/>
              <a:defRPr sz="62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2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Retrieved</a:t>
            </a:r>
          </a:p>
          <a:p xmlns:a="http://schemas.openxmlformats.org/drawingml/2006/main">
            <a:pPr algn="ctr">
              <a:buNone/>
              <a:defRPr sz="62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2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review sample</a:t>
            </a:r>
          </a:p>
        </p:txBody>
      </p:sp>
      <p:sp>
        <p:nvSpPr>
          <p:cNvPr id="94" name="직선 연결선 93">
            <a:extLst xmlns:a="http://schemas.openxmlformats.org/drawingml/2006/main">
              <a:ext uri="{FF2B5EF4-FFF2-40B4-BE49-F238E27FC236}">
                <a16:creationId xmlns:a16="http://schemas.microsoft.com/office/drawing/2014/main" id="{2F95076D-FFAF-41A7-8335-0FBC42B8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72427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2766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5" name="직사각형 94">
            <a:extLst xmlns:a="http://schemas.openxmlformats.org/drawingml/2006/main">
              <a:ext uri="{FF2B5EF4-FFF2-40B4-BE49-F238E27FC236}">
                <a16:creationId xmlns:a16="http://schemas.microsoft.com/office/drawing/2014/main" id="{8F48674E-A3FA-4FF2-87FE-A8C41170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38137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>
            <a:defPPr>
              <a:defRPr sz="620"/>
            </a:defPPr>
          </a:lstStyle>
          <a:p xmlns:a="http://schemas.openxmlformats.org/drawingml/2006/main">
            <a:pPr algn="ctr">
              <a:buNone/>
              <a:defRPr sz="62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2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Structured</a:t>
            </a:r>
          </a:p>
          <a:p xmlns:a="http://schemas.openxmlformats.org/drawingml/2006/main">
            <a:pPr algn="ctr">
              <a:buNone/>
              <a:defRPr sz="62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2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Tool result</a:t>
            </a:r>
          </a:p>
        </p:txBody>
      </p:sp>
      <p:sp>
        <p:nvSpPr>
          <p:cNvPr id="96" name="직선 연결선 95">
            <a:extLst xmlns:a="http://schemas.openxmlformats.org/drawingml/2006/main">
              <a:ext uri="{FF2B5EF4-FFF2-40B4-BE49-F238E27FC236}">
                <a16:creationId xmlns:a16="http://schemas.microsoft.com/office/drawing/2014/main" id="{6ABD481F-E5E6-422E-8B7A-ADFDBFFC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72427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2766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7" name="사각형: 둥근 모서리 96">
            <a:extLst xmlns:a="http://schemas.openxmlformats.org/drawingml/2006/main">
              <a:ext uri="{FF2B5EF4-FFF2-40B4-BE49-F238E27FC236}">
                <a16:creationId xmlns:a16="http://schemas.microsoft.com/office/drawing/2014/main" id="{BF156ACD-BE04-4F16-BF43-CB6E92921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05550"/>
            <a:ext cx="104775" cy="104775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4763">
            <a:solidFill>
              <a:srgbClr val="D8E3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8" name="직사각형 97">
            <a:extLst xmlns:a="http://schemas.openxmlformats.org/drawingml/2006/main">
              <a:ext uri="{FF2B5EF4-FFF2-40B4-BE49-F238E27FC236}">
                <a16:creationId xmlns:a16="http://schemas.microsoft.com/office/drawing/2014/main" id="{D3EC9661-C429-4383-8B53-AC22E7F4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25792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674"/>
            </a:defPPr>
          </a:lstStyle>
          <a:p xmlns:a="http://schemas.openxmlformats.org/drawingml/2006/main">
            <a:pPr algn="l">
              <a:buNone/>
              <a:defRPr sz="674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74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Input</a:t>
            </a:r>
          </a:p>
        </p:txBody>
      </p:sp>
      <p:sp>
        <p:nvSpPr>
          <p:cNvPr id="99" name="사각형: 둥근 모서리 98">
            <a:extLst xmlns:a="http://schemas.openxmlformats.org/drawingml/2006/main">
              <a:ext uri="{FF2B5EF4-FFF2-40B4-BE49-F238E27FC236}">
                <a16:creationId xmlns:a16="http://schemas.microsoft.com/office/drawing/2014/main" id="{EA0CB4E9-403A-418C-96F7-4B0C2B04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305550"/>
            <a:ext cx="104775" cy="104775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1ECFB"/>
          </a:solidFill>
          <a:ln xmlns:a="http://schemas.openxmlformats.org/drawingml/2006/main" w="4763">
            <a:solidFill>
              <a:srgbClr val="D8E3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" name="직사각형 99">
            <a:extLst xmlns:a="http://schemas.openxmlformats.org/drawingml/2006/main">
              <a:ext uri="{FF2B5EF4-FFF2-40B4-BE49-F238E27FC236}">
                <a16:creationId xmlns:a16="http://schemas.microsoft.com/office/drawing/2014/main" id="{D2AE6AD0-D044-44F4-9FB7-4B720385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625792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674"/>
            </a:defPPr>
          </a:lstStyle>
          <a:p xmlns:a="http://schemas.openxmlformats.org/drawingml/2006/main">
            <a:pPr algn="l">
              <a:buNone/>
              <a:defRPr sz="674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74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LLM</a:t>
            </a:r>
          </a:p>
        </p:txBody>
      </p:sp>
      <p:sp>
        <p:nvSpPr>
          <p:cNvPr id="101" name="사각형: 둥근 모서리 100">
            <a:extLst xmlns:a="http://schemas.openxmlformats.org/drawingml/2006/main">
              <a:ext uri="{FF2B5EF4-FFF2-40B4-BE49-F238E27FC236}">
                <a16:creationId xmlns:a16="http://schemas.microsoft.com/office/drawing/2014/main" id="{8E5E3872-73ED-478B-91B9-6127C172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6305550"/>
            <a:ext cx="104775" cy="104775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DF7F2"/>
          </a:solidFill>
          <a:ln xmlns:a="http://schemas.openxmlformats.org/drawingml/2006/main" w="4763">
            <a:solidFill>
              <a:srgbClr val="D8E3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2" name="직사각형 101">
            <a:extLst xmlns:a="http://schemas.openxmlformats.org/drawingml/2006/main">
              <a:ext uri="{FF2B5EF4-FFF2-40B4-BE49-F238E27FC236}">
                <a16:creationId xmlns:a16="http://schemas.microsoft.com/office/drawing/2014/main" id="{B3CACC4E-C222-4FDF-97A6-7D032E05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625792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674"/>
            </a:defPPr>
          </a:lstStyle>
          <a:p xmlns:a="http://schemas.openxmlformats.org/drawingml/2006/main">
            <a:pPr algn="l">
              <a:buNone/>
              <a:defRPr sz="674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74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Model output</a:t>
            </a:r>
          </a:p>
        </p:txBody>
      </p:sp>
      <p:sp>
        <p:nvSpPr>
          <p:cNvPr id="103" name="사각형: 둥근 모서리 102">
            <a:extLst xmlns:a="http://schemas.openxmlformats.org/drawingml/2006/main">
              <a:ext uri="{FF2B5EF4-FFF2-40B4-BE49-F238E27FC236}">
                <a16:creationId xmlns:a16="http://schemas.microsoft.com/office/drawing/2014/main" id="{C2735829-428B-4104-B891-53953FBE3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6305550"/>
            <a:ext cx="104775" cy="104775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DF6FC"/>
          </a:solidFill>
          <a:ln xmlns:a="http://schemas.openxmlformats.org/drawingml/2006/main" w="4763">
            <a:solidFill>
              <a:srgbClr val="D8E3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4" name="직사각형 103">
            <a:extLst xmlns:a="http://schemas.openxmlformats.org/drawingml/2006/main">
              <a:ext uri="{FF2B5EF4-FFF2-40B4-BE49-F238E27FC236}">
                <a16:creationId xmlns:a16="http://schemas.microsoft.com/office/drawing/2014/main" id="{DEF817DE-D50F-4E67-A23B-2166FD2A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625792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674"/>
            </a:defPPr>
          </a:lstStyle>
          <a:p xmlns:a="http://schemas.openxmlformats.org/drawingml/2006/main">
            <a:pPr algn="l">
              <a:buNone/>
              <a:defRPr sz="674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74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Validated code</a:t>
            </a:r>
          </a:p>
        </p:txBody>
      </p:sp>
      <p:sp>
        <p:nvSpPr>
          <p:cNvPr id="105" name="직사각형 104">
            <a:extLst xmlns:a="http://schemas.openxmlformats.org/drawingml/2006/main">
              <a:ext uri="{FF2B5EF4-FFF2-40B4-BE49-F238E27FC236}">
                <a16:creationId xmlns:a16="http://schemas.microsoft.com/office/drawing/2014/main" id="{B0158447-6F28-49CB-A679-E61D59E7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257925"/>
            <a:ext cx="531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686"/>
            </a:defPPr>
          </a:lstStyle>
          <a:p xmlns:a="http://schemas.openxmlformats.org/drawingml/2006/main">
            <a:pPr algn="r">
              <a:buNone/>
              <a:defRPr sz="686" b="1">
                <a:solidFill>
                  <a:srgbClr val="48564F"/>
                </a:solidFill>
                <a:latin typeface="Noto Sans KR"/>
                <a:ea typeface="Noto Sans KR"/>
                <a:cs typeface="Noto Sans KR"/>
              </a:defRPr>
            </a:pPr>
            <a:r>
              <a:rPr sz="686" b="1">
                <a:solidFill>
                  <a:srgbClr val="48564F"/>
                </a:solidFill>
                <a:latin typeface="Noto Sans KR"/>
                <a:ea typeface="Noto Sans KR"/>
                <a:cs typeface="Noto Sans KR"/>
              </a:rPr>
              <a:t>SQL runs only inside the Tool. Python validates source_index and evidence against the review.</a:t>
            </a:r>
          </a:p>
        </p:txBody>
      </p:sp>
    </p:spTree>
    <p:extLst>
      <p:ext uri="{BB962C8B-B14F-4D97-AF65-F5344CB8AC3E}">
        <p14:creationId xmlns:p14="http://schemas.microsoft.com/office/powerpoint/2010/main" val="6356844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2026-10-09T08:34:45.0840000Z</dcterms:created>
  <dcterms:modified xsi:type="dcterms:W3CDTF">2026-10-09T08:34:45.0840000Z</dcterms:modified>
</coreProperties>
</file>