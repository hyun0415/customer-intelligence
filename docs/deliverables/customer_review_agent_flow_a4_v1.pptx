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8a22ca7624776" /><Relationship Type="http://schemas.openxmlformats.org/officeDocument/2006/relationships/extended-properties" Target="/docProps/app.xml" Id="Rd977127d0edb4c6d" /><Relationship Type="http://schemas.openxmlformats.org/officeDocument/2006/relationships/officeDocument" Target="/ppt/presentation.xml" Id="R3ec673a612b043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ede2d4250e4565"/>
  </p:sldMasterIdLst>
  <p:notesMasterIdLst>
    <p:notesMasterId xmlns:r="http://schemas.openxmlformats.org/officeDocument/2006/relationships" r:id="Rac7ce9ef1dcc444b"/>
  </p:notesMasterIdLst>
  <p:sldIdLst>
    <p:sldId xmlns:r="http://schemas.openxmlformats.org/officeDocument/2006/relationships" id="256" r:id="Rb28cd1cf0ea440e1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4240a797141ce" /><Relationship Type="http://schemas.openxmlformats.org/officeDocument/2006/relationships/slideMaster" Target="/ppt/slideMasters/slideMaster1.xml" Id="Rffede2d4250e4565" /><Relationship Type="http://schemas.openxmlformats.org/officeDocument/2006/relationships/notesMaster" Target="/ppt/notesMasters/notesMaster1.xml" Id="Rac7ce9ef1dcc444b" /><Relationship Type="http://schemas.openxmlformats.org/officeDocument/2006/relationships/presProps" Target="/ppt/presProps.xml" Id="R2dbff2d282734fa7" /><Relationship Type="http://schemas.openxmlformats.org/officeDocument/2006/relationships/tableStyles" Target="/ppt/tableStyles.xml" Id="R6a9554cb2b984d71" /><Relationship Type="http://schemas.openxmlformats.org/officeDocument/2006/relationships/slide" Target="/ppt/slides/slide1.xml" Id="Rb28cd1cf0ea440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6663cf9abc4d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a3770c02714ba0" /><Relationship Type="http://schemas.openxmlformats.org/officeDocument/2006/relationships/notesMaster" Target="/ppt/notesMasters/notesMaster1.xml" Id="R44b30b423463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 리뷰 분석 Agent의 핵심 흐름. 모든 요소는 PowerPoint에서 편집 가능한 도형과 텍스트로 구성했다.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f8d187bcc4c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d1b71948b4e74" /><Relationship Type="http://schemas.openxmlformats.org/officeDocument/2006/relationships/slideLayout" Target="/ppt/slideLayouts/slideLayout1.xml" Id="R90452e07f7ab42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52e07f7ab42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b90e26e844170" /><Relationship Type="http://schemas.openxmlformats.org/officeDocument/2006/relationships/notesSlide" Target="/ppt/notesSlides/notesSlide1.xml" Id="R68a81b5c52494b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F1DAC39-7EBB-4C1F-8A3B-6B8A1085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81BDE-939F-4631-AC10-01889C9B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561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검증된 SQL과 Aspect 기반 고객 리뷰 분석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A8C7D-443A-4CCB-B19E-9A1ED848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LLM은 질문을 해석하고, 검증된 코드가 조회·검증·집계를 수행합니다.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6D95F-6F66-41A3-A31B-7896010B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48291-BEAE-4FDE-9013-6527544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9D070-A2DE-45FC-B4CF-4309CA68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156CF-0389-49E1-84FC-FD729BB1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67640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9D57B-5690-407C-9F3C-483E22FE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C61BC-100B-41DA-B940-D3DA62FC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0225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LLM의 SQL 생성 위험을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B400B-7227-44E0-8E7F-4BC3661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4575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Agent는 SQL을 직접 만들지 않고 사전에 구현하고 테스트한 Tool만 선택합니다.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1780A-154D-4A9E-8489-B3C3E88F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AE751-E332-4B82-8A60-2AD9AEE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CDA4A-8351-418E-A52E-1579151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사용자 질문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7C87F-ED3E-40C9-9B3F-BB4E5CA5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자연어 분석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AA218-5D1D-456F-88F7-F3281960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A13BC-8E3D-4193-B881-5B9236ED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15732-D8C2-41D9-B8FB-0AA42A74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Agent Tool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154FF-7F79-4A5C-8A61-0317EE8B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의도와 조건 해석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4BCF4-53C5-4318-B4CD-9C86E70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22860">
            <a:solidFill>
              <a:srgbClr val="2F6F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5A5BE-7083-46A8-94B5-8EB5A2C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80594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30B5E-E9A4-49BF-8D5F-E19BB6B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검증된 SQL Tool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991FF-C033-41A4-AF7B-4782851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고정 Query와 입력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182A6-FD53-492F-8ED9-CC32B2A9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9F7D3-B510-404B-A408-CFDE84B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F892F-2701-4281-B32C-2E0261D9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588EF-E849-466D-91B0-0305502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리뷰 표본과 정량 통계</a:t>
            </a:r>
          </a:p>
        </p:txBody>
      </p:sp>
      <p:cxnSp>
        <p:nvCxnSpPr>
          <p:cNvPr id="14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405188" y="22002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9F"/>
            </a:solidFill>
            <a:prstDash val="solid"/>
            <a:head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600576" y="2200275"/>
            <a:ext cx="18097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9F"/>
            </a:solidFill>
            <a:prstDash val="solid"/>
            <a:head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795963" y="22002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9F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EFCD4-E2D2-4D86-8FA6-EFCD8A2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31908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4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LLM 직접 SQL 생성 없음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FCB5F3-3977-4E46-BC74-8652592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92A8C0-CD8A-4CBB-901F-F49E8B4E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2EDF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15182-4C09-455D-A51C-1E5E47E0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81325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8A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6DC5A5-5569-415A-8AB8-75B74C11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8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819518-BA28-49A7-BE51-B4A2C8D8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05150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리뷰를 Aspect 단위로 구조화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5C9357-7CB0-432B-B920-540D333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선별 리뷰에서 불만 유형과 판단 근거를 리뷰별 JSON으로 추출합니다.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2F9158-0FE1-4E12-BC33-D70D2574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5277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48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F0943F-F4D5-45B5-94BD-7AD55B0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289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9525">
            <a:solidFill>
              <a:srgbClr val="6848A8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8738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TXT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E5169E-EB7E-461C-87ED-CF30F6A0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선별 리뷰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E857C2-96B9-4B36-862D-FDD5EE69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242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저평점과 고공감 표본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AB3098-F19A-4485-AFC7-15187AA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5277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2EDFB"/>
          </a:solidFill>
          <a:ln xmlns:a="http://schemas.openxmlformats.org/drawingml/2006/main" w="22860">
            <a:solidFill>
              <a:srgbClr val="6848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7BF3F7-5B9A-47E3-A32E-2912794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289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9525">
            <a:solidFill>
              <a:srgbClr val="6848A8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D80321-2629-4869-8003-9D49DCAB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Aspect Extractor LLM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F5C149-E1F7-4192-A3E6-1208F668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242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불만 유형과 감성 분석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23F59D-DC18-433F-A366-3506320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5277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48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AA29CD-BB13-4732-871D-8BC76F6D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289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9525">
            <a:solidFill>
              <a:srgbClr val="6848A8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{ }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319D57-5E19-46B2-BFAE-BF68532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E55C37-5830-41D1-BECA-532879C6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242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Topic, Sentiment, Evidence</a:t>
            </a:r>
          </a:p>
        </p:txBody>
      </p:sp>
      <p:cxnSp>
        <p:nvCxnSpPr>
          <p:cNvPr id="164" name=""/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752850" y="358616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48A8"/>
            </a:solidFill>
            <a:prstDash val="solid"/>
            <a:headEnd type="triangle" w="sm" len="sm"/>
          </a:ln>
        </p:spPr>
      </p:cxnSp>
      <p:cxnSp>
        <p:nvCxnSpPr>
          <p:cNvPr id="165" name=""/>
          <p:cNvCxnSpPr>
            <a:stCxn xmlns:a="http://schemas.openxmlformats.org/drawingml/2006/main" id="41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72100" y="358616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48A8"/>
            </a:solidFill>
            <a:prstDash val="solid"/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77D1BE-BD22-45AC-A50D-8EC75424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CA6DDE-4D8D-4001-8412-946AFB1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EBC2CF-3A28-4260-9BA2-862B3D84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8625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6670FA-C28B-4550-92C4-E0D0B274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550E5-0600-40EE-8DC5-C037904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원문 검증 후 반복 불만을 정량화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0F7FD3-12BB-43F9-84A1-5DE0C8E6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LLM 결과를 그대로 사용하지 않고 Python 코드로 검증하고 집계합니다.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60E3C1-0A06-492D-B489-D3CCB2F7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6A1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260D3E-1608-4453-A7A0-222DEC7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{ 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513970-FEE3-409E-BA07-031350EB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301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F9306F-11AC-4563-8D76-F30F618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리뷰별 추출 결과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916737-F00F-446D-9DC9-1915D44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22860">
            <a:solidFill>
              <a:srgbClr val="C96A1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CF5371-A396-4632-984A-40035A2C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667C39-FEC9-4134-A5C8-BDE9129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106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원문 근거 검증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434BF7-772D-4D88-BD08-06597861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없는 Evidence 제거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3ECB58-F661-4259-BFAA-F2F1141C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6A1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3EB68A-9B79-4435-9CE6-A0B2BDA0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FB7D83-D61F-46B2-B62D-358F2B05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Python 집계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EF414E-DA53-486E-B744-D0A2A47A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중복 제거와 빈도 계산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E0AEE9-B83D-46B0-81BB-4767725C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6A1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D66572-1F45-4AB2-AA5F-3C03ACF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#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403684-261C-4205-AE05-2D9AF9B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구조화 결과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91645C-FF1A-40BA-AAC1-529B6719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Aspect, 빈도, 비율, 근거</a:t>
            </a:r>
          </a:p>
        </p:txBody>
      </p:sp>
      <p:cxnSp>
        <p:nvCxnSpPr>
          <p:cNvPr id="188" name=""/>
          <p:cNvCxnSpPr>
            <a:stCxn xmlns:a="http://schemas.openxmlformats.org/drawingml/2006/main" id="57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3405188" y="48101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96A1B"/>
            </a:solidFill>
            <a:prstDash val="solid"/>
            <a:headEnd type="triangle" w="sm" len="sm"/>
          </a:ln>
        </p:spPr>
      </p:cxnSp>
      <p:cxnSp>
        <p:nvCxnSpPr>
          <p:cNvPr id="189" name=""/>
          <p:cNvCxnSpPr>
            <a:stCxn xmlns:a="http://schemas.openxmlformats.org/drawingml/2006/main" id="61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4600576" y="4810125"/>
            <a:ext cx="18097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96A1B"/>
            </a:solidFill>
            <a:prstDash val="solid"/>
            <a:headEnd type="triangle" w="sm" len="sm"/>
          </a:ln>
        </p:spPr>
      </p:cxnSp>
      <p:cxnSp>
        <p:nvCxnSpPr>
          <p:cNvPr id="190" name=""/>
          <p:cNvCxnSpPr>
            <a:stCxn xmlns:a="http://schemas.openxmlformats.org/drawingml/2006/main" id="65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5795963" y="48101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96A1B"/>
            </a:solidFill>
            <a:prstDash val="solid"/>
            <a:head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76E35C-CF7F-4740-9DF5-707CACBD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29225"/>
            <a:ext cx="31908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4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원문에 존재하는 근거만 유지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E425C7-2089-450D-85BD-1D3D9133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876039-976E-4CF2-9624-7E7456C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D56021-7284-4128-BA44-16AD8DBE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591175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35B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73EA9C0-4B17-4011-9EC1-9378305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3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13870E-99CE-4A6E-9EED-E7DCF6B3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715000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구조화 결과를 Agent 판단 근거로 활용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EEAD71C-ED4D-4F11-8645-669C38B8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정량 통계와 검증된 Evidence를 최종 LLM 입력으로 제공합니다.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12F793-B32E-496B-8A4D-21A677EC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76262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4735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0E5DE8-7DE3-4712-8CC9-D2B6E7F4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8388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34735B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85372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CTX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EE64248-EFC6-4C75-A4E0-8FF23526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848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Grounded Context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3D3BB07-8CAA-4056-9CAE-EE82FCC6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613410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SQL 통계와 Aspect Pattern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46ABFF-224C-4A69-80C1-BB6AE8B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76262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22860">
            <a:solidFill>
              <a:srgbClr val="34735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5F6834-2FE0-4719-817D-81B7B20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8388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34735B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5D80CF-9B92-40BE-848A-6CE8A38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848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Final Agent LLM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63EBC0-7339-48E2-9627-815B69DA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613410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검증 결과 기반 해석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3F861D-B07C-45B2-B653-8C2460A6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76262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47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85010A4-606F-460B-A110-A6AE045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8388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34735B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7861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ANS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8DC415-5B79-45D3-BB6D-50225250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848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업무 활용 답변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0D66708-D1B9-4374-94AD-2BA21AF8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13410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반복 불만과 개선 우선순위</a:t>
            </a:r>
          </a:p>
        </p:txBody>
      </p:sp>
      <p:cxnSp>
        <p:nvCxnSpPr>
          <p:cNvPr id="210" name=""/>
          <p:cNvCxnSpPr>
            <a:stCxn xmlns:a="http://schemas.openxmlformats.org/drawingml/2006/main" id="83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3752850" y="6196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35B"/>
            </a:solidFill>
            <a:prstDash val="solid"/>
            <a:head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87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5372100" y="6196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35B"/>
            </a:solidFill>
            <a:prstDash val="solid"/>
            <a:head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5C7B93-7FAB-4452-B036-ED2A175B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675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3DCFB21-4E73-449A-9824-91A00F9C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구현 방식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FE80F52-36F2-4A68-93AE-3CDAE44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48575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4A787AD-FA8B-4F17-9517-559A62C8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결정론적 SQL 조회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93DEB06-C096-4A1A-B632-8E52F4A8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7175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Agent가 검증된 SQL Tool을 선택해 리뷰 표본과 통계를 조회합니다. LLM의 임의 SQL 생성을 차단해 집계 오류를 줄였습니다.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A94439-FBEF-48E7-A7AE-02FDC7F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648575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3704F4A-285B-48B4-A51A-AD4E36AB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39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Aspect Term 추출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7D99E7D-1664-475D-A1CB-49502E8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877175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Extractor LLM이 리뷰별 불만 유형과 감성, 직접 경험 여부, 근거 문장을 구조화된 JSON으로 반환합니다.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57292E2-6427-47DE-9C58-D0CCA40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34400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A8CC207-EE48-4C8E-8218-131E1DE7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248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원문 검증과 Python 집계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E02E8B2-A63C-4368-A14D-4F62989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Evidence가 리뷰 원문에 실제 존재하는지 확인한 뒤 Aspect별 빈도와 표본 내 비율, 대표 근거를 계산합니다.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1607C1A-457E-4167-988C-85E18564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534400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80C92D5-3051-4F9A-B9A4-3FE506A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248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Grounded Agent 답변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6952DB-6BDC-4759-AEA5-95B3659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763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최종 Agent는 검증된 통계와 리뷰 근거만 입력받아 반복 불만과 제품 개선 우선순위를 설명합니다.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855225-E1B9-4252-A0A1-A9ADF9E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0"/>
            <a:ext cx="6762750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2EDFB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2E634FB-3523-449B-8236-59B81A2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8A8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63A63F3-9629-48CF-A4CA-349F550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648825"/>
            <a:ext cx="828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핵심 설계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210420E-54A9-4787-91E5-4E759EB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10725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48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48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LLM에는 질문 해석과 의미 분류를 맡기고, 수치 조회·근거 검증·집계는 테스트 가능한 코드로 통제했습니다.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3C5EF68-F03C-4647-8595-D89DA90F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325100"/>
            <a:ext cx="676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Customer Intelligence · Review Analysis Agent</a:t>
            </a:r>
          </a:p>
        </p:txBody>
      </p:sp>
    </p:spTree>
    <p:extLst>
      <p:ext uri="{BB962C8B-B14F-4D97-AF65-F5344CB8AC3E}">
        <p14:creationId xmlns:p14="http://schemas.microsoft.com/office/powerpoint/2010/main" val="695303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2026-09-05T08:11:09.5450000Z</dcterms:created>
  <dcterms:modified xsi:type="dcterms:W3CDTF">2026-09-05T08:11:09.5450000Z</dcterms:modified>
</coreProperties>
</file>