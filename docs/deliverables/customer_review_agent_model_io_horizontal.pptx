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b5b4f75402434f" /><Relationship Type="http://schemas.openxmlformats.org/officeDocument/2006/relationships/extended-properties" Target="/docProps/app.xml" Id="R7658bace57df4000" /><Relationship Type="http://schemas.openxmlformats.org/officeDocument/2006/relationships/officeDocument" Target="/ppt/presentation.xml" Id="Ra8a16d707abe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a14f04eb3b468c"/>
  </p:sldMasterIdLst>
  <p:notesMasterIdLst>
    <p:notesMasterId xmlns:r="http://schemas.openxmlformats.org/officeDocument/2006/relationships" r:id="R2a04e2091c0742cf"/>
  </p:notesMasterIdLst>
  <p:sldIdLst>
    <p:sldId xmlns:r="http://schemas.openxmlformats.org/officeDocument/2006/relationships" id="256" r:id="R2f920098411249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29faf9382c4703" /><Relationship Type="http://schemas.openxmlformats.org/officeDocument/2006/relationships/slideMaster" Target="/ppt/slideMasters/slideMaster1.xml" Id="Ra8a14f04eb3b468c" /><Relationship Type="http://schemas.openxmlformats.org/officeDocument/2006/relationships/notesMaster" Target="/ppt/notesMasters/notesMaster1.xml" Id="R2a04e2091c0742cf" /><Relationship Type="http://schemas.openxmlformats.org/officeDocument/2006/relationships/presProps" Target="/ppt/presProps.xml" Id="Reb407d5fda424548" /><Relationship Type="http://schemas.openxmlformats.org/officeDocument/2006/relationships/tableStyles" Target="/ppt/tableStyles.xml" Id="R56bf345078764e12" /><Relationship Type="http://schemas.openxmlformats.org/officeDocument/2006/relationships/slide" Target="/ppt/slides/slide1.xml" Id="R2f920098411249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b2cc23e1ed4b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40f850cb974b8e" /><Relationship Type="http://schemas.openxmlformats.org/officeDocument/2006/relationships/notesMaster" Target="/ppt/notesMasters/notesMaster1.xml" Id="Ra02f25f9ad2b4d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표기 참고: OpenAI API https://openai.com/brand/ ; LangGraph https://docs.langchain.com/ ; PostgreSQL https://wiki.postgresql.org/wiki/Logo ; Python https://www.python.org/community/logos/ . 제품 로고를 변형하지 않고, 도식에는 자체 제작한 중립 픽토그램과 공식 기술명을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b06fb183742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c99309f7a64cba" /><Relationship Type="http://schemas.openxmlformats.org/officeDocument/2006/relationships/slideLayout" Target="/ppt/slideLayouts/slideLayout1.xml" Id="R4b3ad7e76cd04f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3ad7e76cd04f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dc4f602c049f1" /><Relationship Type="http://schemas.openxmlformats.org/officeDocument/2006/relationships/image" Target="/ppt/media/image.png" Id="R6ebf6476d1994312" /><Relationship Type="http://schemas.openxmlformats.org/officeDocument/2006/relationships/image" Target="/ppt/media/image.svg" Id="R9de8956d03af472e" /><Relationship Type="http://schemas.openxmlformats.org/officeDocument/2006/relationships/image" Target="/ppt/media/image2.png" Id="R231fa247f977459a" /><Relationship Type="http://schemas.openxmlformats.org/officeDocument/2006/relationships/image" Target="/ppt/media/image2.svg" Id="R6dc139cf4bc445ef" /><Relationship Type="http://schemas.openxmlformats.org/officeDocument/2006/relationships/image" Target="/ppt/media/image3.png" Id="R2c4a61f69adf41e6" /><Relationship Type="http://schemas.openxmlformats.org/officeDocument/2006/relationships/image" Target="/ppt/media/image3.svg" Id="Rd1f00d5124114035" /><Relationship Type="http://schemas.openxmlformats.org/officeDocument/2006/relationships/image" Target="/ppt/media/image4.png" Id="R05671e8c3378455d" /><Relationship Type="http://schemas.openxmlformats.org/officeDocument/2006/relationships/image" Target="/ppt/media/image4.svg" Id="R57758db0740549cd" /><Relationship Type="http://schemas.openxmlformats.org/officeDocument/2006/relationships/image" Target="/ppt/media/image5.png" Id="R43fb5ee0f94540c1" /><Relationship Type="http://schemas.openxmlformats.org/officeDocument/2006/relationships/image" Target="/ppt/media/image5.svg" Id="Rcb46a251154c4439" /><Relationship Type="http://schemas.openxmlformats.org/officeDocument/2006/relationships/image" Target="/ppt/media/image6.png" Id="R02695268bbaf4291" /><Relationship Type="http://schemas.openxmlformats.org/officeDocument/2006/relationships/image" Target="/ppt/media/image6.svg" Id="R14bd0e19eabe4f84" /><Relationship Type="http://schemas.openxmlformats.org/officeDocument/2006/relationships/image" Target="/ppt/media/image7.png" Id="R1906df573acc4e57" /><Relationship Type="http://schemas.openxmlformats.org/officeDocument/2006/relationships/image" Target="/ppt/media/image7.svg" Id="Rd4aceb3ff7824ee0" /><Relationship Type="http://schemas.openxmlformats.org/officeDocument/2006/relationships/image" Target="/ppt/media/image8.png" Id="R18f81a0da9df4fb2" /><Relationship Type="http://schemas.openxmlformats.org/officeDocument/2006/relationships/image" Target="/ppt/media/image8.svg" Id="R6c6f7f6e251d485d" /><Relationship Type="http://schemas.openxmlformats.org/officeDocument/2006/relationships/image" Target="/ppt/media/image9.png" Id="Red15660b25ff49e0" /><Relationship Type="http://schemas.openxmlformats.org/officeDocument/2006/relationships/image" Target="/ppt/media/image9.svg" Id="R44583079d2db476c" /><Relationship Type="http://schemas.openxmlformats.org/officeDocument/2006/relationships/image" Target="/ppt/media/image10.png" Id="Ra99a721d060345cd" /><Relationship Type="http://schemas.openxmlformats.org/officeDocument/2006/relationships/image" Target="/ppt/media/image10.svg" Id="R79f8346006ad4a2d" /><Relationship Type="http://schemas.openxmlformats.org/officeDocument/2006/relationships/image" Target="/ppt/media/image11.png" Id="Rd0d42e5189e8487e" /><Relationship Type="http://schemas.openxmlformats.org/officeDocument/2006/relationships/image" Target="/ppt/media/image11.svg" Id="R9f2c1b1133d44083" /><Relationship Type="http://schemas.openxmlformats.org/officeDocument/2006/relationships/notesSlide" Target="/ppt/notesSlides/notesSlide1.xml" Id="R2cdcd0e1a84941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B10B536-82AA-478A-B958-A89BA441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0B339-1FDC-45B8-8E3C-09E02F98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120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고객 리뷰 분석 Agent의 모델 입력과 출력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F8A58-883B-41E1-9E8F-ACD80639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19175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각 단계에서 모델이 받는 정보와 생성 결과를 분리하고, 조회·검증·집계는 테스트 가능한 코드로 통제했습니다.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B2CC0-A489-43A4-9151-3DDA3696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2213E-6142-43DA-99FB-A86D6CED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58F9F-0354-4822-8B65-73FB1FD7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Tool 선택과 데이터 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4396A-28CC-4D5D-B9A6-E850B20C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96007-B0FC-4A79-A223-C36B9512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499BD-711C-4E3C-83ED-BE91A2BE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Aspect Term 추출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CAC82-07D9-4F66-8684-0882BD83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3A19C-B8D0-42F5-8A8F-830A03F8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09662-0F5F-42D0-8836-BB621F8D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최종 답변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E4EE9-36E9-4CA3-99C2-203FB04C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76E60-5269-46F2-8ACB-8183A4B1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f6476d1994312">
            <a:extLst>
              <a:ext uri="{96DAC541-7B7A-43D3-8B79-37D633B846F1}">
                <asvg:svgBlip xmlns:asvg="http://schemas.microsoft.com/office/drawing/2016/SVG/main" r:embed="R9de8956d03af47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D9969-48F7-4A01-A552-274C0DA9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CB860-7186-4B8F-97FF-7064B7F0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7122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“이 상품의 반복 불만과</a:t>
            </a:r>
          </a:p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개선점을 알려줘”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3D8F9-4B67-4A33-B5B4-0003B8B3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1937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사용자 질문과 대화 맥락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A2818-AD6B-4932-83A2-7FBB189B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8607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B99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FB3E6-39D2-4302-AB93-4B1F9A27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21809-7426-40B0-9369-1A8FEFD6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fa247f977459a">
            <a:extLst>
              <a:ext uri="{96DAC541-7B7A-43D3-8B79-37D633B846F1}">
                <asvg:svgBlip xmlns:asvg="http://schemas.microsoft.com/office/drawing/2016/SVG/main" r:embed="R6dc139cf4bc445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62633-BBC5-4EC5-9F97-A1695E7D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D4C4C-E2CF-49A7-8B71-B20565C8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Agent LLM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EA0A0-022B-4E61-8C8C-1562F62F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5814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질문 의도와 조회 조건 해석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FC91A-798B-474A-A4F4-ABA946EF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600450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00BD4E-3C49-4E5A-AF52-847B1C7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00450"/>
            <a:ext cx="61912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5B3DA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5B3DA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5B3DA1"/>
                </a:solidFill>
                <a:latin typeface="Noto Sans KR"/>
                <a:ea typeface="Noto Sans KR"/>
                <a:cs typeface="Noto Sans KR"/>
              </a:rPr>
              <a:t>LangGraph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7F5E19-C90E-4086-9D75-7C1782B9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48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B999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946F6C-8DDF-48A0-A5AF-AF921BE6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2C683B-CCCC-462E-BDEA-9540D93F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a61f69adf41e6">
            <a:extLst>
              <a:ext uri="{96DAC541-7B7A-43D3-8B79-37D633B846F1}">
                <asvg:svgBlip xmlns:asvg="http://schemas.microsoft.com/office/drawing/2016/SVG/main" r:embed="Rd1f00d51241140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FE42D8-08BB-48F8-86E2-0EA019C0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D05748-E998-49C6-AA46-9F5224A4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9577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get_review_patterns_tool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910EFE-B3B3-4DAD-9EC7-6ADC7EC5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54342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parent_asin · limit=20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AD92FE-5F1C-4F9B-B33C-C4F9C115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1012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B999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A58F00-B6E0-455B-8C5D-D7B9037C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D99456-4B4A-40F1-A47F-DC982168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6255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71e8c3378455d">
            <a:extLst>
              <a:ext uri="{96DAC541-7B7A-43D3-8B79-37D633B846F1}">
                <asvg:svgBlip xmlns:asvg="http://schemas.microsoft.com/office/drawing/2016/SVG/main" r:embed="R57758db0740549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2292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0A1554-78AF-4291-99D9-B3E173C5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0863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VERIFIED CODE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FA5B51-E45F-4979-BBD7-5F476013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25780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고정 SQL Tool 실행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787342-6D10-400C-A58B-A7742C30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50545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리뷰 표본과 평점 통계 조회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6AC47F-55A2-421D-BE4A-B02D8E26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524500"/>
            <a:ext cx="68580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33679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33679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336791"/>
                </a:solidFill>
                <a:latin typeface="Noto Sans KR"/>
                <a:ea typeface="Noto Sans KR"/>
                <a:cs typeface="Noto Sans KR"/>
              </a:rPr>
              <a:t>PostgreSQL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6646A1-AE8D-4D36-BA31-604684BB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8E7161-4A74-4260-8FBB-D640BD9F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b5ee0f94540c1">
            <a:extLst>
              <a:ext uri="{96DAC541-7B7A-43D3-8B79-37D633B846F1}">
                <asvg:svgBlip xmlns:asvg="http://schemas.microsoft.com/office/drawing/2016/SVG/main" r:embed="Rcb46a251154c44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C52D43-33FC-4BA6-BBA7-CF24E2E2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C8C0B9-9D61-4FF4-A996-B3172BC8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선별 리뷰 20건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FA4C58-9296-4586-B272-963186ED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1937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기본: 3점 이하·공감 투표 1 이상</a:t>
            </a:r>
          </a:p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추출 규칙·JSON Schema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A8CB3E-074F-4412-A1EA-6A8187B9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8607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B999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B1807E-D7B5-4F06-95F8-CC16B637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FA75EA-9B00-43FB-BF1A-BD0185A7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95268bbaf4291">
            <a:extLst>
              <a:ext uri="{96DAC541-7B7A-43D3-8B79-37D633B846F1}">
                <asvg:svgBlip xmlns:asvg="http://schemas.microsoft.com/office/drawing/2016/SVG/main" r:embed="R14bd0e19eabe4f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886CAA-1F5E-4F73-98F3-35CF7C35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24EE30-C1AF-415C-AD00-75AFB54B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Aspect Extractor LLM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46CE15-D8B5-42E2-857D-4E831D0C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814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불만 유형과 감성, 근거 문장 식별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1BBBBA-B8B8-40EA-BAD9-0267AFAF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00450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API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57C583-98F0-44D3-B890-E53EF464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B999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39E119-810A-4352-90C6-BCA7640F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45339B-B991-4430-87D6-5BCA6BBC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6df573acc4e57">
            <a:extLst>
              <a:ext uri="{96DAC541-7B7A-43D3-8B79-37D633B846F1}">
                <asvg:svgBlip xmlns:asvg="http://schemas.microsoft.com/office/drawing/2016/SVG/main" r:embed="Rd4aceb3ff7824e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B91782-3795-4581-A16D-F7716500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 OUTPUT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0CFF71-6D5F-40A3-BCF4-FC97E9A1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9577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Aspect JSON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A6AD25-2476-45FC-AEFD-114B79B9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4342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Aspect Term · Sentiment · Evidence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78A6BF-7638-4728-96C0-674B26B1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012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B999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A2BED3-A5EE-4E4F-AB4C-00905C5C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1F6195-46ED-43BF-BF34-D136FC08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6255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81a0da9df4fb2">
            <a:extLst>
              <a:ext uri="{96DAC541-7B7A-43D3-8B79-37D633B846F1}">
                <asvg:svgBlip xmlns:asvg="http://schemas.microsoft.com/office/drawing/2016/SVG/main" r:embed="R6c6f7f6e251d48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52292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840C50-F113-47CA-95AF-FBE06C8D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863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VERIFIED CODE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B525D8-26D4-4843-AA99-534BBACA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5780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원문 검증과 Python 집계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67B8CD8-795A-4845-8A47-E50D49EE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0545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없는 근거·중복 제거, 빈도·비율 계산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E303F3-2F73-4A7E-ABD6-94F9BCDF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24500"/>
            <a:ext cx="4476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86DA8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286DA8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286DA8"/>
                </a:solidFill>
                <a:latin typeface="Noto Sans KR"/>
                <a:ea typeface="Noto Sans KR"/>
                <a:cs typeface="Noto Sans KR"/>
              </a:rPr>
              <a:t>Python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CB42FDF-802E-4BBD-A5A6-CCF65D7B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BD1162-AD7C-444D-90E0-E0C1F2FF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5660b25ff49e0">
            <a:extLst>
              <a:ext uri="{96DAC541-7B7A-43D3-8B79-37D633B846F1}">
                <asvg:svgBlip xmlns:asvg="http://schemas.microsoft.com/office/drawing/2016/SVG/main" r:embed="R44583079d2db47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115B677-1CA6-41A8-BB45-A8262500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ED3D214-37F6-4E8D-A1D7-DE7EA6A6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검증된 분석 결과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C9037E-7982-4694-A74C-2BCF4A40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1937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질문·SQL 통계·Aspect 빈도</a:t>
            </a:r>
          </a:p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대표 리뷰 근거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F268A9-DC00-4C9C-A1B8-7F9C712C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8607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B999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04719BF-2AA8-4D59-8300-39F048C3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80C0B58-FF0B-4BE5-92AF-37783A41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a721d060345cd">
            <a:extLst>
              <a:ext uri="{96DAC541-7B7A-43D3-8B79-37D633B846F1}">
                <asvg:svgBlip xmlns:asvg="http://schemas.microsoft.com/office/drawing/2016/SVG/main" r:embed="R79f8346006ad4a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A5FE0D4-25DD-4444-831C-02EE7AE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89C2A4F-B7BC-43EC-9E81-4B2F517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Final Agent LLM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669C0B-C972-4FBC-91CC-0E60E47D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814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검증 결과를 업무 관점으로 해석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45C224F-DB9F-403E-98FD-763B7243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600450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API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135B2D-E1AE-4BA4-A32A-A321041B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48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B999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A53108D-46C2-468A-A11D-41CD70F2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BD41878-BCD8-4662-B7AF-C16A57D5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42e5189e8487e">
            <a:extLst>
              <a:ext uri="{96DAC541-7B7A-43D3-8B79-37D633B846F1}">
                <asvg:svgBlip xmlns:asvg="http://schemas.microsoft.com/office/drawing/2016/SVG/main" r:embed="R9f2c1b1133d440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588375D-BDEF-47B3-9D11-978ABDDE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FINAL OUTPUT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378567A-EBDA-4156-A086-FF7F6ACC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9577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업무 활용 답변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6C4844E-F218-4410-8662-9639B241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4342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반복 불만·수치·대표 근거</a:t>
            </a:r>
          </a:p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제품 개선 우선순위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D936E5A-B7FC-4BCA-9570-5F4DCF71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813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리뷰 표본</a:t>
            </a:r>
          </a:p>
          <a:p xmlns:a="http://schemas.openxmlformats.org/drawingml/2006/main">
            <a:pPr algn="ctr"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정량 통계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EE5D8E-C6DB-46E8-8639-83081C1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7242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7664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C510DB7-8EAE-4DE0-993B-340F7173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813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Grounded</a:t>
            </a:r>
          </a:p>
          <a:p xmlns:a="http://schemas.openxmlformats.org/drawingml/2006/main">
            <a:pPr algn="ctr"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Context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3EF0904-1D6A-41DF-8CF0-60FF5A7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242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7664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50B5E45-5B5C-4480-8550-7BCCF50F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578F7DE-E60D-46F6-990A-0D8F716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DDCA42D-1317-4129-96F4-0E53470F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990AE50-F3B6-43A6-9D44-EAD3EDAE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LLM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63105FD-D863-41CD-AE41-4CA4D2D4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DAB5EB3-4D07-4512-A768-0E01C71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모델 출력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7461E46-2DEF-40B5-9FE1-2A8604DC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E736133-BFFA-4DD2-A6CD-2F6F409C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검증된 코드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51C7C9C-B5CB-44B2-8BC4-94E4B6C8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57925"/>
            <a:ext cx="531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0" b="1">
                <a:solidFill>
                  <a:srgbClr val="48564F"/>
                </a:solidFill>
                <a:latin typeface="Noto Sans KR"/>
                <a:ea typeface="Noto Sans KR"/>
                <a:cs typeface="Noto Sans KR"/>
              </a:defRPr>
            </a:pPr>
            <a:r>
              <a:rPr sz="780" b="1">
                <a:solidFill>
                  <a:srgbClr val="48564F"/>
                </a:solidFill>
                <a:latin typeface="Noto Sans KR"/>
                <a:ea typeface="Noto Sans KR"/>
                <a:cs typeface="Noto Sans KR"/>
              </a:rPr>
              <a:t>LLM이 SQL을 직접 생성하지 않으며, 원문에 없는 Evidence는 집계 전에 제거합니다.</a:t>
            </a:r>
          </a:p>
        </p:txBody>
      </p:sp>
    </p:spTree>
    <p:extLst>
      <p:ext uri="{BB962C8B-B14F-4D97-AF65-F5344CB8AC3E}">
        <p14:creationId xmlns:p14="http://schemas.microsoft.com/office/powerpoint/2010/main" val="31257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2026-09-05T12:54:24.8860000Z</dcterms:created>
  <dcterms:modified xsi:type="dcterms:W3CDTF">2026-09-05T12:54:24.8860000Z</dcterms:modified>
</coreProperties>
</file>