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고정 평가 질문과 정답을 API 또는 Local Agent 파이프라인에 실행한다. API 파이프라인은 Terra Agent와 Luna Extractor·근거 판정을 사용한다. Local 파이프라인은 GPT-OSS 20B Agent와 Qwen3-8B Extractor·근거 판정을 사용한다. 실행 Trace는 Python Tool·Rule 검사와 RAG 단계 평가를 거치며, 답변 품질은 API의 GPT-5.6 Sol 또는 Local의 Gemma 3 27B가 평가한다. 모든 결과는 같은 Scorecard와 Feedback 루프에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973664B-0ED1-4EDF-B426-407CAD4C6BF2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201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A4EDDFB-BCFF-4593-AD34-DB6E185565EE}"/>
              </a:ext>
            </a:extLst>
          </p:cNvPr>
          <p:cNvSpPr>
            <a:spLocks noGrp="1"/>
          </p:cNvSpPr>
          <p:nvPr/>
        </p:nvSpPr>
        <p:spPr>
          <a:xfrm>
            <a:off x="495300" y="581025"/>
            <a:ext cx="11201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평가 자동화와 모델 최적화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2C144B-FDD2-4F5A-A9EF-CEAF2D28EDE6}"/>
              </a:ext>
            </a:extLst>
          </p:cNvPr>
          <p:cNvSpPr>
            <a:spLocks noGrp="1"/>
          </p:cNvSpPr>
          <p:nvPr/>
        </p:nvSpPr>
        <p:spPr>
          <a:xfrm>
            <a:off x="495300" y="1019175"/>
            <a:ext cx="11201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같은 평가 질문을 API와 Local Agent 파이프라인에 실행하고, Tool·RAG·답변 품질을 동일한 기준으로 비교합니다.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0DEE01-2EFB-4F1E-848C-D80D57688E19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1447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01  평가 입력</a:t>
            </a:r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4440088C-D80E-40EE-A343-5AF46805FE60}"/>
              </a:ext>
            </a:extLst>
          </p:cNvPr>
          <p:cNvSpPr>
            <a:spLocks noGrp="1"/>
          </p:cNvSpPr>
          <p:nvPr/>
        </p:nvSpPr>
        <p:spPr>
          <a:xfrm>
            <a:off x="457200" y="1838325"/>
            <a:ext cx="1447800" cy="0"/>
          </a:xfrm>
          <a:prstGeom prst="line">
            <a:avLst/>
          </a:prstGeom>
          <a:noFill/>
          <a:ln w="1333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762E55-FE52-456E-BAB1-D02277AE9C7D}"/>
              </a:ext>
            </a:extLst>
          </p:cNvPr>
          <p:cNvSpPr>
            <a:spLocks noGrp="1"/>
          </p:cNvSpPr>
          <p:nvPr/>
        </p:nvSpPr>
        <p:spPr>
          <a:xfrm>
            <a:off x="2171700" y="1571625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02  평가 대상 파이프라인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E5CCFB77-AEB8-44B6-A4B4-90B6F2D8BE33}"/>
              </a:ext>
            </a:extLst>
          </p:cNvPr>
          <p:cNvSpPr>
            <a:spLocks noGrp="1"/>
          </p:cNvSpPr>
          <p:nvPr/>
        </p:nvSpPr>
        <p:spPr>
          <a:xfrm>
            <a:off x="2171700" y="1838325"/>
            <a:ext cx="4000500" cy="0"/>
          </a:xfrm>
          <a:prstGeom prst="line">
            <a:avLst/>
          </a:prstGeom>
          <a:noFill/>
          <a:ln w="1333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CFAD79-907D-4E3E-8089-41E3ECABBA4C}"/>
              </a:ext>
            </a:extLst>
          </p:cNvPr>
          <p:cNvSpPr>
            <a:spLocks noGrp="1"/>
          </p:cNvSpPr>
          <p:nvPr/>
        </p:nvSpPr>
        <p:spPr>
          <a:xfrm>
            <a:off x="6457950" y="157162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03  결과 수집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BB9B530A-0A24-4125-A993-AF165B1869CF}"/>
              </a:ext>
            </a:extLst>
          </p:cNvPr>
          <p:cNvSpPr>
            <a:spLocks noGrp="1"/>
          </p:cNvSpPr>
          <p:nvPr/>
        </p:nvSpPr>
        <p:spPr>
          <a:xfrm>
            <a:off x="6457950" y="1838325"/>
            <a:ext cx="1524000" cy="0"/>
          </a:xfrm>
          <a:prstGeom prst="line">
            <a:avLst/>
          </a:prstGeom>
          <a:noFill/>
          <a:ln w="1333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405FB7-3021-40CA-AABF-D2B05D7DF7D1}"/>
              </a:ext>
            </a:extLst>
          </p:cNvPr>
          <p:cNvSpPr>
            <a:spLocks noGrp="1"/>
          </p:cNvSpPr>
          <p:nvPr/>
        </p:nvSpPr>
        <p:spPr>
          <a:xfrm>
            <a:off x="8267700" y="15716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04  평가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2E92140-0926-4B0D-A93B-3FBB3B911DD8}"/>
              </a:ext>
            </a:extLst>
          </p:cNvPr>
          <p:cNvSpPr>
            <a:spLocks noGrp="1"/>
          </p:cNvSpPr>
          <p:nvPr/>
        </p:nvSpPr>
        <p:spPr>
          <a:xfrm>
            <a:off x="8267700" y="1838325"/>
            <a:ext cx="2000250" cy="0"/>
          </a:xfrm>
          <a:prstGeom prst="line">
            <a:avLst/>
          </a:prstGeom>
          <a:noFill/>
          <a:ln w="1333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2C462A-91D8-4921-A7E0-105CF59C5562}"/>
              </a:ext>
            </a:extLst>
          </p:cNvPr>
          <p:cNvSpPr>
            <a:spLocks noGrp="1"/>
          </p:cNvSpPr>
          <p:nvPr/>
        </p:nvSpPr>
        <p:spPr>
          <a:xfrm>
            <a:off x="10553700" y="1571625"/>
            <a:ext cx="1181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05  비교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DF08AFD1-8534-427B-BAD1-9FD668C9B973}"/>
              </a:ext>
            </a:extLst>
          </p:cNvPr>
          <p:cNvSpPr>
            <a:spLocks noGrp="1"/>
          </p:cNvSpPr>
          <p:nvPr/>
        </p:nvSpPr>
        <p:spPr>
          <a:xfrm>
            <a:off x="10553700" y="1838325"/>
            <a:ext cx="1181100" cy="0"/>
          </a:xfrm>
          <a:prstGeom prst="line">
            <a:avLst/>
          </a:prstGeom>
          <a:noFill/>
          <a:ln w="1333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FC1AB3C-D464-41C0-94F6-F43E6DFBAF18}"/>
              </a:ext>
            </a:extLst>
          </p:cNvPr>
          <p:cNvSpPr>
            <a:spLocks noGrp="1"/>
          </p:cNvSpPr>
          <p:nvPr/>
        </p:nvSpPr>
        <p:spPr>
          <a:xfrm>
            <a:off x="457200" y="2600325"/>
            <a:ext cx="1447800" cy="1952625"/>
          </a:xfrm>
          <a:prstGeom prst="roundRect">
            <a:avLst>
              <a:gd name="adj" fmla="val 8553"/>
            </a:avLst>
          </a:prstGeom>
          <a:solidFill>
            <a:srgbClr val="F7F9F8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20BE554-CD5F-418B-B785-90610864BF13}"/>
              </a:ext>
            </a:extLst>
          </p:cNvPr>
          <p:cNvSpPr>
            <a:spLocks noGrp="1"/>
          </p:cNvSpPr>
          <p:nvPr/>
        </p:nvSpPr>
        <p:spPr>
          <a:xfrm>
            <a:off x="542925" y="271462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34" name="그래픽 124">
            <a:extLst>
              <a:ext uri="{FF2B5EF4-FFF2-40B4-BE49-F238E27FC236}">
                <a16:creationId xmlns:a16="http://schemas.microsoft.com/office/drawing/2014/main" id="{FC7E2068-952A-49EC-A508-6C838294A7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0075" y="2771775"/>
            <a:ext cx="228600" cy="228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0C624C-7ECF-4D83-AAF5-EB643F9E9906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828675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FIXED EVAL SET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5CAC17-6C46-47A7-80E3-60E0EBF1E170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8286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고정 질문과</a:t>
            </a:r>
          </a:p>
          <a:p>
            <a:pPr algn="l">
              <a:buNone/>
              <a:def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명시된 정답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FAF8CB-8440-4C9D-BDCA-3C5C7ED80D19}"/>
              </a:ext>
            </a:extLst>
          </p:cNvPr>
          <p:cNvSpPr>
            <a:spLocks noGrp="1"/>
          </p:cNvSpPr>
          <p:nvPr/>
        </p:nvSpPr>
        <p:spPr>
          <a:xfrm>
            <a:off x="952500" y="3190875"/>
            <a:ext cx="82867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Agent 24건</a:t>
            </a:r>
          </a:p>
          <a:p>
            <a:pPr algn="l">
              <a:buNone/>
              <a:def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정책 RAG 24건</a:t>
            </a:r>
          </a:p>
          <a:p>
            <a:pPr algn="l">
              <a:buNone/>
              <a:def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권한 11건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0D3C1EE-76AB-4A6D-A491-B8C54762E289}"/>
              </a:ext>
            </a:extLst>
          </p:cNvPr>
          <p:cNvSpPr>
            <a:spLocks noGrp="1"/>
          </p:cNvSpPr>
          <p:nvPr/>
        </p:nvSpPr>
        <p:spPr>
          <a:xfrm>
            <a:off x="571500" y="4171950"/>
            <a:ext cx="41910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2E6F9F"/>
            </a:solidFill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buNone/>
              <a:defRPr sz="585" b="1">
                <a:solidFill>
                  <a:srgbClr val="2E6F9F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1">
                <a:solidFill>
                  <a:srgbClr val="2E6F9F"/>
                </a:solidFill>
                <a:latin typeface="Noto Sans KR"/>
                <a:ea typeface="Noto Sans KR"/>
                <a:cs typeface="Noto Sans KR"/>
              </a:rPr>
              <a:t>리뷰 분석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1E55B1-B9DC-4D2E-BCA5-BDA8D2459E2E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27664F"/>
            </a:solidFill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buNone/>
              <a:defRPr sz="58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정책 RAG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41073ED-9FB0-40A5-93DA-2F0FE273F5BE}"/>
              </a:ext>
            </a:extLst>
          </p:cNvPr>
          <p:cNvSpPr>
            <a:spLocks noGrp="1"/>
          </p:cNvSpPr>
          <p:nvPr/>
        </p:nvSpPr>
        <p:spPr>
          <a:xfrm>
            <a:off x="1562100" y="4171950"/>
            <a:ext cx="2857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A56216"/>
            </a:solidFill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buNone/>
              <a:defRPr sz="585" b="1">
                <a:solidFill>
                  <a:srgbClr val="A56216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1">
                <a:solidFill>
                  <a:srgbClr val="A56216"/>
                </a:solidFill>
                <a:latin typeface="Noto Sans KR"/>
                <a:ea typeface="Noto Sans KR"/>
                <a:cs typeface="Noto Sans KR"/>
              </a:rPr>
              <a:t>권한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422EFA6-8D7B-4DDF-9885-C86C4B70D76B}"/>
              </a:ext>
            </a:extLst>
          </p:cNvPr>
          <p:cNvSpPr>
            <a:spLocks noGrp="1"/>
          </p:cNvSpPr>
          <p:nvPr/>
        </p:nvSpPr>
        <p:spPr>
          <a:xfrm>
            <a:off x="2171700" y="2381250"/>
            <a:ext cx="4000500" cy="0"/>
          </a:xfrm>
          <a:prstGeom prst="line">
            <a:avLst/>
          </a:prstGeom>
          <a:noFill/>
          <a:ln w="952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EB62608A-EB28-4895-9D5A-093010E526BE}"/>
              </a:ext>
            </a:extLst>
          </p:cNvPr>
          <p:cNvSpPr>
            <a:spLocks noGrp="1"/>
          </p:cNvSpPr>
          <p:nvPr/>
        </p:nvSpPr>
        <p:spPr>
          <a:xfrm>
            <a:off x="2171700" y="4714875"/>
            <a:ext cx="4000500" cy="0"/>
          </a:xfrm>
          <a:prstGeom prst="line">
            <a:avLst/>
          </a:prstGeom>
          <a:noFill/>
          <a:ln w="952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EF1ECC3-B829-4C77-B93B-06CD125F7096}"/>
              </a:ext>
            </a:extLst>
          </p:cNvPr>
          <p:cNvSpPr>
            <a:spLocks noGrp="1"/>
          </p:cNvSpPr>
          <p:nvPr/>
        </p:nvSpPr>
        <p:spPr>
          <a:xfrm>
            <a:off x="2714625" y="2552700"/>
            <a:ext cx="2857500" cy="857250"/>
          </a:xfrm>
          <a:prstGeom prst="roundRect">
            <a:avLst>
              <a:gd name="adj" fmla="val 10317"/>
            </a:avLst>
          </a:prstGeom>
          <a:solidFill>
            <a:srgbClr val="EDF6FC"/>
          </a:solidFill>
          <a:ln w="11430">
            <a:solidFill>
              <a:srgbClr val="2E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91F633-E43D-45D6-AF77-DBE7BA696398}"/>
              </a:ext>
            </a:extLst>
          </p:cNvPr>
          <p:cNvSpPr>
            <a:spLocks noGrp="1"/>
          </p:cNvSpPr>
          <p:nvPr/>
        </p:nvSpPr>
        <p:spPr>
          <a:xfrm>
            <a:off x="2857500" y="2647950"/>
            <a:ext cx="1238250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API PROFILE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13BB5E6-8597-4351-8A21-2C1FFF31CF59}"/>
              </a:ext>
            </a:extLst>
          </p:cNvPr>
          <p:cNvSpPr>
            <a:spLocks noGrp="1"/>
          </p:cNvSpPr>
          <p:nvPr/>
        </p:nvSpPr>
        <p:spPr>
          <a:xfrm>
            <a:off x="5143500" y="2619375"/>
            <a:ext cx="323850" cy="3238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46" name="그래픽 136">
            <a:extLst>
              <a:ext uri="{FF2B5EF4-FFF2-40B4-BE49-F238E27FC236}">
                <a16:creationId xmlns:a16="http://schemas.microsoft.com/office/drawing/2014/main" id="{62EA3D92-D94E-45CD-B613-1E4B2B8FF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10175" y="2686050"/>
            <a:ext cx="190500" cy="19050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92A3AB-7E4F-48D6-92DA-B3D330B27413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3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0D7CEC-9886-4A8D-8B5A-FB63AC6A4D2F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Terra Agent</a:t>
            </a:r>
          </a:p>
          <a:p>
            <a:pPr algn="l">
              <a:buNone/>
              <a:def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Luna Extractor · 근거 판정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EBAC5C6-A9BB-4A5B-B85E-8A26807D9E0B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95250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2E6F9F"/>
            </a:solidFill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buNone/>
              <a:defRPr sz="585" b="1">
                <a:solidFill>
                  <a:srgbClr val="2E6F9F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1">
                <a:solidFill>
                  <a:srgbClr val="2E6F9F"/>
                </a:solidFill>
                <a:latin typeface="Noto Sans KR"/>
                <a:ea typeface="Noto Sans KR"/>
                <a:cs typeface="Noto Sans KR"/>
              </a:rPr>
              <a:t>Terra · Luna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EAAE1F7-86F5-410E-9708-8FB9914E8539}"/>
              </a:ext>
            </a:extLst>
          </p:cNvPr>
          <p:cNvSpPr>
            <a:spLocks noGrp="1"/>
          </p:cNvSpPr>
          <p:nvPr/>
        </p:nvSpPr>
        <p:spPr>
          <a:xfrm>
            <a:off x="2714625" y="3714750"/>
            <a:ext cx="2857500" cy="857250"/>
          </a:xfrm>
          <a:prstGeom prst="roundRect">
            <a:avLst>
              <a:gd name="adj" fmla="val 10317"/>
            </a:avLst>
          </a:prstGeom>
          <a:solidFill>
            <a:srgbClr val="EDF7F2"/>
          </a:solidFill>
          <a:ln w="22860">
            <a:solidFill>
              <a:srgbClr val="27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66FA7C-775C-4DED-9FF7-7C896B825525}"/>
              </a:ext>
            </a:extLst>
          </p:cNvPr>
          <p:cNvSpPr>
            <a:spLocks noGrp="1"/>
          </p:cNvSpPr>
          <p:nvPr/>
        </p:nvSpPr>
        <p:spPr>
          <a:xfrm>
            <a:off x="2857500" y="3810000"/>
            <a:ext cx="1238250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LOCAL PROFILE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820688B-1023-4CE6-B5C3-5C18768AEDDF}"/>
              </a:ext>
            </a:extLst>
          </p:cNvPr>
          <p:cNvSpPr>
            <a:spLocks noGrp="1"/>
          </p:cNvSpPr>
          <p:nvPr/>
        </p:nvSpPr>
        <p:spPr>
          <a:xfrm>
            <a:off x="5143500" y="3781425"/>
            <a:ext cx="323850" cy="3238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3" name="그래픽 143">
            <a:extLst>
              <a:ext uri="{FF2B5EF4-FFF2-40B4-BE49-F238E27FC236}">
                <a16:creationId xmlns:a16="http://schemas.microsoft.com/office/drawing/2014/main" id="{F6F1FF07-BE1C-4508-9EF0-0BCFED168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210175" y="3848100"/>
            <a:ext cx="190500" cy="190500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3A64EC-E201-4230-B139-148B9A3EE6D6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GPT-OSS 20B Agent</a:t>
            </a:r>
          </a:p>
          <a:p>
            <a:pPr algn="l">
              <a:buNone/>
              <a:def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82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Qwen3-8B Extractor · 근거 판정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9EE1B44-7480-42A0-B4F5-C2375A031AFD}"/>
              </a:ext>
            </a:extLst>
          </p:cNvPr>
          <p:cNvSpPr>
            <a:spLocks noGrp="1"/>
          </p:cNvSpPr>
          <p:nvPr/>
        </p:nvSpPr>
        <p:spPr>
          <a:xfrm>
            <a:off x="4476750" y="4267200"/>
            <a:ext cx="95250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27664F"/>
            </a:solidFill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buNone/>
              <a:defRPr sz="58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GPT-OSS · Qwen3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68CF86D-C0FA-4C8A-9D5C-0D50CD62D51A}"/>
              </a:ext>
            </a:extLst>
          </p:cNvPr>
          <p:cNvSpPr>
            <a:spLocks noGrp="1"/>
          </p:cNvSpPr>
          <p:nvPr/>
        </p:nvSpPr>
        <p:spPr>
          <a:xfrm>
            <a:off x="2857500" y="401955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3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Local vLLM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23717BE-143D-47E0-9DF4-25B8F7324F31}"/>
              </a:ext>
            </a:extLst>
          </p:cNvPr>
          <p:cNvSpPr>
            <a:spLocks noGrp="1"/>
          </p:cNvSpPr>
          <p:nvPr/>
        </p:nvSpPr>
        <p:spPr>
          <a:xfrm>
            <a:off x="6457950" y="2733676"/>
            <a:ext cx="1524000" cy="1666875"/>
          </a:xfrm>
          <a:prstGeom prst="roundRect">
            <a:avLst>
              <a:gd name="adj" fmla="val 8125"/>
            </a:avLst>
          </a:prstGeom>
          <a:solidFill>
            <a:srgbClr val="F8FBFA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B9DC130-0368-40DC-A38D-9EBF2A3FA684}"/>
              </a:ext>
            </a:extLst>
          </p:cNvPr>
          <p:cNvSpPr>
            <a:spLocks noGrp="1"/>
          </p:cNvSpPr>
          <p:nvPr/>
        </p:nvSpPr>
        <p:spPr>
          <a:xfrm>
            <a:off x="6543675" y="3000375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8" name="그래픽 158">
            <a:extLst>
              <a:ext uri="{FF2B5EF4-FFF2-40B4-BE49-F238E27FC236}">
                <a16:creationId xmlns:a16="http://schemas.microsoft.com/office/drawing/2014/main" id="{317CA2AB-168D-487E-AE76-0EB96293F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00825" y="2905126"/>
            <a:ext cx="228600" cy="228600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A7E29706-BE3C-421E-BE28-C04B6699A6BA}"/>
              </a:ext>
            </a:extLst>
          </p:cNvPr>
          <p:cNvSpPr>
            <a:spLocks noGrp="1"/>
          </p:cNvSpPr>
          <p:nvPr/>
        </p:nvSpPr>
        <p:spPr>
          <a:xfrm>
            <a:off x="6953250" y="2838451"/>
            <a:ext cx="904875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EXECUTION TRACE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DC77112-2B8C-4A16-B2E8-DAC954159576}"/>
              </a:ext>
            </a:extLst>
          </p:cNvPr>
          <p:cNvSpPr>
            <a:spLocks noGrp="1"/>
          </p:cNvSpPr>
          <p:nvPr/>
        </p:nvSpPr>
        <p:spPr>
          <a:xfrm>
            <a:off x="6953250" y="3009901"/>
            <a:ext cx="904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실행 결과 수집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FF9DBFE-9048-45F7-9888-ABAB7FBDB903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904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93A2176-E2C1-4B6D-ACB2-CE830324749D}"/>
              </a:ext>
            </a:extLst>
          </p:cNvPr>
          <p:cNvSpPr>
            <a:spLocks noGrp="1"/>
          </p:cNvSpPr>
          <p:nvPr/>
        </p:nvSpPr>
        <p:spPr>
          <a:xfrm>
            <a:off x="6591300" y="3562351"/>
            <a:ext cx="552450" cy="23812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6668">
            <a:solidFill>
              <a:srgbClr val="D8E3DE"/>
            </a:solidFill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buNone/>
              <a:def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Call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AB33BE1-DBBC-4595-9DE1-0349FD25F494}"/>
              </a:ext>
            </a:extLst>
          </p:cNvPr>
          <p:cNvSpPr>
            <a:spLocks noGrp="1"/>
          </p:cNvSpPr>
          <p:nvPr/>
        </p:nvSpPr>
        <p:spPr>
          <a:xfrm>
            <a:off x="7219950" y="3562351"/>
            <a:ext cx="552450" cy="23812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6668">
            <a:solidFill>
              <a:srgbClr val="D8E3DE"/>
            </a:solidFill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buNone/>
              <a:def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SQL 수치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BF0B33A-753A-46AB-8C6B-38A7B3DE7683}"/>
              </a:ext>
            </a:extLst>
          </p:cNvPr>
          <p:cNvSpPr>
            <a:spLocks noGrp="1"/>
          </p:cNvSpPr>
          <p:nvPr/>
        </p:nvSpPr>
        <p:spPr>
          <a:xfrm>
            <a:off x="6591300" y="3886201"/>
            <a:ext cx="552450" cy="23812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6668">
            <a:solidFill>
              <a:srgbClr val="D8E3DE"/>
            </a:solidFill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buNone/>
              <a:def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RAG 근거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755A0D0-1154-4E30-B536-2B0551298356}"/>
              </a:ext>
            </a:extLst>
          </p:cNvPr>
          <p:cNvSpPr>
            <a:spLocks noGrp="1"/>
          </p:cNvSpPr>
          <p:nvPr/>
        </p:nvSpPr>
        <p:spPr>
          <a:xfrm>
            <a:off x="7219950" y="3886201"/>
            <a:ext cx="552450" cy="23812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6668">
            <a:solidFill>
              <a:srgbClr val="D8E3DE"/>
            </a:solidFill>
            <a:prstDash val="solid"/>
          </a:ln>
        </p:spPr>
        <p:txBody>
          <a:bodyPr lIns="9525" tIns="0" rIns="9525" bIns="0" anchor="ctr">
            <a:normAutofit/>
          </a:bodyPr>
          <a:lstStyle/>
          <a:p>
            <a:pPr algn="ctr">
              <a:buNone/>
              <a:def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78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최종 답변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4055893-98D9-40BE-A32A-C54D3D349463}"/>
              </a:ext>
            </a:extLst>
          </p:cNvPr>
          <p:cNvSpPr>
            <a:spLocks noGrp="1"/>
          </p:cNvSpPr>
          <p:nvPr/>
        </p:nvSpPr>
        <p:spPr>
          <a:xfrm>
            <a:off x="8267700" y="2389505"/>
            <a:ext cx="2000250" cy="685800"/>
          </a:xfrm>
          <a:prstGeom prst="roundRect">
            <a:avLst>
              <a:gd name="adj" fmla="val 18056"/>
            </a:avLst>
          </a:prstGeom>
          <a:solidFill>
            <a:srgbClr val="EDF6FC"/>
          </a:solidFill>
          <a:ln w="11430">
            <a:solidFill>
              <a:srgbClr val="2E6F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505D48A-4CAE-48D7-8095-C8E025133AB8}"/>
              </a:ext>
            </a:extLst>
          </p:cNvPr>
          <p:cNvSpPr>
            <a:spLocks noGrp="1"/>
          </p:cNvSpPr>
          <p:nvPr/>
        </p:nvSpPr>
        <p:spPr>
          <a:xfrm>
            <a:off x="8334375" y="252285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78" name="그래픽 168">
            <a:extLst>
              <a:ext uri="{FF2B5EF4-FFF2-40B4-BE49-F238E27FC236}">
                <a16:creationId xmlns:a16="http://schemas.microsoft.com/office/drawing/2014/main" id="{70CBD9E4-9A90-42B0-98C4-952D7BBEAD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91525" y="2580005"/>
            <a:ext cx="209550" cy="20955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4A3D751B-D5FE-402B-9F64-B813D0DC4AA6}"/>
              </a:ext>
            </a:extLst>
          </p:cNvPr>
          <p:cNvSpPr>
            <a:spLocks noGrp="1"/>
          </p:cNvSpPr>
          <p:nvPr/>
        </p:nvSpPr>
        <p:spPr>
          <a:xfrm>
            <a:off x="8734425" y="2484755"/>
            <a:ext cx="140970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DETERMINISTIC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11ED5F2-FD93-4AC5-A868-48F8943D5B73}"/>
              </a:ext>
            </a:extLst>
          </p:cNvPr>
          <p:cNvSpPr>
            <a:spLocks noGrp="1"/>
          </p:cNvSpPr>
          <p:nvPr/>
        </p:nvSpPr>
        <p:spPr>
          <a:xfrm>
            <a:off x="8734425" y="2646680"/>
            <a:ext cx="1409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Tool·Rule 평가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E9D73F3-753E-4B55-B08F-A288F73D686F}"/>
              </a:ext>
            </a:extLst>
          </p:cNvPr>
          <p:cNvSpPr>
            <a:spLocks noGrp="1"/>
          </p:cNvSpPr>
          <p:nvPr/>
        </p:nvSpPr>
        <p:spPr>
          <a:xfrm>
            <a:off x="8734425" y="2875280"/>
            <a:ext cx="1409700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2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선택·인자·수치·금지 규칙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0C9CDEB9-8601-46D8-8117-40823D2FBD74}"/>
              </a:ext>
            </a:extLst>
          </p:cNvPr>
          <p:cNvSpPr>
            <a:spLocks noGrp="1"/>
          </p:cNvSpPr>
          <p:nvPr/>
        </p:nvSpPr>
        <p:spPr>
          <a:xfrm>
            <a:off x="8267700" y="3218180"/>
            <a:ext cx="2000250" cy="685800"/>
          </a:xfrm>
          <a:prstGeom prst="roundRect">
            <a:avLst>
              <a:gd name="adj" fmla="val 18056"/>
            </a:avLst>
          </a:prstGeom>
          <a:solidFill>
            <a:srgbClr val="EDF7F2"/>
          </a:solidFill>
          <a:ln w="11430">
            <a:solidFill>
              <a:srgbClr val="27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E31AE6A-018E-446C-AE83-6669634AB339}"/>
              </a:ext>
            </a:extLst>
          </p:cNvPr>
          <p:cNvSpPr>
            <a:spLocks noGrp="1"/>
          </p:cNvSpPr>
          <p:nvPr/>
        </p:nvSpPr>
        <p:spPr>
          <a:xfrm>
            <a:off x="8334375" y="335153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4" name="그래픽 174">
            <a:extLst>
              <a:ext uri="{FF2B5EF4-FFF2-40B4-BE49-F238E27FC236}">
                <a16:creationId xmlns:a16="http://schemas.microsoft.com/office/drawing/2014/main" id="{A2A2885A-6809-40E4-98C4-16F409546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391525" y="3408680"/>
            <a:ext cx="209550" cy="209550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172D5D4B-62A8-40B2-AC4F-7434FA8DFF7A}"/>
              </a:ext>
            </a:extLst>
          </p:cNvPr>
          <p:cNvSpPr>
            <a:spLocks noGrp="1"/>
          </p:cNvSpPr>
          <p:nvPr/>
        </p:nvSpPr>
        <p:spPr>
          <a:xfrm>
            <a:off x="8734425" y="3313430"/>
            <a:ext cx="140970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STAGE COMPARISON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4F9D158-A175-4342-BD2F-872F049324CB}"/>
              </a:ext>
            </a:extLst>
          </p:cNvPr>
          <p:cNvSpPr>
            <a:spLocks noGrp="1"/>
          </p:cNvSpPr>
          <p:nvPr/>
        </p:nvSpPr>
        <p:spPr>
          <a:xfrm>
            <a:off x="8734425" y="3475355"/>
            <a:ext cx="1409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RAG 단계 평가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1EBA908-2C52-4DE4-86FB-334B4A37C8B9}"/>
              </a:ext>
            </a:extLst>
          </p:cNvPr>
          <p:cNvSpPr>
            <a:spLocks noGrp="1"/>
          </p:cNvSpPr>
          <p:nvPr/>
        </p:nvSpPr>
        <p:spPr>
          <a:xfrm>
            <a:off x="8734425" y="3703955"/>
            <a:ext cx="1409700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2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검색·재정렬·근거 판정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6AB2872-0989-4181-957A-91A19CCE8ACF}"/>
              </a:ext>
            </a:extLst>
          </p:cNvPr>
          <p:cNvSpPr>
            <a:spLocks noGrp="1"/>
          </p:cNvSpPr>
          <p:nvPr/>
        </p:nvSpPr>
        <p:spPr>
          <a:xfrm>
            <a:off x="8267700" y="4046855"/>
            <a:ext cx="2000250" cy="685800"/>
          </a:xfrm>
          <a:prstGeom prst="roundRect">
            <a:avLst>
              <a:gd name="adj" fmla="val 18056"/>
            </a:avLst>
          </a:prstGeom>
          <a:solidFill>
            <a:srgbClr val="F1ECFB"/>
          </a:solidFill>
          <a:ln w="11430">
            <a:solidFill>
              <a:srgbClr val="6B4B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D4E5F0B-A74A-4643-8D2B-2605798E7536}"/>
              </a:ext>
            </a:extLst>
          </p:cNvPr>
          <p:cNvSpPr>
            <a:spLocks noGrp="1"/>
          </p:cNvSpPr>
          <p:nvPr/>
        </p:nvSpPr>
        <p:spPr>
          <a:xfrm>
            <a:off x="8334375" y="418020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90" name="그래픽 180">
            <a:extLst>
              <a:ext uri="{FF2B5EF4-FFF2-40B4-BE49-F238E27FC236}">
                <a16:creationId xmlns:a16="http://schemas.microsoft.com/office/drawing/2014/main" id="{F4E0D7BA-3366-4C78-8394-1CE91D3DD6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391525" y="4237355"/>
            <a:ext cx="209550" cy="209550"/>
          </a:xfrm>
          <a:prstGeom prst="rect">
            <a:avLst/>
          </a:prstGeom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8042100F-C84D-4385-9DA3-F655851E62EE}"/>
              </a:ext>
            </a:extLst>
          </p:cNvPr>
          <p:cNvSpPr>
            <a:spLocks noGrp="1"/>
          </p:cNvSpPr>
          <p:nvPr/>
        </p:nvSpPr>
        <p:spPr>
          <a:xfrm>
            <a:off x="8734425" y="4142105"/>
            <a:ext cx="1409700" cy="11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 JUDGE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B4B7AF7-102A-414B-9403-3071182F8CE2}"/>
              </a:ext>
            </a:extLst>
          </p:cNvPr>
          <p:cNvSpPr>
            <a:spLocks noGrp="1"/>
          </p:cNvSpPr>
          <p:nvPr/>
        </p:nvSpPr>
        <p:spPr>
          <a:xfrm>
            <a:off x="8734425" y="4304030"/>
            <a:ext cx="14097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1291"/>
          </a:bodyPr>
          <a:lstStyle/>
          <a:p>
            <a:pPr algn="l">
              <a:buNone/>
              <a:def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15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GPT-5.6 Sol · Gemma 3 27B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5E24610-BDB0-4E82-B7B8-17E00A92821A}"/>
              </a:ext>
            </a:extLst>
          </p:cNvPr>
          <p:cNvSpPr>
            <a:spLocks noGrp="1"/>
          </p:cNvSpPr>
          <p:nvPr/>
        </p:nvSpPr>
        <p:spPr>
          <a:xfrm>
            <a:off x="8734425" y="4522470"/>
            <a:ext cx="1409700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23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0" dirty="0" err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근거성·분석·업무</a:t>
            </a:r>
            <a:r>
              <a:rPr sz="623" b="0" dirty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623" b="0" dirty="0" err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활용성</a:t>
            </a:r>
            <a:endParaRPr sz="623" b="0" dirty="0">
              <a:solidFill>
                <a:srgbClr val="6471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5BF3A6D-14E2-4478-8E6D-63C9D031C882}"/>
              </a:ext>
            </a:extLst>
          </p:cNvPr>
          <p:cNvSpPr>
            <a:spLocks noGrp="1"/>
          </p:cNvSpPr>
          <p:nvPr/>
        </p:nvSpPr>
        <p:spPr>
          <a:xfrm>
            <a:off x="10553700" y="2675255"/>
            <a:ext cx="1181100" cy="1962150"/>
          </a:xfrm>
          <a:prstGeom prst="roundRect">
            <a:avLst>
              <a:gd name="adj" fmla="val 10484"/>
            </a:avLst>
          </a:prstGeom>
          <a:solidFill>
            <a:srgbClr val="FFFFFF"/>
          </a:solidFill>
          <a:ln w="19050">
            <a:solidFill>
              <a:srgbClr val="27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BD4D449-C729-43B8-AB07-49D70573CE14}"/>
              </a:ext>
            </a:extLst>
          </p:cNvPr>
          <p:cNvSpPr>
            <a:spLocks noGrp="1"/>
          </p:cNvSpPr>
          <p:nvPr/>
        </p:nvSpPr>
        <p:spPr>
          <a:xfrm>
            <a:off x="10677525" y="2789555"/>
            <a:ext cx="933450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SCORECARD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851138-943D-463F-A2BF-79B2A5F4353F}"/>
              </a:ext>
            </a:extLst>
          </p:cNvPr>
          <p:cNvSpPr>
            <a:spLocks noGrp="1"/>
          </p:cNvSpPr>
          <p:nvPr/>
        </p:nvSpPr>
        <p:spPr>
          <a:xfrm>
            <a:off x="10677525" y="2970530"/>
            <a:ext cx="933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비교 결과표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9BB6725E-879B-4812-AED9-595AD4C68529}"/>
              </a:ext>
            </a:extLst>
          </p:cNvPr>
          <p:cNvSpPr>
            <a:spLocks noGrp="1"/>
          </p:cNvSpPr>
          <p:nvPr/>
        </p:nvSpPr>
        <p:spPr>
          <a:xfrm>
            <a:off x="10677525" y="3342005"/>
            <a:ext cx="933450" cy="257175"/>
          </a:xfrm>
          <a:prstGeom prst="roundRect">
            <a:avLst>
              <a:gd name="adj" fmla="val 25926"/>
            </a:avLst>
          </a:prstGeom>
          <a:solidFill>
            <a:srgbClr val="F7F9F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96D323C0-5159-4E7F-B3EB-4962E71FB70E}"/>
              </a:ext>
            </a:extLst>
          </p:cNvPr>
          <p:cNvSpPr>
            <a:spLocks noGrp="1"/>
          </p:cNvSpPr>
          <p:nvPr/>
        </p:nvSpPr>
        <p:spPr>
          <a:xfrm>
            <a:off x="10753725" y="3437255"/>
            <a:ext cx="66675" cy="66675"/>
          </a:xfrm>
          <a:prstGeom prst="ellipse">
            <a:avLst/>
          </a:prstGeom>
          <a:solidFill>
            <a:srgbClr val="27664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17AF483-DE92-4743-8521-E4597AC49188}"/>
              </a:ext>
            </a:extLst>
          </p:cNvPr>
          <p:cNvSpPr>
            <a:spLocks noGrp="1"/>
          </p:cNvSpPr>
          <p:nvPr/>
        </p:nvSpPr>
        <p:spPr>
          <a:xfrm>
            <a:off x="10868025" y="3389630"/>
            <a:ext cx="666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통과 항목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88596F7-049B-43EB-8696-315EBA256583}"/>
              </a:ext>
            </a:extLst>
          </p:cNvPr>
          <p:cNvSpPr>
            <a:spLocks noGrp="1"/>
          </p:cNvSpPr>
          <p:nvPr/>
        </p:nvSpPr>
        <p:spPr>
          <a:xfrm>
            <a:off x="10677525" y="3675380"/>
            <a:ext cx="933450" cy="257175"/>
          </a:xfrm>
          <a:prstGeom prst="roundRect">
            <a:avLst>
              <a:gd name="adj" fmla="val 25926"/>
            </a:avLst>
          </a:prstGeom>
          <a:solidFill>
            <a:srgbClr val="F7F9F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3D35BD3-A575-4C86-A9B2-C260D969EB41}"/>
              </a:ext>
            </a:extLst>
          </p:cNvPr>
          <p:cNvSpPr>
            <a:spLocks noGrp="1"/>
          </p:cNvSpPr>
          <p:nvPr/>
        </p:nvSpPr>
        <p:spPr>
          <a:xfrm>
            <a:off x="10753725" y="3770630"/>
            <a:ext cx="66675" cy="66675"/>
          </a:xfrm>
          <a:prstGeom prst="ellipse">
            <a:avLst/>
          </a:prstGeom>
          <a:solidFill>
            <a:srgbClr val="A5621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ADB31-DB90-4B0D-BDE6-EDF6633FD038}"/>
              </a:ext>
            </a:extLst>
          </p:cNvPr>
          <p:cNvSpPr>
            <a:spLocks noGrp="1"/>
          </p:cNvSpPr>
          <p:nvPr/>
        </p:nvSpPr>
        <p:spPr>
          <a:xfrm>
            <a:off x="10868025" y="3723005"/>
            <a:ext cx="666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실패 위치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D462D292-313D-4F7A-875D-C56F110C615D}"/>
              </a:ext>
            </a:extLst>
          </p:cNvPr>
          <p:cNvSpPr>
            <a:spLocks noGrp="1"/>
          </p:cNvSpPr>
          <p:nvPr/>
        </p:nvSpPr>
        <p:spPr>
          <a:xfrm>
            <a:off x="10677525" y="4008755"/>
            <a:ext cx="933450" cy="257175"/>
          </a:xfrm>
          <a:prstGeom prst="roundRect">
            <a:avLst>
              <a:gd name="adj" fmla="val 25926"/>
            </a:avLst>
          </a:prstGeom>
          <a:solidFill>
            <a:srgbClr val="F7F9F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EB8C7C16-811F-40A0-8A9F-98961AD26BAC}"/>
              </a:ext>
            </a:extLst>
          </p:cNvPr>
          <p:cNvSpPr>
            <a:spLocks noGrp="1"/>
          </p:cNvSpPr>
          <p:nvPr/>
        </p:nvSpPr>
        <p:spPr>
          <a:xfrm>
            <a:off x="10753725" y="4104005"/>
            <a:ext cx="66675" cy="66675"/>
          </a:xfrm>
          <a:prstGeom prst="ellipse">
            <a:avLst/>
          </a:prstGeom>
          <a:solidFill>
            <a:srgbClr val="6B4BB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A761228-3706-426D-8088-2223835BA583}"/>
              </a:ext>
            </a:extLst>
          </p:cNvPr>
          <p:cNvSpPr>
            <a:spLocks noGrp="1"/>
          </p:cNvSpPr>
          <p:nvPr/>
        </p:nvSpPr>
        <p:spPr>
          <a:xfrm>
            <a:off x="10868025" y="4056380"/>
            <a:ext cx="666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65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품질 차이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8C66EC5-DF49-4EAD-AD82-4CBE20E139F3}"/>
              </a:ext>
            </a:extLst>
          </p:cNvPr>
          <p:cNvSpPr>
            <a:spLocks noGrp="1"/>
          </p:cNvSpPr>
          <p:nvPr/>
        </p:nvSpPr>
        <p:spPr>
          <a:xfrm>
            <a:off x="10677525" y="4351655"/>
            <a:ext cx="933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58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총점보다 실패 원인과</a:t>
            </a:r>
          </a:p>
          <a:p>
            <a:pPr algn="l">
              <a:buNone/>
              <a:defRPr sz="58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8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모델 간 차이를 기록</a:t>
            </a:r>
          </a:p>
        </p:txBody>
      </p:sp>
      <p:sp>
        <p:nvSpPr>
          <p:cNvPr id="89" name="직선 연결선 88">
            <a:extLst>
              <a:ext uri="{FF2B5EF4-FFF2-40B4-BE49-F238E27FC236}">
                <a16:creationId xmlns:a16="http://schemas.microsoft.com/office/drawing/2014/main" id="{BB85C6CF-C3C9-41E7-A434-F06392DE9537}"/>
              </a:ext>
            </a:extLst>
          </p:cNvPr>
          <p:cNvSpPr>
            <a:spLocks noGrp="1"/>
          </p:cNvSpPr>
          <p:nvPr/>
        </p:nvSpPr>
        <p:spPr>
          <a:xfrm>
            <a:off x="1905000" y="3571875"/>
            <a:ext cx="457200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직선 연결선 90">
            <a:extLst>
              <a:ext uri="{FF2B5EF4-FFF2-40B4-BE49-F238E27FC236}">
                <a16:creationId xmlns:a16="http://schemas.microsoft.com/office/drawing/2014/main" id="{8969A9AC-10E2-484F-924D-90C72438BD1F}"/>
              </a:ext>
            </a:extLst>
          </p:cNvPr>
          <p:cNvSpPr>
            <a:spLocks noGrp="1"/>
          </p:cNvSpPr>
          <p:nvPr/>
        </p:nvSpPr>
        <p:spPr>
          <a:xfrm>
            <a:off x="7981950" y="3562349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직선 연결선 91">
            <a:extLst>
              <a:ext uri="{FF2B5EF4-FFF2-40B4-BE49-F238E27FC236}">
                <a16:creationId xmlns:a16="http://schemas.microsoft.com/office/drawing/2014/main" id="{D9AC0A4A-F47A-439A-9D21-4410D690F3AB}"/>
              </a:ext>
            </a:extLst>
          </p:cNvPr>
          <p:cNvSpPr>
            <a:spLocks noGrp="1"/>
          </p:cNvSpPr>
          <p:nvPr/>
        </p:nvSpPr>
        <p:spPr>
          <a:xfrm>
            <a:off x="8124825" y="2732405"/>
            <a:ext cx="0" cy="165735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직선 연결선 92">
            <a:extLst>
              <a:ext uri="{FF2B5EF4-FFF2-40B4-BE49-F238E27FC236}">
                <a16:creationId xmlns:a16="http://schemas.microsoft.com/office/drawing/2014/main" id="{B27F3FFE-A062-4688-9E02-1C829FE60CBE}"/>
              </a:ext>
            </a:extLst>
          </p:cNvPr>
          <p:cNvSpPr>
            <a:spLocks noGrp="1"/>
          </p:cNvSpPr>
          <p:nvPr/>
        </p:nvSpPr>
        <p:spPr>
          <a:xfrm>
            <a:off x="8124825" y="2732405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직선 연결선 93">
            <a:extLst>
              <a:ext uri="{FF2B5EF4-FFF2-40B4-BE49-F238E27FC236}">
                <a16:creationId xmlns:a16="http://schemas.microsoft.com/office/drawing/2014/main" id="{497DF05B-8B43-484F-A24D-702B93A67813}"/>
              </a:ext>
            </a:extLst>
          </p:cNvPr>
          <p:cNvSpPr>
            <a:spLocks noGrp="1"/>
          </p:cNvSpPr>
          <p:nvPr/>
        </p:nvSpPr>
        <p:spPr>
          <a:xfrm>
            <a:off x="8124825" y="3561080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직선 연결선 94">
            <a:extLst>
              <a:ext uri="{FF2B5EF4-FFF2-40B4-BE49-F238E27FC236}">
                <a16:creationId xmlns:a16="http://schemas.microsoft.com/office/drawing/2014/main" id="{6F1C4ADA-0B01-49C7-B9DE-91EAAB853501}"/>
              </a:ext>
            </a:extLst>
          </p:cNvPr>
          <p:cNvSpPr>
            <a:spLocks noGrp="1"/>
          </p:cNvSpPr>
          <p:nvPr/>
        </p:nvSpPr>
        <p:spPr>
          <a:xfrm>
            <a:off x="8124825" y="4389755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직선 연결선 95">
            <a:extLst>
              <a:ext uri="{FF2B5EF4-FFF2-40B4-BE49-F238E27FC236}">
                <a16:creationId xmlns:a16="http://schemas.microsoft.com/office/drawing/2014/main" id="{6C598B6A-2D7C-4B80-B99C-E6CE6A2D9818}"/>
              </a:ext>
            </a:extLst>
          </p:cNvPr>
          <p:cNvSpPr>
            <a:spLocks noGrp="1"/>
          </p:cNvSpPr>
          <p:nvPr/>
        </p:nvSpPr>
        <p:spPr>
          <a:xfrm>
            <a:off x="10267950" y="2732405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직선 연결선 96">
            <a:extLst>
              <a:ext uri="{FF2B5EF4-FFF2-40B4-BE49-F238E27FC236}">
                <a16:creationId xmlns:a16="http://schemas.microsoft.com/office/drawing/2014/main" id="{7E40DDEF-2BDF-404B-B992-07D44B7BC8B4}"/>
              </a:ext>
            </a:extLst>
          </p:cNvPr>
          <p:cNvSpPr>
            <a:spLocks noGrp="1"/>
          </p:cNvSpPr>
          <p:nvPr/>
        </p:nvSpPr>
        <p:spPr>
          <a:xfrm>
            <a:off x="10267950" y="3561080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직선 연결선 97">
            <a:extLst>
              <a:ext uri="{FF2B5EF4-FFF2-40B4-BE49-F238E27FC236}">
                <a16:creationId xmlns:a16="http://schemas.microsoft.com/office/drawing/2014/main" id="{B3625A52-9BB6-4AE0-94C4-756066A0963F}"/>
              </a:ext>
            </a:extLst>
          </p:cNvPr>
          <p:cNvSpPr>
            <a:spLocks noGrp="1"/>
          </p:cNvSpPr>
          <p:nvPr/>
        </p:nvSpPr>
        <p:spPr>
          <a:xfrm>
            <a:off x="10267950" y="4389755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직선 연결선 98">
            <a:extLst>
              <a:ext uri="{FF2B5EF4-FFF2-40B4-BE49-F238E27FC236}">
                <a16:creationId xmlns:a16="http://schemas.microsoft.com/office/drawing/2014/main" id="{EE5BAC8A-6B3B-4322-8E57-E5B8BD2F120F}"/>
              </a:ext>
            </a:extLst>
          </p:cNvPr>
          <p:cNvSpPr>
            <a:spLocks noGrp="1"/>
          </p:cNvSpPr>
          <p:nvPr/>
        </p:nvSpPr>
        <p:spPr>
          <a:xfrm>
            <a:off x="10410825" y="2732405"/>
            <a:ext cx="0" cy="165735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직선 연결선 99">
            <a:extLst>
              <a:ext uri="{FF2B5EF4-FFF2-40B4-BE49-F238E27FC236}">
                <a16:creationId xmlns:a16="http://schemas.microsoft.com/office/drawing/2014/main" id="{9CA92CED-DBDA-41B4-AE0B-BD8A4287598F}"/>
              </a:ext>
            </a:extLst>
          </p:cNvPr>
          <p:cNvSpPr>
            <a:spLocks noGrp="1"/>
          </p:cNvSpPr>
          <p:nvPr/>
        </p:nvSpPr>
        <p:spPr>
          <a:xfrm>
            <a:off x="10410825" y="3561080"/>
            <a:ext cx="142875" cy="0"/>
          </a:xfrm>
          <a:prstGeom prst="line">
            <a:avLst/>
          </a:prstGeom>
          <a:noFill/>
          <a:ln w="16193">
            <a:solidFill>
              <a:srgbClr val="8B99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0B5ED88-4912-43DD-933C-F35485933358}"/>
              </a:ext>
            </a:extLst>
          </p:cNvPr>
          <p:cNvSpPr>
            <a:spLocks noGrp="1"/>
          </p:cNvSpPr>
          <p:nvPr/>
        </p:nvSpPr>
        <p:spPr>
          <a:xfrm>
            <a:off x="3314700" y="5143500"/>
            <a:ext cx="8420100" cy="428625"/>
          </a:xfrm>
          <a:prstGeom prst="roundRect">
            <a:avLst>
              <a:gd name="adj" fmla="val 28889"/>
            </a:avLst>
          </a:prstGeom>
          <a:solidFill>
            <a:srgbClr val="FFF5E6"/>
          </a:solidFill>
          <a:ln w="11430">
            <a:solidFill>
              <a:srgbClr val="A5621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03EEC5A-AF69-41A3-81D5-C3D53EB6C463}"/>
              </a:ext>
            </a:extLst>
          </p:cNvPr>
          <p:cNvSpPr>
            <a:spLocks noGrp="1"/>
          </p:cNvSpPr>
          <p:nvPr/>
        </p:nvSpPr>
        <p:spPr>
          <a:xfrm>
            <a:off x="3476625" y="5257800"/>
            <a:ext cx="12763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73" b="1">
                <a:solidFill>
                  <a:srgbClr val="A56216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A56216"/>
                </a:solidFill>
                <a:latin typeface="Noto Sans KR"/>
                <a:ea typeface="Noto Sans KR"/>
                <a:cs typeface="Noto Sans KR"/>
              </a:rPr>
              <a:t>평가 결과 기반 개선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B1DC837-D256-451B-8CC0-87C4C5445EEC}"/>
              </a:ext>
            </a:extLst>
          </p:cNvPr>
          <p:cNvSpPr>
            <a:spLocks noGrp="1"/>
          </p:cNvSpPr>
          <p:nvPr/>
        </p:nvSpPr>
        <p:spPr>
          <a:xfrm>
            <a:off x="4848225" y="5257800"/>
            <a:ext cx="4048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28" b="1">
                <a:solidFill>
                  <a:srgbClr val="765023"/>
                </a:solidFill>
                <a:latin typeface="Noto Sans KR"/>
                <a:ea typeface="Noto Sans KR"/>
                <a:cs typeface="Noto Sans KR"/>
              </a:defRPr>
            </a:pPr>
            <a:r>
              <a:rPr sz="728" b="1">
                <a:solidFill>
                  <a:srgbClr val="765023"/>
                </a:solidFill>
                <a:latin typeface="Noto Sans KR"/>
                <a:ea typeface="Noto Sans KR"/>
                <a:cs typeface="Noto Sans KR"/>
              </a:rPr>
              <a:t>Prompt · 모델 역할 · 검색 설정 · 평가 사례 보완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86F8A00-55C4-47B7-A396-48E0085CE34C}"/>
              </a:ext>
            </a:extLst>
          </p:cNvPr>
          <p:cNvSpPr>
            <a:spLocks noGrp="1"/>
          </p:cNvSpPr>
          <p:nvPr/>
        </p:nvSpPr>
        <p:spPr>
          <a:xfrm>
            <a:off x="9753600" y="52578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705" b="1">
                <a:solidFill>
                  <a:srgbClr val="765023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765023"/>
                </a:solidFill>
                <a:latin typeface="Noto Sans KR"/>
                <a:ea typeface="Noto Sans KR"/>
                <a:cs typeface="Noto Sans KR"/>
              </a:rPr>
              <a:t>고정 평가 세트로 재실행 ↩</a:t>
            </a:r>
          </a:p>
        </p:txBody>
      </p:sp>
      <p:sp>
        <p:nvSpPr>
          <p:cNvPr id="105" name="직선 연결선 104">
            <a:extLst>
              <a:ext uri="{FF2B5EF4-FFF2-40B4-BE49-F238E27FC236}">
                <a16:creationId xmlns:a16="http://schemas.microsoft.com/office/drawing/2014/main" id="{79A1F1F5-C0D5-4A4E-BB64-C3DDFF7DDD87}"/>
              </a:ext>
            </a:extLst>
          </p:cNvPr>
          <p:cNvSpPr>
            <a:spLocks noGrp="1"/>
          </p:cNvSpPr>
          <p:nvPr/>
        </p:nvSpPr>
        <p:spPr>
          <a:xfrm flipH="1">
            <a:off x="11144250" y="4637405"/>
            <a:ext cx="1270" cy="506095"/>
          </a:xfrm>
          <a:prstGeom prst="line">
            <a:avLst/>
          </a:prstGeom>
          <a:noFill/>
          <a:ln w="13335">
            <a:solidFill>
              <a:srgbClr val="A5621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6" name="직선 연결선 105">
            <a:extLst>
              <a:ext uri="{FF2B5EF4-FFF2-40B4-BE49-F238E27FC236}">
                <a16:creationId xmlns:a16="http://schemas.microsoft.com/office/drawing/2014/main" id="{7707960D-F9DB-4C19-AB35-4E4CE6DC880D}"/>
              </a:ext>
            </a:extLst>
          </p:cNvPr>
          <p:cNvSpPr>
            <a:spLocks noGrp="1"/>
          </p:cNvSpPr>
          <p:nvPr/>
        </p:nvSpPr>
        <p:spPr>
          <a:xfrm>
            <a:off x="4226560" y="4591050"/>
            <a:ext cx="3810" cy="551180"/>
          </a:xfrm>
          <a:prstGeom prst="line">
            <a:avLst/>
          </a:prstGeom>
          <a:noFill/>
          <a:ln w="13335">
            <a:solidFill>
              <a:srgbClr val="A5621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7" name="직선 연결선 106">
            <a:extLst>
              <a:ext uri="{FF2B5EF4-FFF2-40B4-BE49-F238E27FC236}">
                <a16:creationId xmlns:a16="http://schemas.microsoft.com/office/drawing/2014/main" id="{5438E92F-BC03-4F63-9D78-CA5883284336}"/>
              </a:ext>
            </a:extLst>
          </p:cNvPr>
          <p:cNvSpPr>
            <a:spLocks noGrp="1"/>
          </p:cNvSpPr>
          <p:nvPr/>
        </p:nvSpPr>
        <p:spPr>
          <a:xfrm>
            <a:off x="457200" y="6191250"/>
            <a:ext cx="11277600" cy="0"/>
          </a:xfrm>
          <a:prstGeom prst="line">
            <a:avLst/>
          </a:prstGeom>
          <a:noFill/>
          <a:ln w="9525">
            <a:solidFill>
              <a:srgbClr val="D8E3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F2C96383-8D82-4A2F-8CF8-0FDF97CDDB8D}"/>
              </a:ext>
            </a:extLst>
          </p:cNvPr>
          <p:cNvSpPr>
            <a:spLocks noGrp="1"/>
          </p:cNvSpPr>
          <p:nvPr/>
        </p:nvSpPr>
        <p:spPr>
          <a:xfrm>
            <a:off x="457200" y="6315075"/>
            <a:ext cx="55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모델 역할: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038DC3C-7E11-4642-964A-7D7FDC4ABA5B}"/>
              </a:ext>
            </a:extLst>
          </p:cNvPr>
          <p:cNvSpPr>
            <a:spLocks noGrp="1"/>
          </p:cNvSpPr>
          <p:nvPr/>
        </p:nvSpPr>
        <p:spPr>
          <a:xfrm>
            <a:off x="1066800" y="63150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65" b="1">
                <a:solidFill>
                  <a:srgbClr val="46564F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46564F"/>
                </a:solidFill>
                <a:latin typeface="Noto Sans KR"/>
                <a:ea typeface="Noto Sans KR"/>
                <a:cs typeface="Noto Sans KR"/>
              </a:rPr>
              <a:t>API는 Terra·Luna, Local은 GPT-OSS 20B·Qwen3-8B로 실행합니다. 결과는 Sol 또는 Gemma가 같은 Scorecard로 평가합니다.</a:t>
            </a:r>
          </a:p>
        </p:txBody>
      </p:sp>
      <p:sp>
        <p:nvSpPr>
          <p:cNvPr id="191" name="직선 연결선 190">
            <a:extLst>
              <a:ext uri="{FF2B5EF4-FFF2-40B4-BE49-F238E27FC236}">
                <a16:creationId xmlns:a16="http://schemas.microsoft.com/office/drawing/2014/main" id="{8401E594-A98E-4BD4-BD76-35F1006E356C}"/>
              </a:ext>
            </a:extLst>
          </p:cNvPr>
          <p:cNvSpPr>
            <a:spLocks noGrp="1"/>
          </p:cNvSpPr>
          <p:nvPr/>
        </p:nvSpPr>
        <p:spPr>
          <a:xfrm>
            <a:off x="2362200" y="2981325"/>
            <a:ext cx="0" cy="116205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직선 연결선 191">
            <a:extLst>
              <a:ext uri="{FF2B5EF4-FFF2-40B4-BE49-F238E27FC236}">
                <a16:creationId xmlns:a16="http://schemas.microsoft.com/office/drawing/2014/main" id="{ACBF28D1-D7FC-4479-8003-B1AB409B1F9B}"/>
              </a:ext>
            </a:extLst>
          </p:cNvPr>
          <p:cNvSpPr>
            <a:spLocks noGrp="1"/>
          </p:cNvSpPr>
          <p:nvPr/>
        </p:nvSpPr>
        <p:spPr>
          <a:xfrm>
            <a:off x="2362200" y="2981325"/>
            <a:ext cx="352425" cy="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직선 연결선 192">
            <a:extLst>
              <a:ext uri="{FF2B5EF4-FFF2-40B4-BE49-F238E27FC236}">
                <a16:creationId xmlns:a16="http://schemas.microsoft.com/office/drawing/2014/main" id="{44BD2E96-9616-4FC4-8E13-1FFB209DAF88}"/>
              </a:ext>
            </a:extLst>
          </p:cNvPr>
          <p:cNvSpPr>
            <a:spLocks noGrp="1"/>
          </p:cNvSpPr>
          <p:nvPr/>
        </p:nvSpPr>
        <p:spPr>
          <a:xfrm>
            <a:off x="2362200" y="4143375"/>
            <a:ext cx="352425" cy="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직선 연결선 193">
            <a:extLst>
              <a:ext uri="{FF2B5EF4-FFF2-40B4-BE49-F238E27FC236}">
                <a16:creationId xmlns:a16="http://schemas.microsoft.com/office/drawing/2014/main" id="{72F42B3C-2BA7-4BA5-B6CA-6C81519BA18D}"/>
              </a:ext>
            </a:extLst>
          </p:cNvPr>
          <p:cNvSpPr>
            <a:spLocks noGrp="1"/>
          </p:cNvSpPr>
          <p:nvPr/>
        </p:nvSpPr>
        <p:spPr>
          <a:xfrm>
            <a:off x="5572125" y="2981325"/>
            <a:ext cx="238125" cy="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직선 연결선 194">
            <a:extLst>
              <a:ext uri="{FF2B5EF4-FFF2-40B4-BE49-F238E27FC236}">
                <a16:creationId xmlns:a16="http://schemas.microsoft.com/office/drawing/2014/main" id="{5D572562-2275-41E6-911C-E826ED324261}"/>
              </a:ext>
            </a:extLst>
          </p:cNvPr>
          <p:cNvSpPr>
            <a:spLocks noGrp="1"/>
          </p:cNvSpPr>
          <p:nvPr/>
        </p:nvSpPr>
        <p:spPr>
          <a:xfrm>
            <a:off x="5572125" y="4143375"/>
            <a:ext cx="238125" cy="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직선 연결선 195">
            <a:extLst>
              <a:ext uri="{FF2B5EF4-FFF2-40B4-BE49-F238E27FC236}">
                <a16:creationId xmlns:a16="http://schemas.microsoft.com/office/drawing/2014/main" id="{DDE375ED-A733-4585-8132-84EC150387E7}"/>
              </a:ext>
            </a:extLst>
          </p:cNvPr>
          <p:cNvSpPr>
            <a:spLocks noGrp="1"/>
          </p:cNvSpPr>
          <p:nvPr/>
        </p:nvSpPr>
        <p:spPr>
          <a:xfrm>
            <a:off x="5810250" y="2981325"/>
            <a:ext cx="0" cy="116205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직선 연결선 196">
            <a:extLst>
              <a:ext uri="{FF2B5EF4-FFF2-40B4-BE49-F238E27FC236}">
                <a16:creationId xmlns:a16="http://schemas.microsoft.com/office/drawing/2014/main" id="{5A83044B-85AF-496D-B947-E1F2F3E957D0}"/>
              </a:ext>
            </a:extLst>
          </p:cNvPr>
          <p:cNvSpPr>
            <a:spLocks noGrp="1"/>
          </p:cNvSpPr>
          <p:nvPr/>
        </p:nvSpPr>
        <p:spPr>
          <a:xfrm>
            <a:off x="5810250" y="3571875"/>
            <a:ext cx="647700" cy="0"/>
          </a:xfrm>
          <a:prstGeom prst="line">
            <a:avLst/>
          </a:prstGeom>
          <a:noFill/>
          <a:ln w="19050">
            <a:solidFill>
              <a:srgbClr val="8A9B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6461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279</Words>
  <Application>Microsoft Office PowerPoint</Application>
  <DocSecurity>0</DocSecurity>
  <PresentationFormat>와이드스크린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수현 우</cp:lastModifiedBy>
  <cp:revision>1</cp:revision>
  <dcterms:created xsi:type="dcterms:W3CDTF">2026-10-09T08:52:19Z</dcterms:created>
  <dcterms:modified xsi:type="dcterms:W3CDTF">2026-10-09T09:04:08Z</dcterms:modified>
</cp:coreProperties>
</file>