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595c1282b34f36" /><Relationship Type="http://schemas.openxmlformats.org/officeDocument/2006/relationships/extended-properties" Target="/docProps/app.xml" Id="R31486240a5594456" /><Relationship Type="http://schemas.openxmlformats.org/officeDocument/2006/relationships/officeDocument" Target="/ppt/presentation.xml" Id="R3bb2ef24f363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573e9f5d744b5e"/>
  </p:sldMasterIdLst>
  <p:notesMasterIdLst>
    <p:notesMasterId xmlns:r="http://schemas.openxmlformats.org/officeDocument/2006/relationships" r:id="R78ed0c06c16346b0"/>
  </p:notesMasterIdLst>
  <p:sldIdLst>
    <p:sldId xmlns:r="http://schemas.openxmlformats.org/officeDocument/2006/relationships" id="256" r:id="R40f62a9ae7e6419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44975a08994cf7" /><Relationship Type="http://schemas.openxmlformats.org/officeDocument/2006/relationships/slideMaster" Target="/ppt/slideMasters/slideMaster1.xml" Id="R19573e9f5d744b5e" /><Relationship Type="http://schemas.openxmlformats.org/officeDocument/2006/relationships/notesMaster" Target="/ppt/notesMasters/notesMaster1.xml" Id="R78ed0c06c16346b0" /><Relationship Type="http://schemas.openxmlformats.org/officeDocument/2006/relationships/presProps" Target="/ppt/presProps.xml" Id="R3aeb7fcdd6624a06" /><Relationship Type="http://schemas.openxmlformats.org/officeDocument/2006/relationships/viewProps" Target="/ppt/viewProps.xml" Id="Rd8ac546d4879414f" /><Relationship Type="http://schemas.openxmlformats.org/officeDocument/2006/relationships/tableStyles" Target="/ppt/tableStyles.xml" Id="Rc110a4a0a60642bf" /><Relationship Type="http://schemas.openxmlformats.org/officeDocument/2006/relationships/slide" Target="/ppt/slides/slide1.xml" Id="R40f62a9ae7e641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c97a531a84c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235c756ac4466" /><Relationship Type="http://schemas.openxmlformats.org/officeDocument/2006/relationships/notesMaster" Target="/ppt/notesMasters/notesMaster1.xml" Id="Rf947ffb89d914a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표기 참고: OpenAI API https://openai.com/brand/ ; LangGraph https://docs.langchain.com/ ; PostgreSQL https://wiki.postgresql.org/wiki/Logo ; Python https://www.python.org/community/logos/ . 제품 로고를 변형하지 않고, 도식에는 자체 제작한 중립 픽토그램과 공식 기술명을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71f088fc749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6d542d28dc4964" /><Relationship Type="http://schemas.openxmlformats.org/officeDocument/2006/relationships/slideLayout" Target="/ppt/slideLayouts/slideLayout1.xml" Id="Rf3a926a2fc3a44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926a2fc3a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9e490f32d4931" /><Relationship Type="http://schemas.openxmlformats.org/officeDocument/2006/relationships/image" Target="/ppt/media/image.png" Id="Rf1ccfe658afd4e69" /><Relationship Type="http://schemas.openxmlformats.org/officeDocument/2006/relationships/image" Target="/ppt/media/image.svg" Id="Rfdb7e673ff444654" /><Relationship Type="http://schemas.openxmlformats.org/officeDocument/2006/relationships/image" Target="/ppt/media/image2.png" Id="Rf65af71c36014927" /><Relationship Type="http://schemas.openxmlformats.org/officeDocument/2006/relationships/image" Target="/ppt/media/image2.svg" Id="R9841d27cec864bed" /><Relationship Type="http://schemas.openxmlformats.org/officeDocument/2006/relationships/image" Target="/ppt/media/image3.png" Id="Rcbbe8b137fdc4153" /><Relationship Type="http://schemas.openxmlformats.org/officeDocument/2006/relationships/image" Target="/ppt/media/image3.svg" Id="Rb5a184be79174dea" /><Relationship Type="http://schemas.openxmlformats.org/officeDocument/2006/relationships/image" Target="/ppt/media/image4.png" Id="R61403174266c4a73" /><Relationship Type="http://schemas.openxmlformats.org/officeDocument/2006/relationships/image" Target="/ppt/media/image4.svg" Id="R2d67ee6704794fac" /><Relationship Type="http://schemas.openxmlformats.org/officeDocument/2006/relationships/image" Target="/ppt/media/image5.png" Id="R9f868ec0d8e44dbb" /><Relationship Type="http://schemas.openxmlformats.org/officeDocument/2006/relationships/image" Target="/ppt/media/image5.svg" Id="Ra2b5349a7aec4ce5" /><Relationship Type="http://schemas.openxmlformats.org/officeDocument/2006/relationships/image" Target="/ppt/media/image6.png" Id="R9595240e2bdb49a0" /><Relationship Type="http://schemas.openxmlformats.org/officeDocument/2006/relationships/image" Target="/ppt/media/image6.svg" Id="Raf9e7248499247de" /><Relationship Type="http://schemas.openxmlformats.org/officeDocument/2006/relationships/image" Target="/ppt/media/image7.png" Id="R7930e77fabd84d0d" /><Relationship Type="http://schemas.openxmlformats.org/officeDocument/2006/relationships/image" Target="/ppt/media/image7.svg" Id="R1ba1e0e2dee74b9a" /><Relationship Type="http://schemas.openxmlformats.org/officeDocument/2006/relationships/notesSlide" Target="/ppt/notesSlides/notesSlide1.xml" Id="Rf1f4fe88b1644c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12F486DD-E093-4FFF-A76F-3AE3F03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FFB1FC4-0B91-4BF0-BD05-EFA7B7E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고객 리뷰 분석 Agent의 모델 입력과 출력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A15A4CD5-8E0E-4CB6-803F-96CBFF2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Agent와 Extractor의 입력·출력을 분리하고, 리뷰 조회·원문 검증·집계는 테스트 가능한 코드로 통제합니다.</a:t>
            </a:r>
          </a:p>
        </p:txBody>
      </p:sp>
      <p:sp>
        <p:nvSpPr>
          <p:cNvPr id="4" name="사각형: 둥근 모서리 3">
            <a:extLst xmlns:a="http://schemas.openxmlformats.org/drawingml/2006/main">
              <a:ext uri="{FF2B5EF4-FFF2-40B4-BE49-F238E27FC236}">
                <a16:creationId xmlns:a16="http://schemas.microsoft.com/office/drawing/2014/main" id="{2EA0F6B6-AD0B-434D-AE0D-E8FE22AF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타원 4">
            <a:extLst xmlns:a="http://schemas.openxmlformats.org/drawingml/2006/main">
              <a:ext uri="{FF2B5EF4-FFF2-40B4-BE49-F238E27FC236}">
                <a16:creationId xmlns:a16="http://schemas.microsoft.com/office/drawing/2014/main" id="{38628B5B-FC27-4854-9DC1-04A6A73D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CBD0818-EB83-498B-815A-6C4B4837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 호출과 리뷰 조회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C53B9697-67B1-4DDE-8B5B-97D61E4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타원 7">
            <a:extLst xmlns:a="http://schemas.openxmlformats.org/drawingml/2006/main">
              <a:ext uri="{FF2B5EF4-FFF2-40B4-BE49-F238E27FC236}">
                <a16:creationId xmlns:a16="http://schemas.microsoft.com/office/drawing/2014/main" id="{A856F402-3770-4F93-94EE-0125DC7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92352E-FBFA-46DD-9782-07497F5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 내부 분석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DA097CFB-4DA5-4BE2-A48B-D6F9FF8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타원 10">
            <a:extLst xmlns:a="http://schemas.openxmlformats.org/drawingml/2006/main">
              <a:ext uri="{FF2B5EF4-FFF2-40B4-BE49-F238E27FC236}">
                <a16:creationId xmlns:a16="http://schemas.microsoft.com/office/drawing/2014/main" id="{2F80F7B2-7814-4627-8F03-8D3DDA7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78E4A2CC-3786-4009-A93D-CE3469B6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최종 답변 생성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A2487EE6-05A3-46CE-BD8C-F548E10E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528B19D3-CDE4-4645-8892-224A9C5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0" name="그래픽 119">
            <a:extLst xmlns:a="http://schemas.openxmlformats.org/drawingml/2006/main">
              <a:ext uri="{FF2B5EF4-FFF2-40B4-BE49-F238E27FC236}">
                <a16:creationId xmlns:a16="http://schemas.microsoft.com/office/drawing/2014/main" id="{CAFE69A4-622E-4446-9563-2B92DFFE0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cfe658afd4e69">
            <a:extLst>
              <a:ext uri="{96DAC541-7B7A-43D3-8B79-37D633B846F1}">
                <asvg:svgBlip xmlns:asvg="http://schemas.microsoft.com/office/drawing/2016/SVG/main" r:embed="Rfdb7e673ff4446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87568125-4973-4415-98A2-3D6D449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83CB3B6A-50B0-4E7C-BD45-037691B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71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“이 상품의 반복 불만과</a:t>
            </a:r>
          </a:p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개선점을 알려줘”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5735F71-C821-4C74-B625-73C73BD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사용자 질문과 대화 맥락</a:t>
            </a:r>
          </a:p>
        </p:txBody>
      </p:sp>
      <p:sp>
        <p:nvSpPr>
          <p:cNvPr id="19" name="화살표: 아래쪽 18">
            <a:extLst xmlns:a="http://schemas.openxmlformats.org/drawingml/2006/main">
              <a:ext uri="{FF2B5EF4-FFF2-40B4-BE49-F238E27FC236}">
                <a16:creationId xmlns:a16="http://schemas.microsoft.com/office/drawing/2014/main" id="{39D947F0-1FCD-42EF-9D50-25101D26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17D9D755-F452-4ACD-AD23-4458743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87CB24B5-0F6D-4293-90B8-1C6640A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7" name="그래픽 126">
            <a:extLst xmlns:a="http://schemas.openxmlformats.org/drawingml/2006/main">
              <a:ext uri="{FF2B5EF4-FFF2-40B4-BE49-F238E27FC236}">
                <a16:creationId xmlns:a16="http://schemas.microsoft.com/office/drawing/2014/main" id="{C944B537-7A90-466A-B7DF-4293F2757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af71c36014927">
            <a:extLst>
              <a:ext uri="{96DAC541-7B7A-43D3-8B79-37D633B846F1}">
                <asvg:svgBlip xmlns:asvg="http://schemas.microsoft.com/office/drawing/2016/SVG/main" r:embed="R9841d27cec864b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6FB07A58-2DCB-4E47-992D-179ED44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37B9F8F-3CDA-45FE-A52F-0B1D62A8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Agent LLM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FDD40A6-C3D7-4D40-9DAF-1C8DB92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 의도와 조회 조건 해석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C114A853-4CA9-4978-8922-2697CDC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966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/ vLLM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69AA7EB4-CF60-45A8-9C27-65655C0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33725"/>
            <a:ext cx="61912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5B3DA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rPr>
              <a:t>LangGraph</a:t>
            </a:r>
          </a:p>
        </p:txBody>
      </p:sp>
      <p:sp>
        <p:nvSpPr>
          <p:cNvPr id="28" name="화살표: 아래쪽 27">
            <a:extLst xmlns:a="http://schemas.openxmlformats.org/drawingml/2006/main">
              <a:ext uri="{FF2B5EF4-FFF2-40B4-BE49-F238E27FC236}">
                <a16:creationId xmlns:a16="http://schemas.microsoft.com/office/drawing/2014/main" id="{48494215-2C49-466A-9C9E-89713B3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FB108C4A-DD13-49FE-B535-85D6477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58D7613-6147-41B9-814D-B2BC335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6" name="그래픽 135">
            <a:extLst xmlns:a="http://schemas.openxmlformats.org/drawingml/2006/main">
              <a:ext uri="{FF2B5EF4-FFF2-40B4-BE49-F238E27FC236}">
                <a16:creationId xmlns:a16="http://schemas.microsoft.com/office/drawing/2014/main" id="{6A542781-7048-463B-86F0-7C1C934EA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e8b137fdc4153">
            <a:extLst>
              <a:ext uri="{96DAC541-7B7A-43D3-8B79-37D633B846F1}">
                <asvg:svgBlip xmlns:asvg="http://schemas.microsoft.com/office/drawing/2016/SVG/main" r:embed="Rb5a184be79174d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0C86282-1252-49B2-A94B-9AA4CEE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CALL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BBCC659D-BEB4-450F-AD97-121A353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957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get_review_patterns_tool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B5F3AD1F-95E9-4FEA-BA00-123EE61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parent_asin · limit=20</a:t>
            </a:r>
          </a:p>
        </p:txBody>
      </p:sp>
      <p:sp>
        <p:nvSpPr>
          <p:cNvPr id="35" name="화살표: 아래쪽 34">
            <a:extLst xmlns:a="http://schemas.openxmlformats.org/drawingml/2006/main">
              <a:ext uri="{FF2B5EF4-FFF2-40B4-BE49-F238E27FC236}">
                <a16:creationId xmlns:a16="http://schemas.microsoft.com/office/drawing/2014/main" id="{26D667AD-CFA1-4D18-A593-A1715B3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48B0A629-9795-4CF4-9DA4-B657035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5E719A87-FE8F-4E65-9343-F1EF007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3" name="그래픽 142">
            <a:extLst xmlns:a="http://schemas.openxmlformats.org/drawingml/2006/main">
              <a:ext uri="{FF2B5EF4-FFF2-40B4-BE49-F238E27FC236}">
                <a16:creationId xmlns:a16="http://schemas.microsoft.com/office/drawing/2014/main" id="{45021F27-522B-42D0-B9A0-A90370D44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03174266c4a73">
            <a:extLst>
              <a:ext uri="{96DAC541-7B7A-43D3-8B79-37D633B846F1}">
                <asvg:svgBlip xmlns:asvg="http://schemas.microsoft.com/office/drawing/2016/SVG/main" r:embed="R2d67ee6704794f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86E6D736-87E4-4A12-B20A-3F26E5DF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INTERNAL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D7DD0919-3AAA-45FF-BE3C-97FFD60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2578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검증된 SQL로 리뷰 조회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28415A66-CF42-4459-BC3D-DEA9244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rating ≤ 3 · helpful_vote ≥ 1 표본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52F7FBC4-0558-4BC0-85A9-221B202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57775"/>
            <a:ext cx="6858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33679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C5B0E4BE-FDB1-4CC3-9F67-F7829663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BDC03F96-8311-4BCB-979D-EBB39C05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0" name="그래픽 149">
            <a:extLst xmlns:a="http://schemas.openxmlformats.org/drawingml/2006/main">
              <a:ext uri="{FF2B5EF4-FFF2-40B4-BE49-F238E27FC236}">
                <a16:creationId xmlns:a16="http://schemas.microsoft.com/office/drawing/2014/main" id="{DCCAC297-BC34-4502-B1BD-1566E1157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cfe658afd4e69">
            <a:extLst>
              <a:ext uri="{96DAC541-7B7A-43D3-8B79-37D633B846F1}">
                <asvg:svgBlip xmlns:asvg="http://schemas.microsoft.com/office/drawing/2016/SVG/main" r:embed="Rfdb7e673ff4446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19D1B4A5-50A8-4BA1-93BE-26B81AB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INTERNAL INPUT</a:t>
            </a:r>
          </a:p>
        </p:txBody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6208148F-F741-41D6-845A-9E59E77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2939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조회된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리뷰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표본</a:t>
            </a:r>
            <a:endParaRPr sz="1013" b="1">
              <a:solidFill>
                <a:srgbClr val="17231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29582A28-BA14-4A11-AD53-31779837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85507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원문·평점·helpful_vote</a:t>
            </a:r>
          </a:p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고정 taxonomy·JSON Schema</a:t>
            </a:r>
          </a:p>
        </p:txBody>
      </p:sp>
      <p:sp>
        <p:nvSpPr>
          <p:cNvPr id="49" name="화살표: 아래쪽 48">
            <a:extLst xmlns:a="http://schemas.openxmlformats.org/drawingml/2006/main">
              <a:ext uri="{FF2B5EF4-FFF2-40B4-BE49-F238E27FC236}">
                <a16:creationId xmlns:a16="http://schemas.microsoft.com/office/drawing/2014/main" id="{4112E89E-5D79-43C5-B737-5CA14F48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9EE6F1FA-CD8E-48C1-B3CD-9620089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C58012D7-91CD-4ACC-99ED-E7CA5EE1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7" name="그래픽 156">
            <a:extLst xmlns:a="http://schemas.openxmlformats.org/drawingml/2006/main">
              <a:ext uri="{FF2B5EF4-FFF2-40B4-BE49-F238E27FC236}">
                <a16:creationId xmlns:a16="http://schemas.microsoft.com/office/drawing/2014/main" id="{79E17693-D465-44E7-A0B9-181EE7BCC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af71c36014927">
            <a:extLst>
              <a:ext uri="{96DAC541-7B7A-43D3-8B79-37D633B846F1}">
                <asvg:svgBlip xmlns:asvg="http://schemas.microsoft.com/office/drawing/2016/SVG/main" r:embed="R9841d27cec864b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53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7F11B51E-4624-4CF5-B758-8F4FE2FF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A65AAFD9-9C5B-448A-A349-57986BC3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Extractor LLM</a:t>
            </a: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B4161FCF-347E-45D4-8EC9-F20FFE6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불만 유형과 감성, 근거 문장 식별</a:t>
            </a:r>
          </a:p>
        </p:txBody>
      </p:sp>
      <p:sp>
        <p:nvSpPr>
          <p:cNvPr id="56" name="사각형: 둥근 모서리 55">
            <a:extLst xmlns:a="http://schemas.openxmlformats.org/drawingml/2006/main">
              <a:ext uri="{FF2B5EF4-FFF2-40B4-BE49-F238E27FC236}">
                <a16:creationId xmlns:a16="http://schemas.microsoft.com/office/drawing/2014/main" id="{915235CE-57E2-413E-AB73-34C4D9F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966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/ vLLM</a:t>
            </a:r>
          </a:p>
        </p:txBody>
      </p:sp>
      <p:sp>
        <p:nvSpPr>
          <p:cNvPr id="57" name="화살표: 아래쪽 56">
            <a:extLst xmlns:a="http://schemas.openxmlformats.org/drawingml/2006/main">
              <a:ext uri="{FF2B5EF4-FFF2-40B4-BE49-F238E27FC236}">
                <a16:creationId xmlns:a16="http://schemas.microsoft.com/office/drawing/2014/main" id="{A11737A8-2536-42D9-AC39-3581FF3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D6AAFF9A-94CF-4CDE-B3E6-C6A6D5C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421EF86D-9A05-4153-8684-4AEA9F1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5" name="그래픽 164">
            <a:extLst xmlns:a="http://schemas.openxmlformats.org/drawingml/2006/main">
              <a:ext uri="{FF2B5EF4-FFF2-40B4-BE49-F238E27FC236}">
                <a16:creationId xmlns:a16="http://schemas.microsoft.com/office/drawing/2014/main" id="{7219D426-BE46-4389-9CCE-8970388579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68ec0d8e44dbb">
            <a:extLst>
              <a:ext uri="{96DAC541-7B7A-43D3-8B79-37D633B846F1}">
                <asvg:svgBlip xmlns:asvg="http://schemas.microsoft.com/office/drawing/2016/SVG/main" r:embed="Ra2b5349a7aec4c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5779B57C-D490-4488-974C-B3CE4AA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E75C4798-B3EE-4890-A286-013AE75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82524A26-7A0D-471E-AF79-9695B7A6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topic · sentiment · direct experience</a:t>
            </a:r>
          </a:p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evidence · confidence</a:t>
            </a:r>
          </a:p>
        </p:txBody>
      </p:sp>
      <p:sp>
        <p:nvSpPr>
          <p:cNvPr id="64" name="화살표: 아래쪽 63">
            <a:extLst xmlns:a="http://schemas.openxmlformats.org/drawingml/2006/main">
              <a:ext uri="{FF2B5EF4-FFF2-40B4-BE49-F238E27FC236}">
                <a16:creationId xmlns:a16="http://schemas.microsoft.com/office/drawing/2014/main" id="{2E82AA74-0344-4CF8-8318-CF99914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사각형: 둥근 모서리 64">
            <a:extLst xmlns:a="http://schemas.openxmlformats.org/drawingml/2006/main">
              <a:ext uri="{FF2B5EF4-FFF2-40B4-BE49-F238E27FC236}">
                <a16:creationId xmlns:a16="http://schemas.microsoft.com/office/drawing/2014/main" id="{247208B7-DBDA-4B4A-8EA3-63CAEA2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F5E3A007-FC58-47BB-B0B1-5B9937C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2" name="그래픽 171">
            <a:extLst xmlns:a="http://schemas.openxmlformats.org/drawingml/2006/main">
              <a:ext uri="{FF2B5EF4-FFF2-40B4-BE49-F238E27FC236}">
                <a16:creationId xmlns:a16="http://schemas.microsoft.com/office/drawing/2014/main" id="{51ECACD0-23C4-4328-BA4E-E1D4F994B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5240e2bdb49a0">
            <a:extLst>
              <a:ext uri="{96DAC541-7B7A-43D3-8B79-37D633B846F1}">
                <asvg:svgBlip xmlns:asvg="http://schemas.microsoft.com/office/drawing/2016/SVG/main" r:embed="Raf9e7248499247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8E2D2334-2A84-4927-AC8C-BA373E01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RESULT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49F34080-57AC-47E8-B866-8CBE788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578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Review</a:t>
            </a: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Pattern</a:t>
            </a: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Result</a:t>
            </a:r>
            <a:endParaRPr sz="788" b="1">
              <a:solidFill>
                <a:srgbClr val="17231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3A9E1AC4-05EF-4C49-A497-107F5FFF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원문 검증·Redis 캐시 후</a:t>
            </a:r>
          </a:p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빈도·표본 내 비율·근거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A110CD4-6DEE-4C73-978C-C3282F29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57775"/>
            <a:ext cx="6096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86DA8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874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rPr>
              <a:t>Python · Redis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D6B3608A-A2AB-4EF0-818A-8EFAA5B7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31AE16C6-AC6A-4A74-A3E9-EAA098C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9" name="그래픽 178">
            <a:extLst xmlns:a="http://schemas.openxmlformats.org/drawingml/2006/main">
              <a:ext uri="{FF2B5EF4-FFF2-40B4-BE49-F238E27FC236}">
                <a16:creationId xmlns:a16="http://schemas.microsoft.com/office/drawing/2014/main" id="{DD96EDDD-CB52-42FE-81F0-5F7A8A4B0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cfe658afd4e69">
            <a:extLst>
              <a:ext uri="{96DAC541-7B7A-43D3-8B79-37D633B846F1}">
                <asvg:svgBlip xmlns:asvg="http://schemas.microsoft.com/office/drawing/2016/SVG/main" r:embed="Rfdb7e673ff4446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8B76B7F-2E63-49BC-86B8-64DD7534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FE00CC5-7DD1-405E-899B-08A7A76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2939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질문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+ Review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Pattern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Result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205106D0-E1DD-45F0-9090-1A5DC2F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85507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선정 기준·topic 빈도·표본 내 비율</a:t>
            </a:r>
            <a:endParaRPr sz="720" b="0">
              <a:solidFill>
                <a:srgbClr val="64716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대표 리뷰 원문 근거</a:t>
            </a:r>
          </a:p>
        </p:txBody>
      </p:sp>
      <p:sp>
        <p:nvSpPr>
          <p:cNvPr id="78" name="화살표: 아래쪽 77">
            <a:extLst xmlns:a="http://schemas.openxmlformats.org/drawingml/2006/main">
              <a:ext uri="{FF2B5EF4-FFF2-40B4-BE49-F238E27FC236}">
                <a16:creationId xmlns:a16="http://schemas.microsoft.com/office/drawing/2014/main" id="{D728245D-3D30-4EA5-A2B8-5D0FC40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BDEEA7A3-16C3-4B7C-8222-4AB177E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94C126F6-D833-405E-A7E2-E8DC9D9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6" name="그래픽 185">
            <a:extLst xmlns:a="http://schemas.openxmlformats.org/drawingml/2006/main">
              <a:ext uri="{FF2B5EF4-FFF2-40B4-BE49-F238E27FC236}">
                <a16:creationId xmlns:a16="http://schemas.microsoft.com/office/drawing/2014/main" id="{DF897783-6859-419A-B847-EBD4FA53FC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af71c36014927">
            <a:extLst>
              <a:ext uri="{96DAC541-7B7A-43D3-8B79-37D633B846F1}">
                <asvg:svgBlip xmlns:asvg="http://schemas.microsoft.com/office/drawing/2016/SVG/main" r:embed="R9841d27cec864b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BC06DB59-668F-420E-9C0C-12E084A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6F2B33D4-F4D3-4171-A1A6-311F441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Agent LLM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B4C369E-D2F3-4565-833C-882DFA63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 결과를 업무 관점으로 해석</a:t>
            </a: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D11C7588-A1B3-414B-A62E-1E58B991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966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/ vLLM</a:t>
            </a:r>
          </a:p>
        </p:txBody>
      </p:sp>
      <p:sp>
        <p:nvSpPr>
          <p:cNvPr id="86" name="화살표: 아래쪽 85">
            <a:extLst xmlns:a="http://schemas.openxmlformats.org/drawingml/2006/main">
              <a:ext uri="{FF2B5EF4-FFF2-40B4-BE49-F238E27FC236}">
                <a16:creationId xmlns:a16="http://schemas.microsoft.com/office/drawing/2014/main" id="{1C8AD596-3CC4-4B95-BC3A-7CB0149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BA21F6D6-0565-4DD3-9425-EF46220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79B6C142-50F8-42C4-83A2-3070987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4" name="그래픽 193">
            <a:extLst xmlns:a="http://schemas.openxmlformats.org/drawingml/2006/main">
              <a:ext uri="{FF2B5EF4-FFF2-40B4-BE49-F238E27FC236}">
                <a16:creationId xmlns:a16="http://schemas.microsoft.com/office/drawing/2014/main" id="{9358DA10-9C31-4FA5-B2EC-8A5C50DC1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0e77fabd84d0d">
            <a:extLst>
              <a:ext uri="{96DAC541-7B7A-43D3-8B79-37D633B846F1}">
                <asvg:svgBlip xmlns:asvg="http://schemas.microsoft.com/office/drawing/2016/SVG/main" r:embed="R1ba1e0e2dee74b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BCC30905-11F7-4A7E-A121-5092633C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FINAL OUTPUT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6A04E96-E47B-4725-973C-2E10C898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업무 활용 답변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B11CA259-105B-4566-8D77-CABF6268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반복 불만·수치·대표 근거</a:t>
            </a:r>
          </a:p>
          <a:p xmlns:a="http://schemas.openxmlformats.org/drawingml/2006/main">
            <a:pPr algn="l">
              <a:buNone/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제품 개선 우선순위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48D2E936-5BEA-47F6-878E-4D4DB2C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조회된</a:t>
            </a:r>
          </a:p>
          <a:p xmlns:a="http://schemas.openxmlformats.org/drawingml/2006/main">
            <a:pPr algn="ctr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표본</a:t>
            </a:r>
          </a:p>
        </p:txBody>
      </p:sp>
      <p:sp>
        <p:nvSpPr>
          <p:cNvPr id="94" name="직선 연결선 93">
            <a:extLst xmlns:a="http://schemas.openxmlformats.org/drawingml/2006/main">
              <a:ext uri="{FF2B5EF4-FFF2-40B4-BE49-F238E27FC236}">
                <a16:creationId xmlns:a16="http://schemas.microsoft.com/office/drawing/2014/main" id="{2F95076D-FFAF-41A7-8335-0FBC42B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8F48674E-A3FA-4FF2-87FE-A8C4117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구조화된</a:t>
            </a:r>
          </a:p>
          <a:p xmlns:a="http://schemas.openxmlformats.org/drawingml/2006/main">
            <a:pPr algn="ctr">
              <a:buNone/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결과</a:t>
            </a:r>
          </a:p>
        </p:txBody>
      </p:sp>
      <p:sp>
        <p:nvSpPr>
          <p:cNvPr id="96" name="직선 연결선 95">
            <a:extLst xmlns:a="http://schemas.openxmlformats.org/drawingml/2006/main">
              <a:ext uri="{FF2B5EF4-FFF2-40B4-BE49-F238E27FC236}">
                <a16:creationId xmlns:a16="http://schemas.microsoft.com/office/drawing/2014/main" id="{6ABD481F-E5E6-422E-8B7A-ADFDBFF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BF156ACD-BE04-4F16-BF43-CB6E929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D3EC9661-C429-4383-8B53-AC22E7F4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99" name="사각형: 둥근 모서리 98">
            <a:extLst xmlns:a="http://schemas.openxmlformats.org/drawingml/2006/main">
              <a:ext uri="{FF2B5EF4-FFF2-40B4-BE49-F238E27FC236}">
                <a16:creationId xmlns:a16="http://schemas.microsoft.com/office/drawing/2014/main" id="{EA0CB4E9-403A-418C-96F7-4B0C2B0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D2AE6AD0-D044-44F4-9FB7-4B72038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8E5E3872-73ED-478B-91B9-6127C17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B3CACC4E-C222-4FDF-97A6-7D032E0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모델 출력</a:t>
            </a:r>
          </a:p>
        </p:txBody>
      </p:sp>
      <p:sp>
        <p:nvSpPr>
          <p:cNvPr id="103" name="사각형: 둥근 모서리 102">
            <a:extLst xmlns:a="http://schemas.openxmlformats.org/drawingml/2006/main">
              <a:ext uri="{FF2B5EF4-FFF2-40B4-BE49-F238E27FC236}">
                <a16:creationId xmlns:a16="http://schemas.microsoft.com/office/drawing/2014/main" id="{C2735829-428B-4104-B891-53953FB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DEF817DE-D50F-4E67-A23B-2166FD2A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검증된 코드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B0158447-6F28-49CB-A679-E61D59E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57925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rPr>
              <a:t>SQL은 Tool이 실행하며, Python은 source_index와 Evidence의 원문 일치를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635684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2026-10-09T08:34:31.3210000Z</dcterms:created>
  <dcterms:modified xsi:type="dcterms:W3CDTF">2026-10-09T08:34:31.3210000Z</dcterms:modified>
</coreProperties>
</file>