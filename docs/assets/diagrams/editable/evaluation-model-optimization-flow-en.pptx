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fixed cases run through either the API or local Agent pipeline. The API pipeline uses Terra as the Agent and Luna for extraction and evidence checks. The local pipeline uses GPT-OSS 20B as the Agent and Qwen3-8B for extraction and evidence checks. Python evaluates Tool and rule invariants, while the RAG comparison measures retrieval stages. GPT-5.6 Sol or Gemma 3 27B evaluates answer quality. All outputs use one scorecard and feedback loop.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 Id="rId9"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 name="직사각형 109">
            <a:extLst>
              <a:ext uri="{FF2B5EF4-FFF2-40B4-BE49-F238E27FC236}">
                <a16:creationId xmlns:a16="http://schemas.microsoft.com/office/drawing/2014/main" id="{6973664B-0ED1-4EDF-B426-407CAD4C6BF2}"/>
              </a:ext>
            </a:extLst>
          </p:cNvPr>
          <p:cNvSpPr>
            <a:spLocks noGrp="1"/>
          </p:cNvSpPr>
          <p:nvPr/>
        </p:nvSpPr>
        <p:spPr>
          <a:xfrm>
            <a:off x="495300" y="323850"/>
            <a:ext cx="11201400" cy="190500"/>
          </a:xfrm>
          <a:prstGeom prst="rect">
            <a:avLst/>
          </a:prstGeom>
          <a:noFill/>
          <a:ln w="0">
            <a:noFill/>
          </a:ln>
        </p:spPr>
        <p:txBody>
          <a:bodyPr wrap="square" lIns="0" tIns="0" rIns="0" bIns="0" anchor="t">
            <a:normAutofit/>
          </a:bodyPr>
          <a:lstStyle>
            <a:defPPr>
              <a:defRPr sz="760"/>
            </a:defPPr>
          </a:lstStyle>
          <a:p>
            <a:pPr algn="l">
              <a:buNone/>
              <a:defRPr sz="760" b="1">
                <a:solidFill>
                  <a:srgbClr val="27664F"/>
                </a:solidFill>
                <a:latin typeface="Noto Sans KR"/>
                <a:ea typeface="Noto Sans KR"/>
                <a:cs typeface="Noto Sans KR"/>
              </a:defRPr>
            </a:pPr>
            <a:r>
              <a:rPr sz="760" b="1">
                <a:solidFill>
                  <a:srgbClr val="27664F"/>
                </a:solidFill>
                <a:latin typeface="Noto Sans KR"/>
                <a:ea typeface="Noto Sans KR"/>
                <a:cs typeface="Noto Sans KR"/>
              </a:rPr>
              <a:t>CUSTOMER INTELLIGENCE</a:t>
            </a:r>
          </a:p>
        </p:txBody>
      </p:sp>
      <p:sp>
        <p:nvSpPr>
          <p:cNvPr id="2" name="직사각형 1">
            <a:extLst>
              <a:ext uri="{FF2B5EF4-FFF2-40B4-BE49-F238E27FC236}">
                <a16:creationId xmlns:a16="http://schemas.microsoft.com/office/drawing/2014/main" id="{5A4EDDFB-BCFF-4593-AD34-DB6E185565EE}"/>
              </a:ext>
            </a:extLst>
          </p:cNvPr>
          <p:cNvSpPr>
            <a:spLocks noGrp="1"/>
          </p:cNvSpPr>
          <p:nvPr/>
        </p:nvSpPr>
        <p:spPr>
          <a:xfrm>
            <a:off x="495300" y="581025"/>
            <a:ext cx="11201400" cy="419100"/>
          </a:xfrm>
          <a:prstGeom prst="rect">
            <a:avLst/>
          </a:prstGeom>
          <a:noFill/>
          <a:ln w="0">
            <a:noFill/>
          </a:ln>
        </p:spPr>
        <p:txBody>
          <a:bodyPr wrap="square" lIns="0" tIns="0" rIns="0" bIns="0" anchor="ctr">
            <a:normAutofit/>
          </a:bodyPr>
          <a:lstStyle>
            <a:defPPr>
              <a:defRPr sz="2112"/>
            </a:defPPr>
          </a:lstStyle>
          <a:p>
            <a:pPr algn="l">
              <a:buNone/>
              <a:defRPr sz="2112" b="1">
                <a:solidFill>
                  <a:srgbClr val="17231F"/>
                </a:solidFill>
                <a:latin typeface="Noto Sans KR"/>
                <a:ea typeface="Noto Sans KR"/>
                <a:cs typeface="Noto Sans KR"/>
              </a:defRPr>
            </a:pPr>
            <a:r>
              <a:rPr sz="2112" b="1">
                <a:solidFill>
                  <a:srgbClr val="17231F"/>
                </a:solidFill>
                <a:latin typeface="Noto Sans KR"/>
                <a:ea typeface="Noto Sans KR"/>
                <a:cs typeface="Noto Sans KR"/>
              </a:rPr>
              <a:t>Evaluation and Model Optimization</a:t>
            </a:r>
          </a:p>
        </p:txBody>
      </p:sp>
      <p:sp>
        <p:nvSpPr>
          <p:cNvPr id="3" name="직사각형 2">
            <a:extLst>
              <a:ext uri="{FF2B5EF4-FFF2-40B4-BE49-F238E27FC236}">
                <a16:creationId xmlns:a16="http://schemas.microsoft.com/office/drawing/2014/main" id="{432C144B-FDD2-4F5A-A9EF-CEAF2D28EDE6}"/>
              </a:ext>
            </a:extLst>
          </p:cNvPr>
          <p:cNvSpPr>
            <a:spLocks noGrp="1"/>
          </p:cNvSpPr>
          <p:nvPr/>
        </p:nvSpPr>
        <p:spPr>
          <a:xfrm>
            <a:off x="495300" y="1019175"/>
            <a:ext cx="11201400" cy="228600"/>
          </a:xfrm>
          <a:prstGeom prst="rect">
            <a:avLst/>
          </a:prstGeom>
          <a:noFill/>
          <a:ln w="0">
            <a:noFill/>
          </a:ln>
        </p:spPr>
        <p:txBody>
          <a:bodyPr wrap="square" lIns="0" tIns="0" rIns="0" bIns="0" anchor="ctr">
            <a:normAutofit/>
          </a:bodyPr>
          <a:lstStyle>
            <a:defPPr>
              <a:defRPr sz="872"/>
            </a:defPPr>
          </a:lstStyle>
          <a:p>
            <a:pPr algn="l">
              <a:buNone/>
              <a:defRPr sz="872" b="0">
                <a:solidFill>
                  <a:srgbClr val="64716B"/>
                </a:solidFill>
                <a:latin typeface="Noto Sans KR"/>
                <a:ea typeface="Noto Sans KR"/>
                <a:cs typeface="Noto Sans KR"/>
              </a:defRPr>
            </a:pPr>
            <a:r>
              <a:rPr sz="872" b="0">
                <a:solidFill>
                  <a:srgbClr val="64716B"/>
                </a:solidFill>
                <a:latin typeface="Noto Sans KR"/>
                <a:ea typeface="Noto Sans KR"/>
                <a:cs typeface="Noto Sans KR"/>
              </a:rPr>
              <a:t>Run the same cases through API and local Agent pipelines, then compare tool, RAG, and answer quality under one contract.</a:t>
            </a:r>
          </a:p>
        </p:txBody>
      </p:sp>
      <p:sp>
        <p:nvSpPr>
          <p:cNvPr id="4" name="직사각형 3">
            <a:extLst>
              <a:ext uri="{FF2B5EF4-FFF2-40B4-BE49-F238E27FC236}">
                <a16:creationId xmlns:a16="http://schemas.microsoft.com/office/drawing/2014/main" id="{610DEE01-2EFB-4F1E-848C-D80D57688E19}"/>
              </a:ext>
            </a:extLst>
          </p:cNvPr>
          <p:cNvSpPr>
            <a:spLocks noGrp="1"/>
          </p:cNvSpPr>
          <p:nvPr/>
        </p:nvSpPr>
        <p:spPr>
          <a:xfrm>
            <a:off x="457200" y="1571625"/>
            <a:ext cx="1447800" cy="228600"/>
          </a:xfrm>
          <a:prstGeom prst="rect">
            <a:avLst/>
          </a:prstGeom>
          <a:noFill/>
          <a:ln w="0">
            <a:noFill/>
          </a:ln>
        </p:spPr>
        <p:txBody>
          <a:bodyPr wrap="square" lIns="0" tIns="0" rIns="0" bIns="0" anchor="ctr">
            <a:normAutofit/>
          </a:bodyPr>
          <a:lstStyle>
            <a:defPPr>
              <a:defRPr sz="620"/>
            </a:defPPr>
          </a:lstStyle>
          <a:p>
            <a:pPr algn="l">
              <a:buNone/>
              <a:defRPr sz="620" b="1">
                <a:solidFill>
                  <a:srgbClr val="64716B"/>
                </a:solidFill>
                <a:latin typeface="Noto Sans KR"/>
                <a:ea typeface="Noto Sans KR"/>
                <a:cs typeface="Noto Sans KR"/>
              </a:defRPr>
            </a:pPr>
            <a:r>
              <a:rPr sz="620" b="1">
                <a:solidFill>
                  <a:srgbClr val="64716B"/>
                </a:solidFill>
                <a:latin typeface="Noto Sans KR"/>
                <a:ea typeface="Noto Sans KR"/>
                <a:cs typeface="Noto Sans KR"/>
              </a:rPr>
              <a:t>01  EVALUATION INPUT</a:t>
            </a:r>
          </a:p>
        </p:txBody>
      </p:sp>
      <p:sp>
        <p:nvSpPr>
          <p:cNvPr id="5" name="직선 연결선 4">
            <a:extLst>
              <a:ext uri="{FF2B5EF4-FFF2-40B4-BE49-F238E27FC236}">
                <a16:creationId xmlns:a16="http://schemas.microsoft.com/office/drawing/2014/main" id="{4440088C-D80E-40EE-A343-5AF46805FE60}"/>
              </a:ext>
            </a:extLst>
          </p:cNvPr>
          <p:cNvSpPr>
            <a:spLocks noGrp="1"/>
          </p:cNvSpPr>
          <p:nvPr/>
        </p:nvSpPr>
        <p:spPr>
          <a:xfrm>
            <a:off x="457200" y="1838325"/>
            <a:ext cx="1447800" cy="0"/>
          </a:xfrm>
          <a:prstGeom prst="line">
            <a:avLst/>
          </a:prstGeom>
          <a:noFill/>
          <a:ln w="13335">
            <a:solidFill>
              <a:srgbClr val="D8E3DE"/>
            </a:solidFill>
            <a:prstDash val="solid"/>
          </a:ln>
        </p:spPr>
        <p:txBody>
          <a:bodyPr/>
          <a:lstStyle/>
          <a:p>
            <a:endParaRPr/>
          </a:p>
        </p:txBody>
      </p:sp>
      <p:sp>
        <p:nvSpPr>
          <p:cNvPr id="6" name="직사각형 5">
            <a:extLst>
              <a:ext uri="{FF2B5EF4-FFF2-40B4-BE49-F238E27FC236}">
                <a16:creationId xmlns:a16="http://schemas.microsoft.com/office/drawing/2014/main" id="{F4762E55-FE52-456E-BAB1-D02277AE9C7D}"/>
              </a:ext>
            </a:extLst>
          </p:cNvPr>
          <p:cNvSpPr>
            <a:spLocks noGrp="1"/>
          </p:cNvSpPr>
          <p:nvPr/>
        </p:nvSpPr>
        <p:spPr>
          <a:xfrm>
            <a:off x="2171700" y="1571625"/>
            <a:ext cx="4000500" cy="228600"/>
          </a:xfrm>
          <a:prstGeom prst="rect">
            <a:avLst/>
          </a:prstGeom>
          <a:noFill/>
          <a:ln w="0">
            <a:noFill/>
          </a:ln>
        </p:spPr>
        <p:txBody>
          <a:bodyPr wrap="square" lIns="0" tIns="0" rIns="0" bIns="0" anchor="ctr">
            <a:normAutofit/>
          </a:bodyPr>
          <a:lstStyle>
            <a:defPPr>
              <a:defRPr sz="620"/>
            </a:defPPr>
          </a:lstStyle>
          <a:p>
            <a:pPr algn="l">
              <a:buNone/>
              <a:defRPr sz="620" b="1">
                <a:solidFill>
                  <a:srgbClr val="64716B"/>
                </a:solidFill>
                <a:latin typeface="Noto Sans KR"/>
                <a:ea typeface="Noto Sans KR"/>
                <a:cs typeface="Noto Sans KR"/>
              </a:defRPr>
            </a:pPr>
            <a:r>
              <a:rPr sz="620" b="1">
                <a:solidFill>
                  <a:srgbClr val="64716B"/>
                </a:solidFill>
                <a:latin typeface="Noto Sans KR"/>
                <a:ea typeface="Noto Sans KR"/>
                <a:cs typeface="Noto Sans KR"/>
              </a:rPr>
              <a:t>02  PIPELINE UNDER TEST</a:t>
            </a:r>
          </a:p>
        </p:txBody>
      </p:sp>
      <p:sp>
        <p:nvSpPr>
          <p:cNvPr id="7" name="직선 연결선 6">
            <a:extLst>
              <a:ext uri="{FF2B5EF4-FFF2-40B4-BE49-F238E27FC236}">
                <a16:creationId xmlns:a16="http://schemas.microsoft.com/office/drawing/2014/main" id="{E5CCFB77-AEB8-44B6-A4B4-90B6F2D8BE33}"/>
              </a:ext>
            </a:extLst>
          </p:cNvPr>
          <p:cNvSpPr>
            <a:spLocks noGrp="1"/>
          </p:cNvSpPr>
          <p:nvPr/>
        </p:nvSpPr>
        <p:spPr>
          <a:xfrm>
            <a:off x="2171700" y="1838325"/>
            <a:ext cx="4000500" cy="0"/>
          </a:xfrm>
          <a:prstGeom prst="line">
            <a:avLst/>
          </a:prstGeom>
          <a:noFill/>
          <a:ln w="13335">
            <a:solidFill>
              <a:srgbClr val="D8E3DE"/>
            </a:solidFill>
            <a:prstDash val="solid"/>
          </a:ln>
        </p:spPr>
        <p:txBody>
          <a:bodyPr/>
          <a:lstStyle/>
          <a:p>
            <a:endParaRPr/>
          </a:p>
        </p:txBody>
      </p:sp>
      <p:sp>
        <p:nvSpPr>
          <p:cNvPr id="8" name="직사각형 7">
            <a:extLst>
              <a:ext uri="{FF2B5EF4-FFF2-40B4-BE49-F238E27FC236}">
                <a16:creationId xmlns:a16="http://schemas.microsoft.com/office/drawing/2014/main" id="{A8CFAD79-907D-4E3E-8089-41E3ECABBA4C}"/>
              </a:ext>
            </a:extLst>
          </p:cNvPr>
          <p:cNvSpPr>
            <a:spLocks noGrp="1"/>
          </p:cNvSpPr>
          <p:nvPr/>
        </p:nvSpPr>
        <p:spPr>
          <a:xfrm>
            <a:off x="6457950" y="1571625"/>
            <a:ext cx="1524000" cy="228600"/>
          </a:xfrm>
          <a:prstGeom prst="rect">
            <a:avLst/>
          </a:prstGeom>
          <a:noFill/>
          <a:ln w="0">
            <a:noFill/>
          </a:ln>
        </p:spPr>
        <p:txBody>
          <a:bodyPr wrap="square" lIns="0" tIns="0" rIns="0" bIns="0" anchor="ctr">
            <a:normAutofit/>
          </a:bodyPr>
          <a:lstStyle>
            <a:defPPr>
              <a:defRPr sz="620"/>
            </a:defPPr>
          </a:lstStyle>
          <a:p>
            <a:pPr algn="l">
              <a:buNone/>
              <a:defRPr sz="620" b="1">
                <a:solidFill>
                  <a:srgbClr val="64716B"/>
                </a:solidFill>
                <a:latin typeface="Noto Sans KR"/>
                <a:ea typeface="Noto Sans KR"/>
                <a:cs typeface="Noto Sans KR"/>
              </a:defRPr>
            </a:pPr>
            <a:r>
              <a:rPr sz="620" b="1">
                <a:solidFill>
                  <a:srgbClr val="64716B"/>
                </a:solidFill>
                <a:latin typeface="Noto Sans KR"/>
                <a:ea typeface="Noto Sans KR"/>
                <a:cs typeface="Noto Sans KR"/>
              </a:rPr>
              <a:t>03  TRACE COLLECTION</a:t>
            </a:r>
          </a:p>
        </p:txBody>
      </p:sp>
      <p:sp>
        <p:nvSpPr>
          <p:cNvPr id="9" name="직선 연결선 8">
            <a:extLst>
              <a:ext uri="{FF2B5EF4-FFF2-40B4-BE49-F238E27FC236}">
                <a16:creationId xmlns:a16="http://schemas.microsoft.com/office/drawing/2014/main" id="{BB9B530A-0A24-4125-A993-AF165B1869CF}"/>
              </a:ext>
            </a:extLst>
          </p:cNvPr>
          <p:cNvSpPr>
            <a:spLocks noGrp="1"/>
          </p:cNvSpPr>
          <p:nvPr/>
        </p:nvSpPr>
        <p:spPr>
          <a:xfrm>
            <a:off x="6457950" y="1838325"/>
            <a:ext cx="1524000" cy="0"/>
          </a:xfrm>
          <a:prstGeom prst="line">
            <a:avLst/>
          </a:prstGeom>
          <a:noFill/>
          <a:ln w="13335">
            <a:solidFill>
              <a:srgbClr val="D8E3DE"/>
            </a:solidFill>
            <a:prstDash val="solid"/>
          </a:ln>
        </p:spPr>
        <p:txBody>
          <a:bodyPr/>
          <a:lstStyle/>
          <a:p>
            <a:endParaRPr/>
          </a:p>
        </p:txBody>
      </p:sp>
      <p:sp>
        <p:nvSpPr>
          <p:cNvPr id="10" name="직사각형 9">
            <a:extLst>
              <a:ext uri="{FF2B5EF4-FFF2-40B4-BE49-F238E27FC236}">
                <a16:creationId xmlns:a16="http://schemas.microsoft.com/office/drawing/2014/main" id="{43405FB7-3021-40CA-AABF-D2B05D7DF7D1}"/>
              </a:ext>
            </a:extLst>
          </p:cNvPr>
          <p:cNvSpPr>
            <a:spLocks noGrp="1"/>
          </p:cNvSpPr>
          <p:nvPr/>
        </p:nvSpPr>
        <p:spPr>
          <a:xfrm>
            <a:off x="8267700" y="1571625"/>
            <a:ext cx="2000250" cy="228600"/>
          </a:xfrm>
          <a:prstGeom prst="rect">
            <a:avLst/>
          </a:prstGeom>
          <a:noFill/>
          <a:ln w="0">
            <a:noFill/>
          </a:ln>
        </p:spPr>
        <p:txBody>
          <a:bodyPr wrap="square" lIns="0" tIns="0" rIns="0" bIns="0" anchor="ctr">
            <a:normAutofit/>
          </a:bodyPr>
          <a:lstStyle>
            <a:defPPr>
              <a:defRPr sz="620"/>
            </a:defPPr>
          </a:lstStyle>
          <a:p>
            <a:pPr algn="l">
              <a:buNone/>
              <a:defRPr sz="620" b="1">
                <a:solidFill>
                  <a:srgbClr val="64716B"/>
                </a:solidFill>
                <a:latin typeface="Noto Sans KR"/>
                <a:ea typeface="Noto Sans KR"/>
                <a:cs typeface="Noto Sans KR"/>
              </a:defRPr>
            </a:pPr>
            <a:r>
              <a:rPr sz="620" b="1">
                <a:solidFill>
                  <a:srgbClr val="64716B"/>
                </a:solidFill>
                <a:latin typeface="Noto Sans KR"/>
                <a:ea typeface="Noto Sans KR"/>
                <a:cs typeface="Noto Sans KR"/>
              </a:rPr>
              <a:t>04  EVALUATION</a:t>
            </a:r>
          </a:p>
        </p:txBody>
      </p:sp>
      <p:sp>
        <p:nvSpPr>
          <p:cNvPr id="11" name="직선 연결선 10">
            <a:extLst>
              <a:ext uri="{FF2B5EF4-FFF2-40B4-BE49-F238E27FC236}">
                <a16:creationId xmlns:a16="http://schemas.microsoft.com/office/drawing/2014/main" id="{12E92140-0926-4B0D-A93B-3FBB3B911DD8}"/>
              </a:ext>
            </a:extLst>
          </p:cNvPr>
          <p:cNvSpPr>
            <a:spLocks noGrp="1"/>
          </p:cNvSpPr>
          <p:nvPr/>
        </p:nvSpPr>
        <p:spPr>
          <a:xfrm>
            <a:off x="8267700" y="1838325"/>
            <a:ext cx="2000250" cy="0"/>
          </a:xfrm>
          <a:prstGeom prst="line">
            <a:avLst/>
          </a:prstGeom>
          <a:noFill/>
          <a:ln w="13335">
            <a:solidFill>
              <a:srgbClr val="D8E3DE"/>
            </a:solidFill>
            <a:prstDash val="solid"/>
          </a:ln>
        </p:spPr>
        <p:txBody>
          <a:bodyPr/>
          <a:lstStyle/>
          <a:p>
            <a:endParaRPr/>
          </a:p>
        </p:txBody>
      </p:sp>
      <p:sp>
        <p:nvSpPr>
          <p:cNvPr id="12" name="직사각형 11">
            <a:extLst>
              <a:ext uri="{FF2B5EF4-FFF2-40B4-BE49-F238E27FC236}">
                <a16:creationId xmlns:a16="http://schemas.microsoft.com/office/drawing/2014/main" id="{0B2C462A-91D8-4921-A7E0-105CF59C5562}"/>
              </a:ext>
            </a:extLst>
          </p:cNvPr>
          <p:cNvSpPr>
            <a:spLocks noGrp="1"/>
          </p:cNvSpPr>
          <p:nvPr/>
        </p:nvSpPr>
        <p:spPr>
          <a:xfrm>
            <a:off x="10553700" y="1571625"/>
            <a:ext cx="1181100" cy="228600"/>
          </a:xfrm>
          <a:prstGeom prst="rect">
            <a:avLst/>
          </a:prstGeom>
          <a:noFill/>
          <a:ln w="0">
            <a:noFill/>
          </a:ln>
        </p:spPr>
        <p:txBody>
          <a:bodyPr wrap="square" lIns="0" tIns="0" rIns="0" bIns="0" anchor="ctr">
            <a:normAutofit/>
          </a:bodyPr>
          <a:lstStyle>
            <a:defPPr>
              <a:defRPr sz="620"/>
            </a:defPPr>
          </a:lstStyle>
          <a:p>
            <a:pPr algn="l">
              <a:buNone/>
              <a:defRPr sz="620" b="1">
                <a:solidFill>
                  <a:srgbClr val="64716B"/>
                </a:solidFill>
                <a:latin typeface="Noto Sans KR"/>
                <a:ea typeface="Noto Sans KR"/>
                <a:cs typeface="Noto Sans KR"/>
              </a:defRPr>
            </a:pPr>
            <a:r>
              <a:rPr sz="620" b="1">
                <a:solidFill>
                  <a:srgbClr val="64716B"/>
                </a:solidFill>
                <a:latin typeface="Noto Sans KR"/>
                <a:ea typeface="Noto Sans KR"/>
                <a:cs typeface="Noto Sans KR"/>
              </a:rPr>
              <a:t>05  COMPARISON</a:t>
            </a:r>
          </a:p>
        </p:txBody>
      </p:sp>
      <p:sp>
        <p:nvSpPr>
          <p:cNvPr id="13" name="직선 연결선 12">
            <a:extLst>
              <a:ext uri="{FF2B5EF4-FFF2-40B4-BE49-F238E27FC236}">
                <a16:creationId xmlns:a16="http://schemas.microsoft.com/office/drawing/2014/main" id="{DF08AFD1-8534-427B-BAD1-9FD668C9B973}"/>
              </a:ext>
            </a:extLst>
          </p:cNvPr>
          <p:cNvSpPr>
            <a:spLocks noGrp="1"/>
          </p:cNvSpPr>
          <p:nvPr/>
        </p:nvSpPr>
        <p:spPr>
          <a:xfrm>
            <a:off x="10553700" y="1838325"/>
            <a:ext cx="1181100" cy="0"/>
          </a:xfrm>
          <a:prstGeom prst="line">
            <a:avLst/>
          </a:prstGeom>
          <a:noFill/>
          <a:ln w="13335">
            <a:solidFill>
              <a:srgbClr val="D8E3DE"/>
            </a:solidFill>
            <a:prstDash val="solid"/>
          </a:ln>
        </p:spPr>
        <p:txBody>
          <a:bodyPr/>
          <a:lstStyle/>
          <a:p>
            <a:endParaRPr/>
          </a:p>
        </p:txBody>
      </p:sp>
      <p:sp>
        <p:nvSpPr>
          <p:cNvPr id="14" name="사각형: 둥근 모서리 13">
            <a:extLst>
              <a:ext uri="{FF2B5EF4-FFF2-40B4-BE49-F238E27FC236}">
                <a16:creationId xmlns:a16="http://schemas.microsoft.com/office/drawing/2014/main" id="{AFC1AB3C-D464-41C0-94F6-F43E6DFBAF18}"/>
              </a:ext>
            </a:extLst>
          </p:cNvPr>
          <p:cNvSpPr>
            <a:spLocks noGrp="1"/>
          </p:cNvSpPr>
          <p:nvPr/>
        </p:nvSpPr>
        <p:spPr>
          <a:xfrm>
            <a:off x="457200" y="2600325"/>
            <a:ext cx="1447800" cy="1952625"/>
          </a:xfrm>
          <a:prstGeom prst="roundRect">
            <a:avLst>
              <a:gd name="adj" fmla="val 8553"/>
            </a:avLst>
          </a:prstGeom>
          <a:solidFill>
            <a:srgbClr val="F7F9F8"/>
          </a:solidFill>
          <a:ln w="11430">
            <a:solidFill>
              <a:srgbClr val="D8E3DE"/>
            </a:solidFill>
            <a:prstDash val="solid"/>
          </a:ln>
        </p:spPr>
        <p:txBody>
          <a:bodyPr/>
          <a:lstStyle/>
          <a:p>
            <a:endParaRPr/>
          </a:p>
        </p:txBody>
      </p:sp>
      <p:sp>
        <p:nvSpPr>
          <p:cNvPr id="15" name="사각형: 둥근 모서리 14">
            <a:extLst>
              <a:ext uri="{FF2B5EF4-FFF2-40B4-BE49-F238E27FC236}">
                <a16:creationId xmlns:a16="http://schemas.microsoft.com/office/drawing/2014/main" id="{820BE554-CD5F-418B-B785-90610864BF13}"/>
              </a:ext>
            </a:extLst>
          </p:cNvPr>
          <p:cNvSpPr>
            <a:spLocks noGrp="1"/>
          </p:cNvSpPr>
          <p:nvPr/>
        </p:nvSpPr>
        <p:spPr>
          <a:xfrm>
            <a:off x="542925" y="2714625"/>
            <a:ext cx="342900" cy="342900"/>
          </a:xfrm>
          <a:prstGeom prst="roundRect">
            <a:avLst>
              <a:gd name="adj" fmla="val 25000"/>
            </a:avLst>
          </a:prstGeom>
          <a:solidFill>
            <a:srgbClr val="FFFFFF"/>
          </a:solidFill>
          <a:ln w="0">
            <a:noFill/>
          </a:ln>
        </p:spPr>
        <p:txBody>
          <a:bodyPr/>
          <a:lstStyle/>
          <a:p>
            <a:endParaRPr/>
          </a:p>
        </p:txBody>
      </p:sp>
      <p:pic>
        <p:nvPicPr>
          <p:cNvPr id="134" name="그래픽 124">
            <a:extLst>
              <a:ext uri="{FF2B5EF4-FFF2-40B4-BE49-F238E27FC236}">
                <a16:creationId xmlns:a16="http://schemas.microsoft.com/office/drawing/2014/main" id="{DD8070F5-9ED3-4B1A-A5B9-E439D6797E58}"/>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600075" y="2771775"/>
            <a:ext cx="228600" cy="228600"/>
          </a:xfrm>
          <a:prstGeom prst="rect">
            <a:avLst/>
          </a:prstGeom>
        </p:spPr>
      </p:pic>
      <p:sp>
        <p:nvSpPr>
          <p:cNvPr id="17" name="직사각형 16">
            <a:extLst>
              <a:ext uri="{FF2B5EF4-FFF2-40B4-BE49-F238E27FC236}">
                <a16:creationId xmlns:a16="http://schemas.microsoft.com/office/drawing/2014/main" id="{F00C624C-7ECF-4D83-AAF5-EB643F9E9906}"/>
              </a:ext>
            </a:extLst>
          </p:cNvPr>
          <p:cNvSpPr>
            <a:spLocks noGrp="1"/>
          </p:cNvSpPr>
          <p:nvPr/>
        </p:nvSpPr>
        <p:spPr>
          <a:xfrm>
            <a:off x="952500" y="2705100"/>
            <a:ext cx="828675" cy="123825"/>
          </a:xfrm>
          <a:prstGeom prst="rect">
            <a:avLst/>
          </a:prstGeom>
          <a:noFill/>
          <a:ln w="0">
            <a:noFill/>
          </a:ln>
        </p:spPr>
        <p:txBody>
          <a:bodyPr wrap="square" lIns="0" tIns="0" rIns="0" bIns="0" anchor="ctr">
            <a:normAutofit/>
          </a:bodyPr>
          <a:lstStyle>
            <a:defPPr>
              <a:defRPr sz="563"/>
            </a:defPPr>
          </a:lstStyle>
          <a:p>
            <a:pPr algn="l">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FIXED EVAL SET</a:t>
            </a:r>
          </a:p>
        </p:txBody>
      </p:sp>
      <p:sp>
        <p:nvSpPr>
          <p:cNvPr id="18" name="직사각형 17">
            <a:extLst>
              <a:ext uri="{FF2B5EF4-FFF2-40B4-BE49-F238E27FC236}">
                <a16:creationId xmlns:a16="http://schemas.microsoft.com/office/drawing/2014/main" id="{395CAC17-6C46-47A7-80E3-60E0EBF1E170}"/>
              </a:ext>
            </a:extLst>
          </p:cNvPr>
          <p:cNvSpPr>
            <a:spLocks noGrp="1"/>
          </p:cNvSpPr>
          <p:nvPr/>
        </p:nvSpPr>
        <p:spPr>
          <a:xfrm>
            <a:off x="952500" y="2876550"/>
            <a:ext cx="828675" cy="295275"/>
          </a:xfrm>
          <a:prstGeom prst="rect">
            <a:avLst/>
          </a:prstGeom>
          <a:noFill/>
          <a:ln w="0">
            <a:noFill/>
          </a:ln>
        </p:spPr>
        <p:txBody>
          <a:bodyPr wrap="square" lIns="0" tIns="0" rIns="0" bIns="0" anchor="ctr">
            <a:normAutofit/>
          </a:bodyPr>
          <a:lstStyle>
            <a:defPPr>
              <a:defRPr sz="566"/>
            </a:defPPr>
          </a:lstStyle>
          <a:p>
            <a:pPr algn="l">
              <a:buNone/>
              <a:defRPr sz="566" b="1">
                <a:solidFill>
                  <a:srgbClr val="17231F"/>
                </a:solidFill>
                <a:latin typeface="Noto Sans KR"/>
                <a:ea typeface="Noto Sans KR"/>
                <a:cs typeface="Noto Sans KR"/>
              </a:defRPr>
            </a:pPr>
            <a:r>
              <a:rPr sz="566" b="1">
                <a:solidFill>
                  <a:srgbClr val="17231F"/>
                </a:solidFill>
                <a:latin typeface="Noto Sans KR"/>
                <a:ea typeface="Noto Sans KR"/>
                <a:cs typeface="Noto Sans KR"/>
              </a:rPr>
              <a:t>Fixed questions</a:t>
            </a:r>
          </a:p>
          <a:p>
            <a:pPr algn="l">
              <a:buNone/>
              <a:defRPr sz="566" b="1">
                <a:solidFill>
                  <a:srgbClr val="17231F"/>
                </a:solidFill>
                <a:latin typeface="Noto Sans KR"/>
                <a:ea typeface="Noto Sans KR"/>
                <a:cs typeface="Noto Sans KR"/>
              </a:defRPr>
            </a:pPr>
            <a:r>
              <a:rPr sz="566" b="1">
                <a:solidFill>
                  <a:srgbClr val="17231F"/>
                </a:solidFill>
                <a:latin typeface="Noto Sans KR"/>
                <a:ea typeface="Noto Sans KR"/>
                <a:cs typeface="Noto Sans KR"/>
              </a:rPr>
              <a:t>and explicit gold labels</a:t>
            </a:r>
          </a:p>
        </p:txBody>
      </p:sp>
      <p:sp>
        <p:nvSpPr>
          <p:cNvPr id="19" name="직사각형 18">
            <a:extLst>
              <a:ext uri="{FF2B5EF4-FFF2-40B4-BE49-F238E27FC236}">
                <a16:creationId xmlns:a16="http://schemas.microsoft.com/office/drawing/2014/main" id="{DBFAF8CB-8440-4C9D-BDCA-3C5C7ED80D19}"/>
              </a:ext>
            </a:extLst>
          </p:cNvPr>
          <p:cNvSpPr>
            <a:spLocks noGrp="1"/>
          </p:cNvSpPr>
          <p:nvPr/>
        </p:nvSpPr>
        <p:spPr>
          <a:xfrm>
            <a:off x="952500" y="3190875"/>
            <a:ext cx="828675" cy="1314450"/>
          </a:xfrm>
          <a:prstGeom prst="rect">
            <a:avLst/>
          </a:prstGeom>
          <a:noFill/>
          <a:ln w="0">
            <a:noFill/>
          </a:ln>
        </p:spPr>
        <p:txBody>
          <a:bodyPr wrap="square" lIns="0" tIns="0" rIns="0" bIns="0" anchor="t">
            <a:normAutofit/>
          </a:bodyPr>
          <a:lstStyle>
            <a:defPPr>
              <a:defRPr sz="607"/>
            </a:defPPr>
          </a:lstStyle>
          <a:p>
            <a:pPr algn="l">
              <a:buNone/>
              <a:defRPr sz="607" b="0">
                <a:solidFill>
                  <a:srgbClr val="64716B"/>
                </a:solidFill>
                <a:latin typeface="Noto Sans KR"/>
                <a:ea typeface="Noto Sans KR"/>
                <a:cs typeface="Noto Sans KR"/>
              </a:defRPr>
            </a:pPr>
            <a:r>
              <a:rPr sz="607" b="0">
                <a:solidFill>
                  <a:srgbClr val="64716B"/>
                </a:solidFill>
                <a:latin typeface="Noto Sans KR"/>
                <a:ea typeface="Noto Sans KR"/>
                <a:cs typeface="Noto Sans KR"/>
              </a:rPr>
              <a:t>Agent: 24 cases</a:t>
            </a:r>
          </a:p>
          <a:p>
            <a:pPr algn="l">
              <a:buNone/>
              <a:defRPr sz="607" b="0">
                <a:solidFill>
                  <a:srgbClr val="64716B"/>
                </a:solidFill>
                <a:latin typeface="Noto Sans KR"/>
                <a:ea typeface="Noto Sans KR"/>
                <a:cs typeface="Noto Sans KR"/>
              </a:defRPr>
            </a:pPr>
            <a:r>
              <a:rPr sz="607" b="0">
                <a:solidFill>
                  <a:srgbClr val="64716B"/>
                </a:solidFill>
                <a:latin typeface="Noto Sans KR"/>
                <a:ea typeface="Noto Sans KR"/>
                <a:cs typeface="Noto Sans KR"/>
              </a:rPr>
              <a:t>Policy RAG: 24 cases</a:t>
            </a:r>
          </a:p>
          <a:p>
            <a:pPr algn="l">
              <a:buNone/>
              <a:defRPr sz="607" b="0">
                <a:solidFill>
                  <a:srgbClr val="64716B"/>
                </a:solidFill>
                <a:latin typeface="Noto Sans KR"/>
                <a:ea typeface="Noto Sans KR"/>
                <a:cs typeface="Noto Sans KR"/>
              </a:defRPr>
            </a:pPr>
            <a:r>
              <a:rPr sz="607" b="0">
                <a:solidFill>
                  <a:srgbClr val="64716B"/>
                </a:solidFill>
                <a:latin typeface="Noto Sans KR"/>
                <a:ea typeface="Noto Sans KR"/>
                <a:cs typeface="Noto Sans KR"/>
              </a:rPr>
              <a:t>Access: 11 cases</a:t>
            </a:r>
          </a:p>
        </p:txBody>
      </p:sp>
      <p:sp>
        <p:nvSpPr>
          <p:cNvPr id="20" name="사각형: 둥근 모서리 19">
            <a:extLst>
              <a:ext uri="{FF2B5EF4-FFF2-40B4-BE49-F238E27FC236}">
                <a16:creationId xmlns:a16="http://schemas.microsoft.com/office/drawing/2014/main" id="{50D3C1EE-76AB-4A6D-A491-B8C54762E289}"/>
              </a:ext>
            </a:extLst>
          </p:cNvPr>
          <p:cNvSpPr>
            <a:spLocks noGrp="1"/>
          </p:cNvSpPr>
          <p:nvPr/>
        </p:nvSpPr>
        <p:spPr>
          <a:xfrm>
            <a:off x="571500" y="4171950"/>
            <a:ext cx="419100" cy="171450"/>
          </a:xfrm>
          <a:prstGeom prst="roundRect">
            <a:avLst>
              <a:gd name="adj" fmla="val 50000"/>
            </a:avLst>
          </a:prstGeom>
          <a:solidFill>
            <a:srgbClr val="FFFFFF"/>
          </a:solidFill>
          <a:ln w="7620">
            <a:solidFill>
              <a:srgbClr val="2E6F9F"/>
            </a:solidFill>
            <a:prstDash val="solid"/>
          </a:ln>
        </p:spPr>
        <p:txBody>
          <a:bodyPr wrap="none" lIns="19050" tIns="0" rIns="19050" bIns="0" anchor="ctr">
            <a:normAutofit/>
          </a:bodyPr>
          <a:lstStyle>
            <a:defPPr>
              <a:defRPr sz="563"/>
            </a:defPPr>
          </a:lstStyle>
          <a:p>
            <a:pPr algn="ctr">
              <a:buNone/>
              <a:defRPr sz="563" b="1">
                <a:solidFill>
                  <a:srgbClr val="2E6F9F"/>
                </a:solidFill>
                <a:latin typeface="Noto Sans KR"/>
                <a:ea typeface="Noto Sans KR"/>
                <a:cs typeface="Noto Sans KR"/>
              </a:defRPr>
            </a:pPr>
            <a:r>
              <a:rPr sz="563" b="1">
                <a:solidFill>
                  <a:srgbClr val="2E6F9F"/>
                </a:solidFill>
                <a:latin typeface="Noto Sans KR"/>
                <a:ea typeface="Noto Sans KR"/>
                <a:cs typeface="Noto Sans KR"/>
              </a:rPr>
              <a:t>Review</a:t>
            </a:r>
          </a:p>
        </p:txBody>
      </p:sp>
      <p:sp>
        <p:nvSpPr>
          <p:cNvPr id="21" name="사각형: 둥근 모서리 20">
            <a:extLst>
              <a:ext uri="{FF2B5EF4-FFF2-40B4-BE49-F238E27FC236}">
                <a16:creationId xmlns:a16="http://schemas.microsoft.com/office/drawing/2014/main" id="{111E55B1-B9DC-4D2E-BCA5-BDA8D2459E2E}"/>
              </a:ext>
            </a:extLst>
          </p:cNvPr>
          <p:cNvSpPr>
            <a:spLocks noGrp="1"/>
          </p:cNvSpPr>
          <p:nvPr/>
        </p:nvSpPr>
        <p:spPr>
          <a:xfrm>
            <a:off x="1028700" y="4171950"/>
            <a:ext cx="495300" cy="171450"/>
          </a:xfrm>
          <a:prstGeom prst="roundRect">
            <a:avLst>
              <a:gd name="adj" fmla="val 50000"/>
            </a:avLst>
          </a:prstGeom>
          <a:solidFill>
            <a:srgbClr val="FFFFFF"/>
          </a:solidFill>
          <a:ln w="7620">
            <a:solidFill>
              <a:srgbClr val="27664F"/>
            </a:solidFill>
            <a:prstDash val="solid"/>
          </a:ln>
        </p:spPr>
        <p:txBody>
          <a:bodyPr wrap="none" lIns="19050" tIns="0" rIns="19050" bIns="0" anchor="ctr">
            <a:normAutofit/>
          </a:bodyPr>
          <a:lstStyle>
            <a:defPPr>
              <a:defRPr sz="563"/>
            </a:defPPr>
          </a:lstStyle>
          <a:p>
            <a:pPr algn="ctr">
              <a:buNone/>
              <a:defRPr sz="563" b="1">
                <a:solidFill>
                  <a:srgbClr val="27664F"/>
                </a:solidFill>
                <a:latin typeface="Noto Sans KR"/>
                <a:ea typeface="Noto Sans KR"/>
                <a:cs typeface="Noto Sans KR"/>
              </a:defRPr>
            </a:pPr>
            <a:r>
              <a:rPr sz="563" b="1">
                <a:solidFill>
                  <a:srgbClr val="27664F"/>
                </a:solidFill>
                <a:latin typeface="Noto Sans KR"/>
                <a:ea typeface="Noto Sans KR"/>
                <a:cs typeface="Noto Sans KR"/>
              </a:rPr>
              <a:t>Policy RAG</a:t>
            </a:r>
          </a:p>
        </p:txBody>
      </p:sp>
      <p:sp>
        <p:nvSpPr>
          <p:cNvPr id="22" name="사각형: 둥근 모서리 21">
            <a:extLst>
              <a:ext uri="{FF2B5EF4-FFF2-40B4-BE49-F238E27FC236}">
                <a16:creationId xmlns:a16="http://schemas.microsoft.com/office/drawing/2014/main" id="{741073ED-9FB0-40A5-93DA-2F0FE273F5BE}"/>
              </a:ext>
            </a:extLst>
          </p:cNvPr>
          <p:cNvSpPr>
            <a:spLocks noGrp="1"/>
          </p:cNvSpPr>
          <p:nvPr/>
        </p:nvSpPr>
        <p:spPr>
          <a:xfrm>
            <a:off x="1562100" y="4171950"/>
            <a:ext cx="285750" cy="171450"/>
          </a:xfrm>
          <a:prstGeom prst="roundRect">
            <a:avLst>
              <a:gd name="adj" fmla="val 50000"/>
            </a:avLst>
          </a:prstGeom>
          <a:solidFill>
            <a:srgbClr val="FFFFFF"/>
          </a:solidFill>
          <a:ln w="7620">
            <a:solidFill>
              <a:srgbClr val="A56216"/>
            </a:solidFill>
            <a:prstDash val="solid"/>
          </a:ln>
        </p:spPr>
        <p:txBody>
          <a:bodyPr wrap="none" lIns="19050" tIns="0" rIns="19050" bIns="0" anchor="ctr">
            <a:normAutofit fontScale="87329"/>
          </a:bodyPr>
          <a:lstStyle>
            <a:defPPr>
              <a:defRPr sz="563"/>
            </a:defPPr>
          </a:lstStyle>
          <a:p>
            <a:pPr algn="ctr">
              <a:buNone/>
              <a:defRPr sz="563" b="1">
                <a:solidFill>
                  <a:srgbClr val="A56216"/>
                </a:solidFill>
                <a:latin typeface="Noto Sans KR"/>
                <a:ea typeface="Noto Sans KR"/>
                <a:cs typeface="Noto Sans KR"/>
              </a:defRPr>
            </a:pPr>
            <a:r>
              <a:rPr sz="563" b="1">
                <a:solidFill>
                  <a:srgbClr val="A56216"/>
                </a:solidFill>
                <a:latin typeface="Noto Sans KR"/>
                <a:ea typeface="Noto Sans KR"/>
                <a:cs typeface="Noto Sans KR"/>
              </a:rPr>
              <a:t>Access</a:t>
            </a:r>
          </a:p>
        </p:txBody>
      </p:sp>
      <p:sp>
        <p:nvSpPr>
          <p:cNvPr id="23" name="직선 연결선 22">
            <a:extLst>
              <a:ext uri="{FF2B5EF4-FFF2-40B4-BE49-F238E27FC236}">
                <a16:creationId xmlns:a16="http://schemas.microsoft.com/office/drawing/2014/main" id="{9422EFA6-8D7B-4DDF-9885-C86C4B70D76B}"/>
              </a:ext>
            </a:extLst>
          </p:cNvPr>
          <p:cNvSpPr>
            <a:spLocks noGrp="1"/>
          </p:cNvSpPr>
          <p:nvPr/>
        </p:nvSpPr>
        <p:spPr>
          <a:xfrm>
            <a:off x="2171700" y="2381250"/>
            <a:ext cx="4000500" cy="0"/>
          </a:xfrm>
          <a:prstGeom prst="line">
            <a:avLst/>
          </a:prstGeom>
          <a:noFill/>
          <a:ln w="9525">
            <a:solidFill>
              <a:srgbClr val="D8E3DE"/>
            </a:solidFill>
            <a:prstDash val="solid"/>
          </a:ln>
        </p:spPr>
        <p:txBody>
          <a:bodyPr/>
          <a:lstStyle/>
          <a:p>
            <a:endParaRPr/>
          </a:p>
        </p:txBody>
      </p:sp>
      <p:sp>
        <p:nvSpPr>
          <p:cNvPr id="24" name="직선 연결선 23">
            <a:extLst>
              <a:ext uri="{FF2B5EF4-FFF2-40B4-BE49-F238E27FC236}">
                <a16:creationId xmlns:a16="http://schemas.microsoft.com/office/drawing/2014/main" id="{EB62608A-EB28-4895-9D5A-093010E526BE}"/>
              </a:ext>
            </a:extLst>
          </p:cNvPr>
          <p:cNvSpPr>
            <a:spLocks noGrp="1"/>
          </p:cNvSpPr>
          <p:nvPr/>
        </p:nvSpPr>
        <p:spPr>
          <a:xfrm>
            <a:off x="2171700" y="4723342"/>
            <a:ext cx="4000500" cy="0"/>
          </a:xfrm>
          <a:prstGeom prst="line">
            <a:avLst/>
          </a:prstGeom>
          <a:noFill/>
          <a:ln w="9525">
            <a:solidFill>
              <a:srgbClr val="D8E3DE"/>
            </a:solidFill>
            <a:prstDash val="solid"/>
          </a:ln>
        </p:spPr>
        <p:txBody>
          <a:bodyPr/>
          <a:lstStyle/>
          <a:p>
            <a:endParaRPr/>
          </a:p>
        </p:txBody>
      </p:sp>
      <p:sp>
        <p:nvSpPr>
          <p:cNvPr id="25" name="사각형: 둥근 모서리 24">
            <a:extLst>
              <a:ext uri="{FF2B5EF4-FFF2-40B4-BE49-F238E27FC236}">
                <a16:creationId xmlns:a16="http://schemas.microsoft.com/office/drawing/2014/main" id="{7EF1ECC3-B829-4C77-B93B-06CD125F7096}"/>
              </a:ext>
            </a:extLst>
          </p:cNvPr>
          <p:cNvSpPr>
            <a:spLocks noGrp="1"/>
          </p:cNvSpPr>
          <p:nvPr/>
        </p:nvSpPr>
        <p:spPr>
          <a:xfrm>
            <a:off x="2714625" y="2552700"/>
            <a:ext cx="2857500" cy="857250"/>
          </a:xfrm>
          <a:prstGeom prst="roundRect">
            <a:avLst>
              <a:gd name="adj" fmla="val 10317"/>
            </a:avLst>
          </a:prstGeom>
          <a:solidFill>
            <a:srgbClr val="EDF6FC"/>
          </a:solidFill>
          <a:ln w="11430">
            <a:solidFill>
              <a:srgbClr val="2E6F9F"/>
            </a:solidFill>
            <a:prstDash val="solid"/>
          </a:ln>
        </p:spPr>
        <p:txBody>
          <a:bodyPr/>
          <a:lstStyle/>
          <a:p>
            <a:endParaRPr/>
          </a:p>
        </p:txBody>
      </p:sp>
      <p:sp>
        <p:nvSpPr>
          <p:cNvPr id="26" name="직사각형 25">
            <a:extLst>
              <a:ext uri="{FF2B5EF4-FFF2-40B4-BE49-F238E27FC236}">
                <a16:creationId xmlns:a16="http://schemas.microsoft.com/office/drawing/2014/main" id="{8D91F633-E43D-45D6-AF77-DBE7BA696398}"/>
              </a:ext>
            </a:extLst>
          </p:cNvPr>
          <p:cNvSpPr>
            <a:spLocks noGrp="1"/>
          </p:cNvSpPr>
          <p:nvPr/>
        </p:nvSpPr>
        <p:spPr>
          <a:xfrm>
            <a:off x="2857500" y="2647950"/>
            <a:ext cx="1238250" cy="123825"/>
          </a:xfrm>
          <a:prstGeom prst="rect">
            <a:avLst/>
          </a:prstGeom>
          <a:noFill/>
          <a:ln w="0">
            <a:noFill/>
          </a:ln>
        </p:spPr>
        <p:txBody>
          <a:bodyPr wrap="square" lIns="0" tIns="0" rIns="0" bIns="0" anchor="ctr">
            <a:normAutofit/>
          </a:bodyPr>
          <a:lstStyle>
            <a:defPPr>
              <a:defRPr sz="563"/>
            </a:defPPr>
          </a:lstStyle>
          <a:p>
            <a:pPr algn="l">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API PROFILE</a:t>
            </a:r>
          </a:p>
        </p:txBody>
      </p:sp>
      <p:sp>
        <p:nvSpPr>
          <p:cNvPr id="27" name="사각형: 둥근 모서리 26">
            <a:extLst>
              <a:ext uri="{FF2B5EF4-FFF2-40B4-BE49-F238E27FC236}">
                <a16:creationId xmlns:a16="http://schemas.microsoft.com/office/drawing/2014/main" id="{413BB5E6-8597-4351-8A21-2C1FFF31CF59}"/>
              </a:ext>
            </a:extLst>
          </p:cNvPr>
          <p:cNvSpPr>
            <a:spLocks noGrp="1"/>
          </p:cNvSpPr>
          <p:nvPr/>
        </p:nvSpPr>
        <p:spPr>
          <a:xfrm>
            <a:off x="5143500" y="2619375"/>
            <a:ext cx="323850" cy="323850"/>
          </a:xfrm>
          <a:prstGeom prst="roundRect">
            <a:avLst>
              <a:gd name="adj" fmla="val 29032"/>
            </a:avLst>
          </a:prstGeom>
          <a:solidFill>
            <a:srgbClr val="FFFFFF"/>
          </a:solidFill>
          <a:ln w="0">
            <a:noFill/>
          </a:ln>
        </p:spPr>
        <p:txBody>
          <a:bodyPr/>
          <a:lstStyle/>
          <a:p>
            <a:endParaRPr/>
          </a:p>
        </p:txBody>
      </p:sp>
      <p:pic>
        <p:nvPicPr>
          <p:cNvPr id="146" name="그래픽 136">
            <a:extLst>
              <a:ext uri="{FF2B5EF4-FFF2-40B4-BE49-F238E27FC236}">
                <a16:creationId xmlns:a16="http://schemas.microsoft.com/office/drawing/2014/main" id="{D76104AD-54AE-41D6-9CFD-4D325243BF29}"/>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5210175" y="2686050"/>
            <a:ext cx="190500" cy="190500"/>
          </a:xfrm>
          <a:prstGeom prst="rect">
            <a:avLst/>
          </a:prstGeom>
        </p:spPr>
      </p:pic>
      <p:sp>
        <p:nvSpPr>
          <p:cNvPr id="29" name="직사각형 28">
            <a:extLst>
              <a:ext uri="{FF2B5EF4-FFF2-40B4-BE49-F238E27FC236}">
                <a16:creationId xmlns:a16="http://schemas.microsoft.com/office/drawing/2014/main" id="{1F92A3AB-7E4F-48D6-92DA-B3D330B27413}"/>
              </a:ext>
            </a:extLst>
          </p:cNvPr>
          <p:cNvSpPr>
            <a:spLocks noGrp="1"/>
          </p:cNvSpPr>
          <p:nvPr/>
        </p:nvSpPr>
        <p:spPr>
          <a:xfrm>
            <a:off x="2857500" y="2857500"/>
            <a:ext cx="2143125" cy="228600"/>
          </a:xfrm>
          <a:prstGeom prst="rect">
            <a:avLst/>
          </a:prstGeom>
          <a:noFill/>
          <a:ln w="0">
            <a:noFill/>
          </a:ln>
        </p:spPr>
        <p:txBody>
          <a:bodyPr wrap="square" lIns="0" tIns="0" rIns="0" bIns="0" anchor="ctr">
            <a:normAutofit/>
          </a:bodyPr>
          <a:lstStyle>
            <a:defPPr>
              <a:defRPr sz="818"/>
            </a:defPPr>
          </a:lstStyle>
          <a:p>
            <a:pPr algn="l">
              <a:buNone/>
              <a:defRPr sz="818" b="1">
                <a:solidFill>
                  <a:srgbClr val="17231F"/>
                </a:solidFill>
                <a:latin typeface="Noto Sans KR"/>
                <a:ea typeface="Noto Sans KR"/>
                <a:cs typeface="Noto Sans KR"/>
              </a:defRPr>
            </a:pPr>
            <a:r>
              <a:rPr sz="818" b="1">
                <a:solidFill>
                  <a:srgbClr val="17231F"/>
                </a:solidFill>
                <a:latin typeface="Noto Sans KR"/>
                <a:ea typeface="Noto Sans KR"/>
                <a:cs typeface="Noto Sans KR"/>
              </a:rPr>
              <a:t>OpenAI API</a:t>
            </a:r>
          </a:p>
        </p:txBody>
      </p:sp>
      <p:sp>
        <p:nvSpPr>
          <p:cNvPr id="30" name="직사각형 29">
            <a:extLst>
              <a:ext uri="{FF2B5EF4-FFF2-40B4-BE49-F238E27FC236}">
                <a16:creationId xmlns:a16="http://schemas.microsoft.com/office/drawing/2014/main" id="{470D7CEC-9886-4A8D-8B5A-FB63AC6A4D2F}"/>
              </a:ext>
            </a:extLst>
          </p:cNvPr>
          <p:cNvSpPr>
            <a:spLocks noGrp="1"/>
          </p:cNvSpPr>
          <p:nvPr/>
        </p:nvSpPr>
        <p:spPr>
          <a:xfrm>
            <a:off x="2857500" y="3105150"/>
            <a:ext cx="1571625" cy="323850"/>
          </a:xfrm>
          <a:prstGeom prst="rect">
            <a:avLst/>
          </a:prstGeom>
          <a:noFill/>
          <a:ln w="0">
            <a:noFill/>
          </a:ln>
        </p:spPr>
        <p:txBody>
          <a:bodyPr wrap="square" lIns="0" tIns="0" rIns="0" bIns="0" anchor="t">
            <a:normAutofit/>
          </a:bodyPr>
          <a:lstStyle>
            <a:defPPr>
              <a:defRPr sz="600"/>
            </a:defPPr>
          </a:lstStyle>
          <a:p>
            <a:pPr algn="l">
              <a:buNone/>
              <a:defRPr sz="600" b="0">
                <a:solidFill>
                  <a:srgbClr val="64716B"/>
                </a:solidFill>
                <a:latin typeface="Noto Sans KR"/>
                <a:ea typeface="Noto Sans KR"/>
                <a:cs typeface="Noto Sans KR"/>
              </a:defRPr>
            </a:pPr>
            <a:r>
              <a:rPr sz="600" b="0">
                <a:solidFill>
                  <a:srgbClr val="64716B"/>
                </a:solidFill>
                <a:latin typeface="Noto Sans KR"/>
                <a:ea typeface="Noto Sans KR"/>
                <a:cs typeface="Noto Sans KR"/>
              </a:rPr>
              <a:t>Terra Agent</a:t>
            </a:r>
          </a:p>
          <a:p>
            <a:pPr algn="l">
              <a:buNone/>
              <a:defRPr sz="600" b="0">
                <a:solidFill>
                  <a:srgbClr val="64716B"/>
                </a:solidFill>
                <a:latin typeface="Noto Sans KR"/>
                <a:ea typeface="Noto Sans KR"/>
                <a:cs typeface="Noto Sans KR"/>
              </a:defRPr>
            </a:pPr>
            <a:r>
              <a:rPr sz="600" b="0">
                <a:solidFill>
                  <a:srgbClr val="64716B"/>
                </a:solidFill>
                <a:latin typeface="Noto Sans KR"/>
                <a:ea typeface="Noto Sans KR"/>
                <a:cs typeface="Noto Sans KR"/>
              </a:rPr>
              <a:t>Luna Extractor · Evidence</a:t>
            </a:r>
          </a:p>
        </p:txBody>
      </p:sp>
      <p:sp>
        <p:nvSpPr>
          <p:cNvPr id="31" name="사각형: 둥근 모서리 30">
            <a:extLst>
              <a:ext uri="{FF2B5EF4-FFF2-40B4-BE49-F238E27FC236}">
                <a16:creationId xmlns:a16="http://schemas.microsoft.com/office/drawing/2014/main" id="{9EBAC5C6-A9BB-4A5B-B85E-8A26807D9E0B}"/>
              </a:ext>
            </a:extLst>
          </p:cNvPr>
          <p:cNvSpPr>
            <a:spLocks noGrp="1"/>
          </p:cNvSpPr>
          <p:nvPr/>
        </p:nvSpPr>
        <p:spPr>
          <a:xfrm>
            <a:off x="4476750" y="3105150"/>
            <a:ext cx="952500" cy="171450"/>
          </a:xfrm>
          <a:prstGeom prst="roundRect">
            <a:avLst>
              <a:gd name="adj" fmla="val 50000"/>
            </a:avLst>
          </a:prstGeom>
          <a:solidFill>
            <a:srgbClr val="FFFFFF"/>
          </a:solidFill>
          <a:ln w="7620">
            <a:solidFill>
              <a:srgbClr val="2E6F9F"/>
            </a:solidFill>
            <a:prstDash val="solid"/>
          </a:ln>
        </p:spPr>
        <p:txBody>
          <a:bodyPr wrap="none" lIns="19050" tIns="0" rIns="19050" bIns="0" anchor="ctr">
            <a:normAutofit/>
          </a:bodyPr>
          <a:lstStyle>
            <a:defPPr>
              <a:defRPr sz="563"/>
            </a:defPPr>
          </a:lstStyle>
          <a:p>
            <a:pPr algn="ctr">
              <a:buNone/>
              <a:defRPr sz="563" b="1">
                <a:solidFill>
                  <a:srgbClr val="2E6F9F"/>
                </a:solidFill>
                <a:latin typeface="Noto Sans KR"/>
                <a:ea typeface="Noto Sans KR"/>
                <a:cs typeface="Noto Sans KR"/>
              </a:defRPr>
            </a:pPr>
            <a:r>
              <a:rPr sz="563" b="1">
                <a:solidFill>
                  <a:srgbClr val="2E6F9F"/>
                </a:solidFill>
                <a:latin typeface="Noto Sans KR"/>
                <a:ea typeface="Noto Sans KR"/>
                <a:cs typeface="Noto Sans KR"/>
              </a:rPr>
              <a:t>Terra · Luna</a:t>
            </a:r>
          </a:p>
        </p:txBody>
      </p:sp>
      <p:sp>
        <p:nvSpPr>
          <p:cNvPr id="32" name="사각형: 둥근 모서리 31">
            <a:extLst>
              <a:ext uri="{FF2B5EF4-FFF2-40B4-BE49-F238E27FC236}">
                <a16:creationId xmlns:a16="http://schemas.microsoft.com/office/drawing/2014/main" id="{7EAAE1F7-86F5-410E-9708-8FB9914E8539}"/>
              </a:ext>
            </a:extLst>
          </p:cNvPr>
          <p:cNvSpPr>
            <a:spLocks noGrp="1"/>
          </p:cNvSpPr>
          <p:nvPr/>
        </p:nvSpPr>
        <p:spPr>
          <a:xfrm>
            <a:off x="2714625" y="3714750"/>
            <a:ext cx="2857500" cy="857250"/>
          </a:xfrm>
          <a:prstGeom prst="roundRect">
            <a:avLst>
              <a:gd name="adj" fmla="val 10317"/>
            </a:avLst>
          </a:prstGeom>
          <a:solidFill>
            <a:srgbClr val="EDF7F2"/>
          </a:solidFill>
          <a:ln w="22860">
            <a:solidFill>
              <a:srgbClr val="27664F"/>
            </a:solidFill>
            <a:prstDash val="solid"/>
          </a:ln>
        </p:spPr>
        <p:txBody>
          <a:bodyPr/>
          <a:lstStyle/>
          <a:p>
            <a:endParaRPr/>
          </a:p>
        </p:txBody>
      </p:sp>
      <p:sp>
        <p:nvSpPr>
          <p:cNvPr id="33" name="직사각형 32">
            <a:extLst>
              <a:ext uri="{FF2B5EF4-FFF2-40B4-BE49-F238E27FC236}">
                <a16:creationId xmlns:a16="http://schemas.microsoft.com/office/drawing/2014/main" id="{B266FA7C-775C-4DED-9FF7-7C896B825525}"/>
              </a:ext>
            </a:extLst>
          </p:cNvPr>
          <p:cNvSpPr>
            <a:spLocks noGrp="1"/>
          </p:cNvSpPr>
          <p:nvPr/>
        </p:nvSpPr>
        <p:spPr>
          <a:xfrm>
            <a:off x="2857500" y="3810000"/>
            <a:ext cx="1238250" cy="123825"/>
          </a:xfrm>
          <a:prstGeom prst="rect">
            <a:avLst/>
          </a:prstGeom>
          <a:noFill/>
          <a:ln w="0">
            <a:noFill/>
          </a:ln>
        </p:spPr>
        <p:txBody>
          <a:bodyPr wrap="square" lIns="0" tIns="0" rIns="0" bIns="0" anchor="ctr">
            <a:normAutofit/>
          </a:bodyPr>
          <a:lstStyle>
            <a:defPPr>
              <a:defRPr sz="563"/>
            </a:defPPr>
          </a:lstStyle>
          <a:p>
            <a:pPr algn="l">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LOCAL PROFILE</a:t>
            </a:r>
          </a:p>
        </p:txBody>
      </p:sp>
      <p:sp>
        <p:nvSpPr>
          <p:cNvPr id="34" name="사각형: 둥근 모서리 33">
            <a:extLst>
              <a:ext uri="{FF2B5EF4-FFF2-40B4-BE49-F238E27FC236}">
                <a16:creationId xmlns:a16="http://schemas.microsoft.com/office/drawing/2014/main" id="{F820688B-1023-4CE6-B5C3-5C18768AEDDF}"/>
              </a:ext>
            </a:extLst>
          </p:cNvPr>
          <p:cNvSpPr>
            <a:spLocks noGrp="1"/>
          </p:cNvSpPr>
          <p:nvPr/>
        </p:nvSpPr>
        <p:spPr>
          <a:xfrm>
            <a:off x="5143500" y="3781425"/>
            <a:ext cx="323850" cy="323850"/>
          </a:xfrm>
          <a:prstGeom prst="roundRect">
            <a:avLst>
              <a:gd name="adj" fmla="val 29032"/>
            </a:avLst>
          </a:prstGeom>
          <a:solidFill>
            <a:srgbClr val="FFFFFF"/>
          </a:solidFill>
          <a:ln w="0">
            <a:noFill/>
          </a:ln>
        </p:spPr>
        <p:txBody>
          <a:bodyPr/>
          <a:lstStyle/>
          <a:p>
            <a:endParaRPr/>
          </a:p>
        </p:txBody>
      </p:sp>
      <p:pic>
        <p:nvPicPr>
          <p:cNvPr id="153" name="그래픽 143">
            <a:extLst>
              <a:ext uri="{FF2B5EF4-FFF2-40B4-BE49-F238E27FC236}">
                <a16:creationId xmlns:a16="http://schemas.microsoft.com/office/drawing/2014/main" id="{E47DE87B-A79E-4AC9-9CC8-AD2F5CDB3879}"/>
              </a:ext>
            </a:extLst>
          </p:cNvPr>
          <p:cNvPicPr>
            <a:picLocks noChangeAspect="1"/>
          </p:cNvPicPr>
          <p:nvPr/>
        </p:nvPicPr>
        <p:blipFill>
          <a:blip>
            <a:extLst>
              <a:ext uri="{96DAC541-7B7A-43D3-8B79-37D633B846F1}">
                <asvg:svgBlip xmlns:asvg="http://schemas.microsoft.com/office/drawing/2016/SVG/main" r:embed="rId5"/>
              </a:ext>
            </a:extLst>
          </a:blip>
          <a:stretch/>
        </p:blipFill>
        <p:spPr>
          <a:xfrm>
            <a:off x="5210175" y="3848100"/>
            <a:ext cx="190500" cy="190500"/>
          </a:xfrm>
          <a:prstGeom prst="rect">
            <a:avLst/>
          </a:prstGeom>
        </p:spPr>
      </p:pic>
      <p:sp>
        <p:nvSpPr>
          <p:cNvPr id="37" name="직사각형 36">
            <a:extLst>
              <a:ext uri="{FF2B5EF4-FFF2-40B4-BE49-F238E27FC236}">
                <a16:creationId xmlns:a16="http://schemas.microsoft.com/office/drawing/2014/main" id="{363A64EC-E201-4230-B139-148B9A3EE6D6}"/>
              </a:ext>
            </a:extLst>
          </p:cNvPr>
          <p:cNvSpPr>
            <a:spLocks noGrp="1"/>
          </p:cNvSpPr>
          <p:nvPr/>
        </p:nvSpPr>
        <p:spPr>
          <a:xfrm>
            <a:off x="2857500" y="4267200"/>
            <a:ext cx="1571625" cy="323850"/>
          </a:xfrm>
          <a:prstGeom prst="rect">
            <a:avLst/>
          </a:prstGeom>
          <a:noFill/>
          <a:ln w="0">
            <a:noFill/>
          </a:ln>
        </p:spPr>
        <p:txBody>
          <a:bodyPr wrap="square" lIns="0" tIns="0" rIns="0" bIns="0" anchor="t">
            <a:normAutofit/>
          </a:bodyPr>
          <a:lstStyle>
            <a:defPPr>
              <a:defRPr sz="600"/>
            </a:defPPr>
          </a:lstStyle>
          <a:p>
            <a:pPr algn="l">
              <a:buNone/>
              <a:defRPr sz="600" b="0">
                <a:solidFill>
                  <a:srgbClr val="64716B"/>
                </a:solidFill>
                <a:latin typeface="Noto Sans KR"/>
                <a:ea typeface="Noto Sans KR"/>
                <a:cs typeface="Noto Sans KR"/>
              </a:defRPr>
            </a:pPr>
            <a:r>
              <a:rPr sz="600" b="0">
                <a:solidFill>
                  <a:srgbClr val="64716B"/>
                </a:solidFill>
                <a:latin typeface="Noto Sans KR"/>
                <a:ea typeface="Noto Sans KR"/>
                <a:cs typeface="Noto Sans KR"/>
              </a:rPr>
              <a:t>GPT-OSS 20B Agent</a:t>
            </a:r>
          </a:p>
          <a:p>
            <a:pPr algn="l">
              <a:buNone/>
              <a:defRPr sz="600" b="0">
                <a:solidFill>
                  <a:srgbClr val="64716B"/>
                </a:solidFill>
                <a:latin typeface="Noto Sans KR"/>
                <a:ea typeface="Noto Sans KR"/>
                <a:cs typeface="Noto Sans KR"/>
              </a:defRPr>
            </a:pPr>
            <a:r>
              <a:rPr sz="600" b="0">
                <a:solidFill>
                  <a:srgbClr val="64716B"/>
                </a:solidFill>
                <a:latin typeface="Noto Sans KR"/>
                <a:ea typeface="Noto Sans KR"/>
                <a:cs typeface="Noto Sans KR"/>
              </a:rPr>
              <a:t>Qwen3-8B Extractor · Evidence</a:t>
            </a:r>
          </a:p>
        </p:txBody>
      </p:sp>
      <p:sp>
        <p:nvSpPr>
          <p:cNvPr id="38" name="사각형: 둥근 모서리 37">
            <a:extLst>
              <a:ext uri="{FF2B5EF4-FFF2-40B4-BE49-F238E27FC236}">
                <a16:creationId xmlns:a16="http://schemas.microsoft.com/office/drawing/2014/main" id="{D9EE1B44-7480-42A0-B4F5-C2375A031AFD}"/>
              </a:ext>
            </a:extLst>
          </p:cNvPr>
          <p:cNvSpPr>
            <a:spLocks noGrp="1"/>
          </p:cNvSpPr>
          <p:nvPr/>
        </p:nvSpPr>
        <p:spPr>
          <a:xfrm>
            <a:off x="4476750" y="4267200"/>
            <a:ext cx="952500" cy="171450"/>
          </a:xfrm>
          <a:prstGeom prst="roundRect">
            <a:avLst>
              <a:gd name="adj" fmla="val 50000"/>
            </a:avLst>
          </a:prstGeom>
          <a:solidFill>
            <a:srgbClr val="FFFFFF"/>
          </a:solidFill>
          <a:ln w="7620">
            <a:solidFill>
              <a:srgbClr val="27664F"/>
            </a:solidFill>
            <a:prstDash val="solid"/>
          </a:ln>
        </p:spPr>
        <p:txBody>
          <a:bodyPr wrap="none" lIns="19050" tIns="0" rIns="19050" bIns="0" anchor="ctr">
            <a:normAutofit/>
          </a:bodyPr>
          <a:lstStyle>
            <a:defPPr>
              <a:defRPr sz="563"/>
            </a:defPPr>
          </a:lstStyle>
          <a:p>
            <a:pPr algn="ctr">
              <a:buNone/>
              <a:defRPr sz="563" b="1">
                <a:solidFill>
                  <a:srgbClr val="27664F"/>
                </a:solidFill>
                <a:latin typeface="Noto Sans KR"/>
                <a:ea typeface="Noto Sans KR"/>
                <a:cs typeface="Noto Sans KR"/>
              </a:defRPr>
            </a:pPr>
            <a:r>
              <a:rPr sz="563" b="1">
                <a:solidFill>
                  <a:srgbClr val="27664F"/>
                </a:solidFill>
                <a:latin typeface="Noto Sans KR"/>
                <a:ea typeface="Noto Sans KR"/>
                <a:cs typeface="Noto Sans KR"/>
              </a:rPr>
              <a:t>GPT-OSS · Qwen3</a:t>
            </a:r>
          </a:p>
        </p:txBody>
      </p:sp>
      <p:sp>
        <p:nvSpPr>
          <p:cNvPr id="43" name="직사각형 42">
            <a:extLst>
              <a:ext uri="{FF2B5EF4-FFF2-40B4-BE49-F238E27FC236}">
                <a16:creationId xmlns:a16="http://schemas.microsoft.com/office/drawing/2014/main" id="{E68CF86D-C0FA-4C8A-9D5C-0D50CD62D51A}"/>
              </a:ext>
            </a:extLst>
          </p:cNvPr>
          <p:cNvSpPr>
            <a:spLocks noGrp="1"/>
          </p:cNvSpPr>
          <p:nvPr/>
        </p:nvSpPr>
        <p:spPr>
          <a:xfrm>
            <a:off x="2857500" y="4019550"/>
            <a:ext cx="2143125" cy="228600"/>
          </a:xfrm>
          <a:prstGeom prst="rect">
            <a:avLst/>
          </a:prstGeom>
          <a:noFill/>
          <a:ln w="0">
            <a:noFill/>
          </a:ln>
        </p:spPr>
        <p:txBody>
          <a:bodyPr wrap="square" lIns="0" tIns="0" rIns="0" bIns="0" anchor="ctr">
            <a:normAutofit/>
          </a:bodyPr>
          <a:lstStyle>
            <a:defPPr>
              <a:defRPr sz="818"/>
            </a:defPPr>
          </a:lstStyle>
          <a:p>
            <a:pPr algn="l">
              <a:buNone/>
              <a:defRPr sz="818" b="1">
                <a:solidFill>
                  <a:srgbClr val="17231F"/>
                </a:solidFill>
                <a:latin typeface="Noto Sans KR"/>
                <a:ea typeface="Noto Sans KR"/>
                <a:cs typeface="Noto Sans KR"/>
              </a:defRPr>
            </a:pPr>
            <a:r>
              <a:rPr sz="818" b="1">
                <a:solidFill>
                  <a:srgbClr val="17231F"/>
                </a:solidFill>
                <a:latin typeface="Noto Sans KR"/>
                <a:ea typeface="Noto Sans KR"/>
                <a:cs typeface="Noto Sans KR"/>
              </a:rPr>
              <a:t>Local vLLM</a:t>
            </a:r>
          </a:p>
        </p:txBody>
      </p:sp>
      <p:sp>
        <p:nvSpPr>
          <p:cNvPr id="48" name="사각형: 둥근 모서리 47">
            <a:extLst>
              <a:ext uri="{FF2B5EF4-FFF2-40B4-BE49-F238E27FC236}">
                <a16:creationId xmlns:a16="http://schemas.microsoft.com/office/drawing/2014/main" id="{823717BE-143D-47E0-9DF4-25B8F7324F31}"/>
              </a:ext>
            </a:extLst>
          </p:cNvPr>
          <p:cNvSpPr>
            <a:spLocks noGrp="1"/>
          </p:cNvSpPr>
          <p:nvPr/>
        </p:nvSpPr>
        <p:spPr>
          <a:xfrm>
            <a:off x="6457950" y="2741295"/>
            <a:ext cx="1524000" cy="1666875"/>
          </a:xfrm>
          <a:prstGeom prst="roundRect">
            <a:avLst>
              <a:gd name="adj" fmla="val 8125"/>
            </a:avLst>
          </a:prstGeom>
          <a:solidFill>
            <a:srgbClr val="F8FBFA"/>
          </a:solidFill>
          <a:ln w="11430">
            <a:solidFill>
              <a:srgbClr val="D8E3DE"/>
            </a:solidFill>
            <a:prstDash val="solid"/>
          </a:ln>
        </p:spPr>
        <p:txBody>
          <a:bodyPr/>
          <a:lstStyle/>
          <a:p>
            <a:endParaRPr/>
          </a:p>
        </p:txBody>
      </p:sp>
      <p:sp>
        <p:nvSpPr>
          <p:cNvPr id="49" name="사각형: 둥근 모서리 48">
            <a:extLst>
              <a:ext uri="{FF2B5EF4-FFF2-40B4-BE49-F238E27FC236}">
                <a16:creationId xmlns:a16="http://schemas.microsoft.com/office/drawing/2014/main" id="{2B9DC130-0368-40DC-A38D-9EBF2A3FA684}"/>
              </a:ext>
            </a:extLst>
          </p:cNvPr>
          <p:cNvSpPr>
            <a:spLocks noGrp="1"/>
          </p:cNvSpPr>
          <p:nvPr/>
        </p:nvSpPr>
        <p:spPr>
          <a:xfrm>
            <a:off x="6543675" y="3000375"/>
            <a:ext cx="342900" cy="342900"/>
          </a:xfrm>
          <a:prstGeom prst="roundRect">
            <a:avLst>
              <a:gd name="adj" fmla="val 25000"/>
            </a:avLst>
          </a:prstGeom>
          <a:solidFill>
            <a:srgbClr val="FFFFFF"/>
          </a:solidFill>
          <a:ln w="0">
            <a:noFill/>
          </a:ln>
        </p:spPr>
        <p:txBody>
          <a:bodyPr/>
          <a:lstStyle/>
          <a:p>
            <a:endParaRPr/>
          </a:p>
        </p:txBody>
      </p:sp>
      <p:pic>
        <p:nvPicPr>
          <p:cNvPr id="168" name="그래픽 158">
            <a:extLst>
              <a:ext uri="{FF2B5EF4-FFF2-40B4-BE49-F238E27FC236}">
                <a16:creationId xmlns:a16="http://schemas.microsoft.com/office/drawing/2014/main" id="{B56845F9-CC4C-4FAB-90EA-6A70BBF9FE89}"/>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6600825" y="2912745"/>
            <a:ext cx="228600" cy="228600"/>
          </a:xfrm>
          <a:prstGeom prst="rect">
            <a:avLst/>
          </a:prstGeom>
        </p:spPr>
      </p:pic>
      <p:sp>
        <p:nvSpPr>
          <p:cNvPr id="51" name="직사각형 50">
            <a:extLst>
              <a:ext uri="{FF2B5EF4-FFF2-40B4-BE49-F238E27FC236}">
                <a16:creationId xmlns:a16="http://schemas.microsoft.com/office/drawing/2014/main" id="{A7E29706-BE3C-421E-BE28-C04B6699A6BA}"/>
              </a:ext>
            </a:extLst>
          </p:cNvPr>
          <p:cNvSpPr>
            <a:spLocks noGrp="1"/>
          </p:cNvSpPr>
          <p:nvPr/>
        </p:nvSpPr>
        <p:spPr>
          <a:xfrm>
            <a:off x="6953250" y="2846070"/>
            <a:ext cx="904875" cy="123825"/>
          </a:xfrm>
          <a:prstGeom prst="rect">
            <a:avLst/>
          </a:prstGeom>
          <a:noFill/>
          <a:ln w="0">
            <a:noFill/>
          </a:ln>
        </p:spPr>
        <p:txBody>
          <a:bodyPr wrap="square" lIns="0" tIns="0" rIns="0" bIns="0" anchor="ctr">
            <a:normAutofit/>
          </a:bodyPr>
          <a:lstStyle>
            <a:defPPr>
              <a:defRPr sz="563"/>
            </a:defPPr>
          </a:lstStyle>
          <a:p>
            <a:pPr algn="l">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EXECUTION TRACE</a:t>
            </a:r>
          </a:p>
        </p:txBody>
      </p:sp>
      <p:sp>
        <p:nvSpPr>
          <p:cNvPr id="52" name="직사각형 51">
            <a:extLst>
              <a:ext uri="{FF2B5EF4-FFF2-40B4-BE49-F238E27FC236}">
                <a16:creationId xmlns:a16="http://schemas.microsoft.com/office/drawing/2014/main" id="{EDC77112-2B8C-4A16-B2E8-DAC954159576}"/>
              </a:ext>
            </a:extLst>
          </p:cNvPr>
          <p:cNvSpPr>
            <a:spLocks noGrp="1"/>
          </p:cNvSpPr>
          <p:nvPr/>
        </p:nvSpPr>
        <p:spPr>
          <a:xfrm>
            <a:off x="6953250" y="3017520"/>
            <a:ext cx="904875" cy="295275"/>
          </a:xfrm>
          <a:prstGeom prst="rect">
            <a:avLst/>
          </a:prstGeom>
          <a:noFill/>
          <a:ln w="0">
            <a:noFill/>
          </a:ln>
        </p:spPr>
        <p:txBody>
          <a:bodyPr wrap="square" lIns="0" tIns="0" rIns="0" bIns="0" anchor="ctr">
            <a:normAutofit/>
          </a:bodyPr>
          <a:lstStyle>
            <a:defPPr>
              <a:defRPr sz="743"/>
            </a:defPPr>
          </a:lstStyle>
          <a:p>
            <a:pPr algn="l">
              <a:buNone/>
              <a:defRPr sz="743" b="1">
                <a:solidFill>
                  <a:srgbClr val="17231F"/>
                </a:solidFill>
                <a:latin typeface="Noto Sans KR"/>
                <a:ea typeface="Noto Sans KR"/>
                <a:cs typeface="Noto Sans KR"/>
              </a:defRPr>
            </a:pPr>
            <a:r>
              <a:rPr sz="743" b="1">
                <a:solidFill>
                  <a:srgbClr val="17231F"/>
                </a:solidFill>
                <a:latin typeface="Noto Sans KR"/>
                <a:ea typeface="Noto Sans KR"/>
                <a:cs typeface="Noto Sans KR"/>
              </a:rPr>
              <a:t>Collect execution results</a:t>
            </a:r>
          </a:p>
        </p:txBody>
      </p:sp>
      <p:sp>
        <p:nvSpPr>
          <p:cNvPr id="53" name="직사각형 52">
            <a:extLst>
              <a:ext uri="{FF2B5EF4-FFF2-40B4-BE49-F238E27FC236}">
                <a16:creationId xmlns:a16="http://schemas.microsoft.com/office/drawing/2014/main" id="{CFF9DBFE-9048-45F7-9888-ABAB7FBDB903}"/>
              </a:ext>
            </a:extLst>
          </p:cNvPr>
          <p:cNvSpPr>
            <a:spLocks noGrp="1"/>
          </p:cNvSpPr>
          <p:nvPr/>
        </p:nvSpPr>
        <p:spPr>
          <a:xfrm>
            <a:off x="6953250" y="3476625"/>
            <a:ext cx="904875" cy="1028700"/>
          </a:xfrm>
          <a:prstGeom prst="rect">
            <a:avLst/>
          </a:prstGeom>
          <a:noFill/>
          <a:ln w="0">
            <a:noFill/>
          </a:ln>
        </p:spPr>
        <p:txBody>
          <a:bodyPr wrap="square" lIns="0" tIns="0" rIns="0" bIns="0" anchor="t">
            <a:normAutofit/>
          </a:bodyPr>
          <a:lstStyle/>
          <a:p>
            <a:endParaRPr/>
          </a:p>
        </p:txBody>
      </p:sp>
      <p:sp>
        <p:nvSpPr>
          <p:cNvPr id="54" name="사각형: 둥근 모서리 53">
            <a:extLst>
              <a:ext uri="{FF2B5EF4-FFF2-40B4-BE49-F238E27FC236}">
                <a16:creationId xmlns:a16="http://schemas.microsoft.com/office/drawing/2014/main" id="{893A2176-E2C1-4B6D-ACB2-CE830324749D}"/>
              </a:ext>
            </a:extLst>
          </p:cNvPr>
          <p:cNvSpPr>
            <a:spLocks noGrp="1"/>
          </p:cNvSpPr>
          <p:nvPr/>
        </p:nvSpPr>
        <p:spPr>
          <a:xfrm>
            <a:off x="6591300" y="3569970"/>
            <a:ext cx="552450" cy="238125"/>
          </a:xfrm>
          <a:prstGeom prst="roundRect">
            <a:avLst>
              <a:gd name="adj" fmla="val 28000"/>
            </a:avLst>
          </a:prstGeom>
          <a:solidFill>
            <a:srgbClr val="FFFFFF"/>
          </a:solidFill>
          <a:ln w="6668">
            <a:solidFill>
              <a:srgbClr val="D8E3DE"/>
            </a:solidFill>
            <a:prstDash val="solid"/>
          </a:ln>
        </p:spPr>
        <p:txBody>
          <a:bodyPr lIns="9525" tIns="0" rIns="9525" bIns="0" anchor="ctr">
            <a:normAutofit/>
          </a:bodyPr>
          <a:lstStyle>
            <a:defPPr>
              <a:defRPr sz="563"/>
            </a:defPPr>
          </a:lstStyle>
          <a:p>
            <a:pPr algn="ctr">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Tool call</a:t>
            </a:r>
          </a:p>
        </p:txBody>
      </p:sp>
      <p:sp>
        <p:nvSpPr>
          <p:cNvPr id="55" name="사각형: 둥근 모서리 54">
            <a:extLst>
              <a:ext uri="{FF2B5EF4-FFF2-40B4-BE49-F238E27FC236}">
                <a16:creationId xmlns:a16="http://schemas.microsoft.com/office/drawing/2014/main" id="{4AB33BE1-DBBC-4595-9DE1-0349FD25F494}"/>
              </a:ext>
            </a:extLst>
          </p:cNvPr>
          <p:cNvSpPr>
            <a:spLocks noGrp="1"/>
          </p:cNvSpPr>
          <p:nvPr/>
        </p:nvSpPr>
        <p:spPr>
          <a:xfrm>
            <a:off x="7219950" y="3569970"/>
            <a:ext cx="552450" cy="238125"/>
          </a:xfrm>
          <a:prstGeom prst="roundRect">
            <a:avLst>
              <a:gd name="adj" fmla="val 28000"/>
            </a:avLst>
          </a:prstGeom>
          <a:solidFill>
            <a:srgbClr val="FFFFFF"/>
          </a:solidFill>
          <a:ln w="6668">
            <a:solidFill>
              <a:srgbClr val="D8E3DE"/>
            </a:solidFill>
            <a:prstDash val="solid"/>
          </a:ln>
        </p:spPr>
        <p:txBody>
          <a:bodyPr lIns="9525" tIns="0" rIns="9525" bIns="0" anchor="ctr">
            <a:normAutofit/>
          </a:bodyPr>
          <a:lstStyle>
            <a:defPPr>
              <a:defRPr sz="563"/>
            </a:defPPr>
          </a:lstStyle>
          <a:p>
            <a:pPr algn="ctr">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SQL values</a:t>
            </a:r>
          </a:p>
        </p:txBody>
      </p:sp>
      <p:sp>
        <p:nvSpPr>
          <p:cNvPr id="56" name="사각형: 둥근 모서리 55">
            <a:extLst>
              <a:ext uri="{FF2B5EF4-FFF2-40B4-BE49-F238E27FC236}">
                <a16:creationId xmlns:a16="http://schemas.microsoft.com/office/drawing/2014/main" id="{9BF0B33A-753A-46AB-8C6B-38A7B3DE7683}"/>
              </a:ext>
            </a:extLst>
          </p:cNvPr>
          <p:cNvSpPr>
            <a:spLocks noGrp="1"/>
          </p:cNvSpPr>
          <p:nvPr/>
        </p:nvSpPr>
        <p:spPr>
          <a:xfrm>
            <a:off x="6591300" y="3893820"/>
            <a:ext cx="552450" cy="238125"/>
          </a:xfrm>
          <a:prstGeom prst="roundRect">
            <a:avLst>
              <a:gd name="adj" fmla="val 28000"/>
            </a:avLst>
          </a:prstGeom>
          <a:solidFill>
            <a:srgbClr val="FFFFFF"/>
          </a:solidFill>
          <a:ln w="6668">
            <a:solidFill>
              <a:srgbClr val="D8E3DE"/>
            </a:solidFill>
            <a:prstDash val="solid"/>
          </a:ln>
        </p:spPr>
        <p:txBody>
          <a:bodyPr lIns="9525" tIns="0" rIns="9525" bIns="0" anchor="ctr">
            <a:normAutofit/>
          </a:bodyPr>
          <a:lstStyle>
            <a:defPPr>
              <a:defRPr sz="563"/>
            </a:defPPr>
          </a:lstStyle>
          <a:p>
            <a:pPr algn="ctr">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RAG evidence</a:t>
            </a:r>
          </a:p>
        </p:txBody>
      </p:sp>
      <p:sp>
        <p:nvSpPr>
          <p:cNvPr id="57" name="사각형: 둥근 모서리 56">
            <a:extLst>
              <a:ext uri="{FF2B5EF4-FFF2-40B4-BE49-F238E27FC236}">
                <a16:creationId xmlns:a16="http://schemas.microsoft.com/office/drawing/2014/main" id="{D755A0D0-1154-4E30-B536-2B0551298356}"/>
              </a:ext>
            </a:extLst>
          </p:cNvPr>
          <p:cNvSpPr>
            <a:spLocks noGrp="1"/>
          </p:cNvSpPr>
          <p:nvPr/>
        </p:nvSpPr>
        <p:spPr>
          <a:xfrm>
            <a:off x="7219950" y="3893820"/>
            <a:ext cx="552450" cy="238125"/>
          </a:xfrm>
          <a:prstGeom prst="roundRect">
            <a:avLst>
              <a:gd name="adj" fmla="val 28000"/>
            </a:avLst>
          </a:prstGeom>
          <a:solidFill>
            <a:srgbClr val="FFFFFF"/>
          </a:solidFill>
          <a:ln w="6668">
            <a:solidFill>
              <a:srgbClr val="D8E3DE"/>
            </a:solidFill>
            <a:prstDash val="solid"/>
          </a:ln>
        </p:spPr>
        <p:txBody>
          <a:bodyPr lIns="9525" tIns="0" rIns="9525" bIns="0" anchor="ctr">
            <a:normAutofit/>
          </a:bodyPr>
          <a:lstStyle>
            <a:defPPr>
              <a:defRPr sz="563"/>
            </a:defPPr>
          </a:lstStyle>
          <a:p>
            <a:pPr algn="ctr">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Final response</a:t>
            </a:r>
          </a:p>
        </p:txBody>
      </p:sp>
      <p:sp>
        <p:nvSpPr>
          <p:cNvPr id="58" name="사각형: 둥근 모서리 57">
            <a:extLst>
              <a:ext uri="{FF2B5EF4-FFF2-40B4-BE49-F238E27FC236}">
                <a16:creationId xmlns:a16="http://schemas.microsoft.com/office/drawing/2014/main" id="{94055893-98D9-40BE-A32A-C54D3D349463}"/>
              </a:ext>
            </a:extLst>
          </p:cNvPr>
          <p:cNvSpPr>
            <a:spLocks noGrp="1"/>
          </p:cNvSpPr>
          <p:nvPr/>
        </p:nvSpPr>
        <p:spPr>
          <a:xfrm>
            <a:off x="8267700" y="2406015"/>
            <a:ext cx="2000250" cy="685800"/>
          </a:xfrm>
          <a:prstGeom prst="roundRect">
            <a:avLst>
              <a:gd name="adj" fmla="val 18056"/>
            </a:avLst>
          </a:prstGeom>
          <a:solidFill>
            <a:srgbClr val="EDF6FC"/>
          </a:solidFill>
          <a:ln w="11430">
            <a:solidFill>
              <a:srgbClr val="2E6F9F"/>
            </a:solidFill>
            <a:prstDash val="solid"/>
          </a:ln>
        </p:spPr>
        <p:txBody>
          <a:bodyPr/>
          <a:lstStyle/>
          <a:p>
            <a:endParaRPr/>
          </a:p>
        </p:txBody>
      </p:sp>
      <p:sp>
        <p:nvSpPr>
          <p:cNvPr id="59" name="사각형: 둥근 모서리 58">
            <a:extLst>
              <a:ext uri="{FF2B5EF4-FFF2-40B4-BE49-F238E27FC236}">
                <a16:creationId xmlns:a16="http://schemas.microsoft.com/office/drawing/2014/main" id="{5505D48A-4CAE-48D7-8095-C8E025133AB8}"/>
              </a:ext>
            </a:extLst>
          </p:cNvPr>
          <p:cNvSpPr>
            <a:spLocks noGrp="1"/>
          </p:cNvSpPr>
          <p:nvPr/>
        </p:nvSpPr>
        <p:spPr>
          <a:xfrm>
            <a:off x="8334375" y="2539365"/>
            <a:ext cx="323850" cy="323850"/>
          </a:xfrm>
          <a:prstGeom prst="roundRect">
            <a:avLst>
              <a:gd name="adj" fmla="val 26471"/>
            </a:avLst>
          </a:prstGeom>
          <a:solidFill>
            <a:srgbClr val="FFFFFF"/>
          </a:solidFill>
          <a:ln w="0">
            <a:noFill/>
          </a:ln>
        </p:spPr>
        <p:txBody>
          <a:bodyPr/>
          <a:lstStyle/>
          <a:p>
            <a:endParaRPr/>
          </a:p>
        </p:txBody>
      </p:sp>
      <p:pic>
        <p:nvPicPr>
          <p:cNvPr id="178" name="그래픽 168">
            <a:extLst>
              <a:ext uri="{FF2B5EF4-FFF2-40B4-BE49-F238E27FC236}">
                <a16:creationId xmlns:a16="http://schemas.microsoft.com/office/drawing/2014/main" id="{FE0CC189-3D9C-4808-96E9-560396BAF1E5}"/>
              </a:ext>
            </a:extLst>
          </p:cNvPr>
          <p:cNvPicPr>
            <a:picLocks noChangeAspect="1"/>
          </p:cNvPicPr>
          <p:nvPr/>
        </p:nvPicPr>
        <p:blipFill>
          <a:blip>
            <a:extLst>
              <a:ext uri="{96DAC541-7B7A-43D3-8B79-37D633B846F1}">
                <asvg:svgBlip xmlns:asvg="http://schemas.microsoft.com/office/drawing/2016/SVG/main" r:embed="rId7"/>
              </a:ext>
            </a:extLst>
          </a:blip>
          <a:stretch/>
        </p:blipFill>
        <p:spPr>
          <a:xfrm>
            <a:off x="8391525" y="2596515"/>
            <a:ext cx="209550" cy="209550"/>
          </a:xfrm>
          <a:prstGeom prst="rect">
            <a:avLst/>
          </a:prstGeom>
        </p:spPr>
      </p:pic>
      <p:sp>
        <p:nvSpPr>
          <p:cNvPr id="61" name="직사각형 60">
            <a:extLst>
              <a:ext uri="{FF2B5EF4-FFF2-40B4-BE49-F238E27FC236}">
                <a16:creationId xmlns:a16="http://schemas.microsoft.com/office/drawing/2014/main" id="{4A3D751B-D5FE-402B-9F64-B813D0DC4AA6}"/>
              </a:ext>
            </a:extLst>
          </p:cNvPr>
          <p:cNvSpPr>
            <a:spLocks noGrp="1"/>
          </p:cNvSpPr>
          <p:nvPr/>
        </p:nvSpPr>
        <p:spPr>
          <a:xfrm>
            <a:off x="8734425" y="2501265"/>
            <a:ext cx="1409700" cy="114300"/>
          </a:xfrm>
          <a:prstGeom prst="rect">
            <a:avLst/>
          </a:prstGeom>
          <a:noFill/>
          <a:ln w="0">
            <a:noFill/>
          </a:ln>
        </p:spPr>
        <p:txBody>
          <a:bodyPr wrap="square" lIns="0" tIns="0" rIns="0" bIns="0" anchor="ctr">
            <a:normAutofit/>
          </a:bodyPr>
          <a:lstStyle>
            <a:defPPr>
              <a:defRPr sz="563"/>
            </a:defPPr>
          </a:lstStyle>
          <a:p>
            <a:pPr algn="l">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DETERMINISTIC</a:t>
            </a:r>
          </a:p>
        </p:txBody>
      </p:sp>
      <p:sp>
        <p:nvSpPr>
          <p:cNvPr id="62" name="직사각형 61">
            <a:extLst>
              <a:ext uri="{FF2B5EF4-FFF2-40B4-BE49-F238E27FC236}">
                <a16:creationId xmlns:a16="http://schemas.microsoft.com/office/drawing/2014/main" id="{F11ED5F2-FD93-4AC5-A868-48F8943D5B73}"/>
              </a:ext>
            </a:extLst>
          </p:cNvPr>
          <p:cNvSpPr>
            <a:spLocks noGrp="1"/>
          </p:cNvSpPr>
          <p:nvPr/>
        </p:nvSpPr>
        <p:spPr>
          <a:xfrm>
            <a:off x="8734425" y="2663190"/>
            <a:ext cx="1409700" cy="200025"/>
          </a:xfrm>
          <a:prstGeom prst="rect">
            <a:avLst/>
          </a:prstGeom>
          <a:noFill/>
          <a:ln w="0">
            <a:noFill/>
          </a:ln>
        </p:spPr>
        <p:txBody>
          <a:bodyPr wrap="square" lIns="0" tIns="0" rIns="0" bIns="0" anchor="ctr">
            <a:normAutofit/>
          </a:bodyPr>
          <a:lstStyle>
            <a:defPPr>
              <a:defRPr sz="806"/>
            </a:defPPr>
          </a:lstStyle>
          <a:p>
            <a:pPr algn="l">
              <a:buNone/>
              <a:defRPr sz="806" b="1">
                <a:solidFill>
                  <a:srgbClr val="17231F"/>
                </a:solidFill>
                <a:latin typeface="Noto Sans KR"/>
                <a:ea typeface="Noto Sans KR"/>
                <a:cs typeface="Noto Sans KR"/>
              </a:defRPr>
            </a:pPr>
            <a:r>
              <a:rPr sz="806" b="1">
                <a:solidFill>
                  <a:srgbClr val="17231F"/>
                </a:solidFill>
                <a:latin typeface="Noto Sans KR"/>
                <a:ea typeface="Noto Sans KR"/>
                <a:cs typeface="Noto Sans KR"/>
              </a:rPr>
              <a:t>Tool and rule checks</a:t>
            </a:r>
          </a:p>
        </p:txBody>
      </p:sp>
      <p:sp>
        <p:nvSpPr>
          <p:cNvPr id="63" name="직사각형 62">
            <a:extLst>
              <a:ext uri="{FF2B5EF4-FFF2-40B4-BE49-F238E27FC236}">
                <a16:creationId xmlns:a16="http://schemas.microsoft.com/office/drawing/2014/main" id="{2E9D73F3-753E-4B55-B08F-A288F73D686F}"/>
              </a:ext>
            </a:extLst>
          </p:cNvPr>
          <p:cNvSpPr>
            <a:spLocks noGrp="1"/>
          </p:cNvSpPr>
          <p:nvPr/>
        </p:nvSpPr>
        <p:spPr>
          <a:xfrm>
            <a:off x="8734425" y="2891790"/>
            <a:ext cx="1409700" cy="133350"/>
          </a:xfrm>
          <a:prstGeom prst="rect">
            <a:avLst/>
          </a:prstGeom>
          <a:noFill/>
          <a:ln w="0">
            <a:noFill/>
          </a:ln>
        </p:spPr>
        <p:txBody>
          <a:bodyPr wrap="square" lIns="0" tIns="0" rIns="0" bIns="0" anchor="ctr">
            <a:normAutofit fontScale="94776"/>
          </a:bodyPr>
          <a:lstStyle>
            <a:defPPr>
              <a:defRPr sz="563"/>
            </a:defPPr>
          </a:lstStyle>
          <a:p>
            <a:pPr algn="l">
              <a:buNone/>
              <a:defRPr sz="563" b="0">
                <a:solidFill>
                  <a:srgbClr val="64716B"/>
                </a:solidFill>
                <a:latin typeface="Noto Sans KR"/>
                <a:ea typeface="Noto Sans KR"/>
                <a:cs typeface="Noto Sans KR"/>
              </a:defRPr>
            </a:pPr>
            <a:r>
              <a:rPr sz="563" b="0">
                <a:solidFill>
                  <a:srgbClr val="64716B"/>
                </a:solidFill>
                <a:latin typeface="Noto Sans KR"/>
                <a:ea typeface="Noto Sans KR"/>
                <a:cs typeface="Noto Sans KR"/>
              </a:rPr>
              <a:t>Selection, arguments, numbers, prohibitions</a:t>
            </a:r>
          </a:p>
        </p:txBody>
      </p:sp>
      <p:sp>
        <p:nvSpPr>
          <p:cNvPr id="64" name="사각형: 둥근 모서리 63">
            <a:extLst>
              <a:ext uri="{FF2B5EF4-FFF2-40B4-BE49-F238E27FC236}">
                <a16:creationId xmlns:a16="http://schemas.microsoft.com/office/drawing/2014/main" id="{0C9CDEB9-8601-46D8-8117-40823D2FBD74}"/>
              </a:ext>
            </a:extLst>
          </p:cNvPr>
          <p:cNvSpPr>
            <a:spLocks noGrp="1"/>
          </p:cNvSpPr>
          <p:nvPr/>
        </p:nvSpPr>
        <p:spPr>
          <a:xfrm>
            <a:off x="8267700" y="3234690"/>
            <a:ext cx="2000250" cy="685800"/>
          </a:xfrm>
          <a:prstGeom prst="roundRect">
            <a:avLst>
              <a:gd name="adj" fmla="val 18056"/>
            </a:avLst>
          </a:prstGeom>
          <a:solidFill>
            <a:srgbClr val="EDF7F2"/>
          </a:solidFill>
          <a:ln w="11430">
            <a:solidFill>
              <a:srgbClr val="27664F"/>
            </a:solidFill>
            <a:prstDash val="solid"/>
          </a:ln>
        </p:spPr>
        <p:txBody>
          <a:bodyPr/>
          <a:lstStyle/>
          <a:p>
            <a:endParaRPr/>
          </a:p>
        </p:txBody>
      </p:sp>
      <p:sp>
        <p:nvSpPr>
          <p:cNvPr id="65" name="사각형: 둥근 모서리 64">
            <a:extLst>
              <a:ext uri="{FF2B5EF4-FFF2-40B4-BE49-F238E27FC236}">
                <a16:creationId xmlns:a16="http://schemas.microsoft.com/office/drawing/2014/main" id="{AE31AE6A-018E-446C-AE83-6669634AB339}"/>
              </a:ext>
            </a:extLst>
          </p:cNvPr>
          <p:cNvSpPr>
            <a:spLocks noGrp="1"/>
          </p:cNvSpPr>
          <p:nvPr/>
        </p:nvSpPr>
        <p:spPr>
          <a:xfrm>
            <a:off x="8334375" y="3368040"/>
            <a:ext cx="323850" cy="323850"/>
          </a:xfrm>
          <a:prstGeom prst="roundRect">
            <a:avLst>
              <a:gd name="adj" fmla="val 26471"/>
            </a:avLst>
          </a:prstGeom>
          <a:solidFill>
            <a:srgbClr val="FFFFFF"/>
          </a:solidFill>
          <a:ln w="0">
            <a:noFill/>
          </a:ln>
        </p:spPr>
        <p:txBody>
          <a:bodyPr/>
          <a:lstStyle/>
          <a:p>
            <a:endParaRPr/>
          </a:p>
        </p:txBody>
      </p:sp>
      <p:pic>
        <p:nvPicPr>
          <p:cNvPr id="184" name="그래픽 174">
            <a:extLst>
              <a:ext uri="{FF2B5EF4-FFF2-40B4-BE49-F238E27FC236}">
                <a16:creationId xmlns:a16="http://schemas.microsoft.com/office/drawing/2014/main" id="{594AE3DB-D28D-4347-83C8-129FE216439E}"/>
              </a:ext>
            </a:extLst>
          </p:cNvPr>
          <p:cNvPicPr>
            <a:picLocks noChangeAspect="1"/>
          </p:cNvPicPr>
          <p:nvPr/>
        </p:nvPicPr>
        <p:blipFill>
          <a:blip>
            <a:extLst>
              <a:ext uri="{96DAC541-7B7A-43D3-8B79-37D633B846F1}">
                <asvg:svgBlip xmlns:asvg="http://schemas.microsoft.com/office/drawing/2016/SVG/main" r:embed="rId8"/>
              </a:ext>
            </a:extLst>
          </a:blip>
          <a:stretch/>
        </p:blipFill>
        <p:spPr>
          <a:xfrm>
            <a:off x="8391525" y="3425190"/>
            <a:ext cx="209550" cy="209550"/>
          </a:xfrm>
          <a:prstGeom prst="rect">
            <a:avLst/>
          </a:prstGeom>
        </p:spPr>
      </p:pic>
      <p:sp>
        <p:nvSpPr>
          <p:cNvPr id="67" name="직사각형 66">
            <a:extLst>
              <a:ext uri="{FF2B5EF4-FFF2-40B4-BE49-F238E27FC236}">
                <a16:creationId xmlns:a16="http://schemas.microsoft.com/office/drawing/2014/main" id="{172D5D4B-62A8-40B2-AC4F-7434FA8DFF7A}"/>
              </a:ext>
            </a:extLst>
          </p:cNvPr>
          <p:cNvSpPr>
            <a:spLocks noGrp="1"/>
          </p:cNvSpPr>
          <p:nvPr/>
        </p:nvSpPr>
        <p:spPr>
          <a:xfrm>
            <a:off x="8734425" y="3329940"/>
            <a:ext cx="1409700" cy="114300"/>
          </a:xfrm>
          <a:prstGeom prst="rect">
            <a:avLst/>
          </a:prstGeom>
          <a:noFill/>
          <a:ln w="0">
            <a:noFill/>
          </a:ln>
        </p:spPr>
        <p:txBody>
          <a:bodyPr wrap="square" lIns="0" tIns="0" rIns="0" bIns="0" anchor="ctr">
            <a:normAutofit/>
          </a:bodyPr>
          <a:lstStyle>
            <a:defPPr>
              <a:defRPr sz="563"/>
            </a:defPPr>
          </a:lstStyle>
          <a:p>
            <a:pPr algn="l">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STAGE COMPARISON</a:t>
            </a:r>
          </a:p>
        </p:txBody>
      </p:sp>
      <p:sp>
        <p:nvSpPr>
          <p:cNvPr id="68" name="직사각형 67">
            <a:extLst>
              <a:ext uri="{FF2B5EF4-FFF2-40B4-BE49-F238E27FC236}">
                <a16:creationId xmlns:a16="http://schemas.microsoft.com/office/drawing/2014/main" id="{94F9D158-A175-4342-BD2F-872F049324CB}"/>
              </a:ext>
            </a:extLst>
          </p:cNvPr>
          <p:cNvSpPr>
            <a:spLocks noGrp="1"/>
          </p:cNvSpPr>
          <p:nvPr/>
        </p:nvSpPr>
        <p:spPr>
          <a:xfrm>
            <a:off x="8734425" y="3491865"/>
            <a:ext cx="1409700" cy="200025"/>
          </a:xfrm>
          <a:prstGeom prst="rect">
            <a:avLst/>
          </a:prstGeom>
          <a:noFill/>
          <a:ln w="0">
            <a:noFill/>
          </a:ln>
        </p:spPr>
        <p:txBody>
          <a:bodyPr wrap="square" lIns="0" tIns="0" rIns="0" bIns="0" anchor="ctr">
            <a:normAutofit/>
          </a:bodyPr>
          <a:lstStyle>
            <a:defPPr>
              <a:defRPr sz="806"/>
            </a:defPPr>
          </a:lstStyle>
          <a:p>
            <a:pPr algn="l">
              <a:buNone/>
              <a:defRPr sz="806" b="1">
                <a:solidFill>
                  <a:srgbClr val="17231F"/>
                </a:solidFill>
                <a:latin typeface="Noto Sans KR"/>
                <a:ea typeface="Noto Sans KR"/>
                <a:cs typeface="Noto Sans KR"/>
              </a:defRPr>
            </a:pPr>
            <a:r>
              <a:rPr sz="806" b="1">
                <a:solidFill>
                  <a:srgbClr val="17231F"/>
                </a:solidFill>
                <a:latin typeface="Noto Sans KR"/>
                <a:ea typeface="Noto Sans KR"/>
                <a:cs typeface="Noto Sans KR"/>
              </a:rPr>
              <a:t>RAG stage evaluation</a:t>
            </a:r>
          </a:p>
        </p:txBody>
      </p:sp>
      <p:sp>
        <p:nvSpPr>
          <p:cNvPr id="69" name="직사각형 68">
            <a:extLst>
              <a:ext uri="{FF2B5EF4-FFF2-40B4-BE49-F238E27FC236}">
                <a16:creationId xmlns:a16="http://schemas.microsoft.com/office/drawing/2014/main" id="{31EBA908-2C52-4DE4-86FB-334B4A37C8B9}"/>
              </a:ext>
            </a:extLst>
          </p:cNvPr>
          <p:cNvSpPr>
            <a:spLocks noGrp="1"/>
          </p:cNvSpPr>
          <p:nvPr/>
        </p:nvSpPr>
        <p:spPr>
          <a:xfrm>
            <a:off x="8734425" y="3720465"/>
            <a:ext cx="1409700" cy="133350"/>
          </a:xfrm>
          <a:prstGeom prst="rect">
            <a:avLst/>
          </a:prstGeom>
          <a:noFill/>
          <a:ln w="0">
            <a:noFill/>
          </a:ln>
        </p:spPr>
        <p:txBody>
          <a:bodyPr wrap="square" lIns="0" tIns="0" rIns="0" bIns="0" anchor="ctr">
            <a:normAutofit/>
          </a:bodyPr>
          <a:lstStyle>
            <a:defPPr>
              <a:defRPr sz="563"/>
            </a:defPPr>
          </a:lstStyle>
          <a:p>
            <a:pPr algn="l">
              <a:buNone/>
              <a:defRPr sz="563" b="0">
                <a:solidFill>
                  <a:srgbClr val="64716B"/>
                </a:solidFill>
                <a:latin typeface="Noto Sans KR"/>
                <a:ea typeface="Noto Sans KR"/>
                <a:cs typeface="Noto Sans KR"/>
              </a:defRPr>
            </a:pPr>
            <a:r>
              <a:rPr sz="563" b="0">
                <a:solidFill>
                  <a:srgbClr val="64716B"/>
                </a:solidFill>
                <a:latin typeface="Noto Sans KR"/>
                <a:ea typeface="Noto Sans KR"/>
                <a:cs typeface="Noto Sans KR"/>
              </a:rPr>
              <a:t>Retrieval, reranking, evidence gate</a:t>
            </a:r>
          </a:p>
        </p:txBody>
      </p:sp>
      <p:sp>
        <p:nvSpPr>
          <p:cNvPr id="70" name="사각형: 둥근 모서리 69">
            <a:extLst>
              <a:ext uri="{FF2B5EF4-FFF2-40B4-BE49-F238E27FC236}">
                <a16:creationId xmlns:a16="http://schemas.microsoft.com/office/drawing/2014/main" id="{16AB2872-0989-4181-957A-91A19CCE8ACF}"/>
              </a:ext>
            </a:extLst>
          </p:cNvPr>
          <p:cNvSpPr>
            <a:spLocks noGrp="1"/>
          </p:cNvSpPr>
          <p:nvPr/>
        </p:nvSpPr>
        <p:spPr>
          <a:xfrm>
            <a:off x="8267700" y="4063365"/>
            <a:ext cx="2000250" cy="685800"/>
          </a:xfrm>
          <a:prstGeom prst="roundRect">
            <a:avLst>
              <a:gd name="adj" fmla="val 18056"/>
            </a:avLst>
          </a:prstGeom>
          <a:solidFill>
            <a:srgbClr val="F1ECFB"/>
          </a:solidFill>
          <a:ln w="11430">
            <a:solidFill>
              <a:srgbClr val="6B4BB2"/>
            </a:solidFill>
            <a:prstDash val="solid"/>
          </a:ln>
        </p:spPr>
        <p:txBody>
          <a:bodyPr/>
          <a:lstStyle/>
          <a:p>
            <a:endParaRPr/>
          </a:p>
        </p:txBody>
      </p:sp>
      <p:sp>
        <p:nvSpPr>
          <p:cNvPr id="71" name="사각형: 둥근 모서리 70">
            <a:extLst>
              <a:ext uri="{FF2B5EF4-FFF2-40B4-BE49-F238E27FC236}">
                <a16:creationId xmlns:a16="http://schemas.microsoft.com/office/drawing/2014/main" id="{8D4E5F0B-A74A-4643-8D2B-2605798E7536}"/>
              </a:ext>
            </a:extLst>
          </p:cNvPr>
          <p:cNvSpPr>
            <a:spLocks noGrp="1"/>
          </p:cNvSpPr>
          <p:nvPr/>
        </p:nvSpPr>
        <p:spPr>
          <a:xfrm>
            <a:off x="8334375" y="4196715"/>
            <a:ext cx="323850" cy="323850"/>
          </a:xfrm>
          <a:prstGeom prst="roundRect">
            <a:avLst>
              <a:gd name="adj" fmla="val 26471"/>
            </a:avLst>
          </a:prstGeom>
          <a:solidFill>
            <a:srgbClr val="FFFFFF"/>
          </a:solidFill>
          <a:ln w="0">
            <a:noFill/>
          </a:ln>
        </p:spPr>
        <p:txBody>
          <a:bodyPr/>
          <a:lstStyle/>
          <a:p>
            <a:endParaRPr/>
          </a:p>
        </p:txBody>
      </p:sp>
      <p:pic>
        <p:nvPicPr>
          <p:cNvPr id="190" name="그래픽 180">
            <a:extLst>
              <a:ext uri="{FF2B5EF4-FFF2-40B4-BE49-F238E27FC236}">
                <a16:creationId xmlns:a16="http://schemas.microsoft.com/office/drawing/2014/main" id="{EEABB935-D5CA-4A15-9EA7-FEE9F19986F9}"/>
              </a:ext>
            </a:extLst>
          </p:cNvPr>
          <p:cNvPicPr>
            <a:picLocks noChangeAspect="1"/>
          </p:cNvPicPr>
          <p:nvPr/>
        </p:nvPicPr>
        <p:blipFill>
          <a:blip>
            <a:extLst>
              <a:ext uri="{96DAC541-7B7A-43D3-8B79-37D633B846F1}">
                <asvg:svgBlip xmlns:asvg="http://schemas.microsoft.com/office/drawing/2016/SVG/main" r:embed="rId9"/>
              </a:ext>
            </a:extLst>
          </a:blip>
          <a:stretch/>
        </p:blipFill>
        <p:spPr>
          <a:xfrm>
            <a:off x="8391525" y="4253865"/>
            <a:ext cx="209550" cy="209550"/>
          </a:xfrm>
          <a:prstGeom prst="rect">
            <a:avLst/>
          </a:prstGeom>
        </p:spPr>
      </p:pic>
      <p:sp>
        <p:nvSpPr>
          <p:cNvPr id="73" name="직사각형 72">
            <a:extLst>
              <a:ext uri="{FF2B5EF4-FFF2-40B4-BE49-F238E27FC236}">
                <a16:creationId xmlns:a16="http://schemas.microsoft.com/office/drawing/2014/main" id="{8042100F-C84D-4385-9DA3-F655851E62EE}"/>
              </a:ext>
            </a:extLst>
          </p:cNvPr>
          <p:cNvSpPr>
            <a:spLocks noGrp="1"/>
          </p:cNvSpPr>
          <p:nvPr/>
        </p:nvSpPr>
        <p:spPr>
          <a:xfrm>
            <a:off x="8734425" y="4158615"/>
            <a:ext cx="1409700" cy="114300"/>
          </a:xfrm>
          <a:prstGeom prst="rect">
            <a:avLst/>
          </a:prstGeom>
          <a:noFill/>
          <a:ln w="0">
            <a:noFill/>
          </a:ln>
        </p:spPr>
        <p:txBody>
          <a:bodyPr wrap="square" lIns="0" tIns="0" rIns="0" bIns="0" anchor="ctr">
            <a:normAutofit/>
          </a:bodyPr>
          <a:lstStyle>
            <a:defPPr>
              <a:defRPr sz="563"/>
            </a:defPPr>
          </a:lstStyle>
          <a:p>
            <a:pPr algn="l">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LLM JUDGE</a:t>
            </a:r>
          </a:p>
        </p:txBody>
      </p:sp>
      <p:sp>
        <p:nvSpPr>
          <p:cNvPr id="74" name="직사각형 73">
            <a:extLst>
              <a:ext uri="{FF2B5EF4-FFF2-40B4-BE49-F238E27FC236}">
                <a16:creationId xmlns:a16="http://schemas.microsoft.com/office/drawing/2014/main" id="{BB4B7AF7-102A-414B-9403-3071182F8CE2}"/>
              </a:ext>
            </a:extLst>
          </p:cNvPr>
          <p:cNvSpPr>
            <a:spLocks noGrp="1"/>
          </p:cNvSpPr>
          <p:nvPr/>
        </p:nvSpPr>
        <p:spPr>
          <a:xfrm>
            <a:off x="8734425" y="4320540"/>
            <a:ext cx="1409700" cy="200025"/>
          </a:xfrm>
          <a:prstGeom prst="rect">
            <a:avLst/>
          </a:prstGeom>
          <a:noFill/>
          <a:ln w="0">
            <a:noFill/>
          </a:ln>
        </p:spPr>
        <p:txBody>
          <a:bodyPr wrap="square" lIns="0" tIns="0" rIns="0" bIns="0" anchor="ctr">
            <a:normAutofit/>
          </a:bodyPr>
          <a:lstStyle>
            <a:defPPr>
              <a:defRPr sz="749"/>
            </a:defPPr>
          </a:lstStyle>
          <a:p>
            <a:pPr algn="l">
              <a:buNone/>
              <a:defRPr sz="749" b="1">
                <a:solidFill>
                  <a:srgbClr val="17231F"/>
                </a:solidFill>
                <a:latin typeface="Noto Sans KR"/>
                <a:ea typeface="Noto Sans KR"/>
                <a:cs typeface="Noto Sans KR"/>
              </a:defRPr>
            </a:pPr>
            <a:r>
              <a:rPr sz="749" b="1">
                <a:solidFill>
                  <a:srgbClr val="17231F"/>
                </a:solidFill>
                <a:latin typeface="Noto Sans KR"/>
                <a:ea typeface="Noto Sans KR"/>
                <a:cs typeface="Noto Sans KR"/>
              </a:rPr>
              <a:t>GPT-5.6 Sol · Gemma 3 27B</a:t>
            </a:r>
            <a:endParaRPr sz="915" b="1">
              <a:solidFill>
                <a:srgbClr val="17231F"/>
              </a:solidFill>
              <a:latin typeface="Noto Sans KR"/>
              <a:ea typeface="Noto Sans KR"/>
              <a:cs typeface="Noto Sans KR"/>
            </a:endParaRPr>
          </a:p>
        </p:txBody>
      </p:sp>
      <p:sp>
        <p:nvSpPr>
          <p:cNvPr id="75" name="직사각형 74">
            <a:extLst>
              <a:ext uri="{FF2B5EF4-FFF2-40B4-BE49-F238E27FC236}">
                <a16:creationId xmlns:a16="http://schemas.microsoft.com/office/drawing/2014/main" id="{55E24610-BDB0-4E82-B7B8-17E00A92821A}"/>
              </a:ext>
            </a:extLst>
          </p:cNvPr>
          <p:cNvSpPr>
            <a:spLocks noGrp="1"/>
          </p:cNvSpPr>
          <p:nvPr/>
        </p:nvSpPr>
        <p:spPr>
          <a:xfrm>
            <a:off x="8734425" y="4549140"/>
            <a:ext cx="1409700" cy="133350"/>
          </a:xfrm>
          <a:prstGeom prst="rect">
            <a:avLst/>
          </a:prstGeom>
          <a:noFill/>
          <a:ln w="0">
            <a:noFill/>
          </a:ln>
        </p:spPr>
        <p:txBody>
          <a:bodyPr wrap="square" lIns="0" tIns="0" rIns="0" bIns="0" anchor="ctr">
            <a:normAutofit/>
          </a:bodyPr>
          <a:lstStyle>
            <a:defPPr>
              <a:defRPr sz="563"/>
            </a:defPPr>
          </a:lstStyle>
          <a:p>
            <a:pPr algn="l">
              <a:buNone/>
              <a:defRPr sz="563" b="0">
                <a:solidFill>
                  <a:srgbClr val="64716B"/>
                </a:solidFill>
                <a:latin typeface="Noto Sans KR"/>
                <a:ea typeface="Noto Sans KR"/>
                <a:cs typeface="Noto Sans KR"/>
              </a:defRPr>
            </a:pPr>
            <a:r>
              <a:rPr sz="563" b="0">
                <a:solidFill>
                  <a:srgbClr val="64716B"/>
                </a:solidFill>
                <a:latin typeface="Noto Sans KR"/>
                <a:ea typeface="Noto Sans KR"/>
                <a:cs typeface="Noto Sans KR"/>
              </a:rPr>
              <a:t>Grounding, analysis, business utility</a:t>
            </a:r>
          </a:p>
        </p:txBody>
      </p:sp>
      <p:sp>
        <p:nvSpPr>
          <p:cNvPr id="76" name="사각형: 둥근 모서리 75">
            <a:extLst>
              <a:ext uri="{FF2B5EF4-FFF2-40B4-BE49-F238E27FC236}">
                <a16:creationId xmlns:a16="http://schemas.microsoft.com/office/drawing/2014/main" id="{E5BF3A6D-14E2-4478-8E6D-63C9D031C882}"/>
              </a:ext>
            </a:extLst>
          </p:cNvPr>
          <p:cNvSpPr>
            <a:spLocks noGrp="1"/>
          </p:cNvSpPr>
          <p:nvPr/>
        </p:nvSpPr>
        <p:spPr>
          <a:xfrm>
            <a:off x="10553700" y="2543175"/>
            <a:ext cx="1181100" cy="1962150"/>
          </a:xfrm>
          <a:prstGeom prst="roundRect">
            <a:avLst>
              <a:gd name="adj" fmla="val 10484"/>
            </a:avLst>
          </a:prstGeom>
          <a:solidFill>
            <a:srgbClr val="FFFFFF"/>
          </a:solidFill>
          <a:ln w="19050">
            <a:solidFill>
              <a:srgbClr val="27664F"/>
            </a:solidFill>
            <a:prstDash val="solid"/>
          </a:ln>
        </p:spPr>
        <p:txBody>
          <a:bodyPr/>
          <a:lstStyle/>
          <a:p>
            <a:endParaRPr/>
          </a:p>
        </p:txBody>
      </p:sp>
      <p:sp>
        <p:nvSpPr>
          <p:cNvPr id="77" name="직사각형 76">
            <a:extLst>
              <a:ext uri="{FF2B5EF4-FFF2-40B4-BE49-F238E27FC236}">
                <a16:creationId xmlns:a16="http://schemas.microsoft.com/office/drawing/2014/main" id="{5BD4D449-C729-43B8-AB07-49D70573CE14}"/>
              </a:ext>
            </a:extLst>
          </p:cNvPr>
          <p:cNvSpPr>
            <a:spLocks noGrp="1"/>
          </p:cNvSpPr>
          <p:nvPr/>
        </p:nvSpPr>
        <p:spPr>
          <a:xfrm>
            <a:off x="10677525" y="2657475"/>
            <a:ext cx="933450" cy="123825"/>
          </a:xfrm>
          <a:prstGeom prst="rect">
            <a:avLst/>
          </a:prstGeom>
          <a:noFill/>
          <a:ln w="0">
            <a:noFill/>
          </a:ln>
        </p:spPr>
        <p:txBody>
          <a:bodyPr wrap="square" lIns="0" tIns="0" rIns="0" bIns="0" anchor="t">
            <a:normAutofit/>
          </a:bodyPr>
          <a:lstStyle>
            <a:defPPr>
              <a:defRPr sz="563"/>
            </a:defPPr>
          </a:lstStyle>
          <a:p>
            <a:pPr algn="l">
              <a:buNone/>
              <a:defRPr sz="563" b="1">
                <a:solidFill>
                  <a:srgbClr val="64716B"/>
                </a:solidFill>
                <a:latin typeface="Noto Sans KR"/>
                <a:ea typeface="Noto Sans KR"/>
                <a:cs typeface="Noto Sans KR"/>
              </a:defRPr>
            </a:pPr>
            <a:r>
              <a:rPr sz="563" b="1">
                <a:solidFill>
                  <a:srgbClr val="64716B"/>
                </a:solidFill>
                <a:latin typeface="Noto Sans KR"/>
                <a:ea typeface="Noto Sans KR"/>
                <a:cs typeface="Noto Sans KR"/>
              </a:rPr>
              <a:t>SCORECARD</a:t>
            </a:r>
          </a:p>
        </p:txBody>
      </p:sp>
      <p:sp>
        <p:nvSpPr>
          <p:cNvPr id="78" name="직사각형 77">
            <a:extLst>
              <a:ext uri="{FF2B5EF4-FFF2-40B4-BE49-F238E27FC236}">
                <a16:creationId xmlns:a16="http://schemas.microsoft.com/office/drawing/2014/main" id="{3E851138-943D-463F-A2BF-79B2A5F4353F}"/>
              </a:ext>
            </a:extLst>
          </p:cNvPr>
          <p:cNvSpPr>
            <a:spLocks noGrp="1"/>
          </p:cNvSpPr>
          <p:nvPr/>
        </p:nvSpPr>
        <p:spPr>
          <a:xfrm>
            <a:off x="10677525" y="2838450"/>
            <a:ext cx="933450" cy="257175"/>
          </a:xfrm>
          <a:prstGeom prst="rect">
            <a:avLst/>
          </a:prstGeom>
          <a:noFill/>
          <a:ln w="0">
            <a:noFill/>
          </a:ln>
        </p:spPr>
        <p:txBody>
          <a:bodyPr wrap="square" lIns="0" tIns="0" rIns="0" bIns="0" anchor="ctr">
            <a:normAutofit/>
          </a:bodyPr>
          <a:lstStyle>
            <a:defPPr>
              <a:defRPr sz="743"/>
            </a:defPPr>
          </a:lstStyle>
          <a:p>
            <a:pPr algn="l">
              <a:buNone/>
              <a:defRPr sz="743" b="1">
                <a:solidFill>
                  <a:srgbClr val="17231F"/>
                </a:solidFill>
                <a:latin typeface="Noto Sans KR"/>
                <a:ea typeface="Noto Sans KR"/>
                <a:cs typeface="Noto Sans KR"/>
              </a:defRPr>
            </a:pPr>
            <a:r>
              <a:rPr sz="743" b="1">
                <a:solidFill>
                  <a:srgbClr val="17231F"/>
                </a:solidFill>
                <a:latin typeface="Noto Sans KR"/>
                <a:ea typeface="Noto Sans KR"/>
                <a:cs typeface="Noto Sans KR"/>
              </a:rPr>
              <a:t>Comparison scorecard</a:t>
            </a:r>
          </a:p>
        </p:txBody>
      </p:sp>
      <p:sp>
        <p:nvSpPr>
          <p:cNvPr id="79" name="사각형: 둥근 모서리 78">
            <a:extLst>
              <a:ext uri="{FF2B5EF4-FFF2-40B4-BE49-F238E27FC236}">
                <a16:creationId xmlns:a16="http://schemas.microsoft.com/office/drawing/2014/main" id="{9BB6725E-879B-4812-AED9-595AD4C68529}"/>
              </a:ext>
            </a:extLst>
          </p:cNvPr>
          <p:cNvSpPr>
            <a:spLocks noGrp="1"/>
          </p:cNvSpPr>
          <p:nvPr/>
        </p:nvSpPr>
        <p:spPr>
          <a:xfrm>
            <a:off x="10677525" y="3209925"/>
            <a:ext cx="933450" cy="257175"/>
          </a:xfrm>
          <a:prstGeom prst="roundRect">
            <a:avLst>
              <a:gd name="adj" fmla="val 25926"/>
            </a:avLst>
          </a:prstGeom>
          <a:solidFill>
            <a:srgbClr val="F7F9F8"/>
          </a:solidFill>
          <a:ln w="0">
            <a:noFill/>
          </a:ln>
        </p:spPr>
        <p:txBody>
          <a:bodyPr/>
          <a:lstStyle/>
          <a:p>
            <a:endParaRPr/>
          </a:p>
        </p:txBody>
      </p:sp>
      <p:sp>
        <p:nvSpPr>
          <p:cNvPr id="80" name="타원 79">
            <a:extLst>
              <a:ext uri="{FF2B5EF4-FFF2-40B4-BE49-F238E27FC236}">
                <a16:creationId xmlns:a16="http://schemas.microsoft.com/office/drawing/2014/main" id="{96D323C0-5159-4E7F-B3EB-4962E71FB70E}"/>
              </a:ext>
            </a:extLst>
          </p:cNvPr>
          <p:cNvSpPr>
            <a:spLocks noGrp="1"/>
          </p:cNvSpPr>
          <p:nvPr/>
        </p:nvSpPr>
        <p:spPr>
          <a:xfrm>
            <a:off x="10753725" y="3305175"/>
            <a:ext cx="66675" cy="66675"/>
          </a:xfrm>
          <a:prstGeom prst="ellipse">
            <a:avLst/>
          </a:prstGeom>
          <a:solidFill>
            <a:srgbClr val="27664F"/>
          </a:solidFill>
          <a:ln w="0">
            <a:noFill/>
          </a:ln>
        </p:spPr>
        <p:txBody>
          <a:bodyPr/>
          <a:lstStyle/>
          <a:p>
            <a:endParaRPr/>
          </a:p>
        </p:txBody>
      </p:sp>
      <p:sp>
        <p:nvSpPr>
          <p:cNvPr id="81" name="직사각형 80">
            <a:extLst>
              <a:ext uri="{FF2B5EF4-FFF2-40B4-BE49-F238E27FC236}">
                <a16:creationId xmlns:a16="http://schemas.microsoft.com/office/drawing/2014/main" id="{417AF483-DE92-4743-8521-E4597AC49188}"/>
              </a:ext>
            </a:extLst>
          </p:cNvPr>
          <p:cNvSpPr>
            <a:spLocks noGrp="1"/>
          </p:cNvSpPr>
          <p:nvPr/>
        </p:nvSpPr>
        <p:spPr>
          <a:xfrm>
            <a:off x="10868025" y="3257550"/>
            <a:ext cx="666750" cy="161925"/>
          </a:xfrm>
          <a:prstGeom prst="rect">
            <a:avLst/>
          </a:prstGeom>
          <a:noFill/>
          <a:ln w="0">
            <a:noFill/>
          </a:ln>
        </p:spPr>
        <p:txBody>
          <a:bodyPr wrap="square" lIns="0" tIns="0" rIns="0" bIns="0" anchor="ctr">
            <a:normAutofit/>
          </a:bodyPr>
          <a:lstStyle>
            <a:defPPr>
              <a:defRPr sz="575"/>
            </a:defPPr>
          </a:lstStyle>
          <a:p>
            <a:pPr algn="l">
              <a:buNone/>
              <a:defRPr sz="575" b="1">
                <a:solidFill>
                  <a:srgbClr val="17231F"/>
                </a:solidFill>
                <a:latin typeface="Noto Sans KR"/>
                <a:ea typeface="Noto Sans KR"/>
                <a:cs typeface="Noto Sans KR"/>
              </a:defRPr>
            </a:pPr>
            <a:r>
              <a:rPr sz="575" b="1">
                <a:solidFill>
                  <a:srgbClr val="17231F"/>
                </a:solidFill>
                <a:latin typeface="Noto Sans KR"/>
                <a:ea typeface="Noto Sans KR"/>
                <a:cs typeface="Noto Sans KR"/>
              </a:rPr>
              <a:t>Passed checks</a:t>
            </a:r>
          </a:p>
        </p:txBody>
      </p:sp>
      <p:sp>
        <p:nvSpPr>
          <p:cNvPr id="82" name="사각형: 둥근 모서리 81">
            <a:extLst>
              <a:ext uri="{FF2B5EF4-FFF2-40B4-BE49-F238E27FC236}">
                <a16:creationId xmlns:a16="http://schemas.microsoft.com/office/drawing/2014/main" id="{688596F7-049B-43EB-8696-315EBA256583}"/>
              </a:ext>
            </a:extLst>
          </p:cNvPr>
          <p:cNvSpPr>
            <a:spLocks noGrp="1"/>
          </p:cNvSpPr>
          <p:nvPr/>
        </p:nvSpPr>
        <p:spPr>
          <a:xfrm>
            <a:off x="10677525" y="3543300"/>
            <a:ext cx="933450" cy="257175"/>
          </a:xfrm>
          <a:prstGeom prst="roundRect">
            <a:avLst>
              <a:gd name="adj" fmla="val 25926"/>
            </a:avLst>
          </a:prstGeom>
          <a:solidFill>
            <a:srgbClr val="F7F9F8"/>
          </a:solidFill>
          <a:ln w="0">
            <a:noFill/>
          </a:ln>
        </p:spPr>
        <p:txBody>
          <a:bodyPr/>
          <a:lstStyle/>
          <a:p>
            <a:endParaRPr/>
          </a:p>
        </p:txBody>
      </p:sp>
      <p:sp>
        <p:nvSpPr>
          <p:cNvPr id="83" name="타원 82">
            <a:extLst>
              <a:ext uri="{FF2B5EF4-FFF2-40B4-BE49-F238E27FC236}">
                <a16:creationId xmlns:a16="http://schemas.microsoft.com/office/drawing/2014/main" id="{53D35BD3-A575-4C86-A9B2-C260D969EB41}"/>
              </a:ext>
            </a:extLst>
          </p:cNvPr>
          <p:cNvSpPr>
            <a:spLocks noGrp="1"/>
          </p:cNvSpPr>
          <p:nvPr/>
        </p:nvSpPr>
        <p:spPr>
          <a:xfrm>
            <a:off x="10753725" y="3638550"/>
            <a:ext cx="66675" cy="66675"/>
          </a:xfrm>
          <a:prstGeom prst="ellipse">
            <a:avLst/>
          </a:prstGeom>
          <a:solidFill>
            <a:srgbClr val="A56216"/>
          </a:solidFill>
          <a:ln w="0">
            <a:noFill/>
          </a:ln>
        </p:spPr>
        <p:txBody>
          <a:bodyPr/>
          <a:lstStyle/>
          <a:p>
            <a:endParaRPr/>
          </a:p>
        </p:txBody>
      </p:sp>
      <p:sp>
        <p:nvSpPr>
          <p:cNvPr id="84" name="직사각형 83">
            <a:extLst>
              <a:ext uri="{FF2B5EF4-FFF2-40B4-BE49-F238E27FC236}">
                <a16:creationId xmlns:a16="http://schemas.microsoft.com/office/drawing/2014/main" id="{80FADB31-DB90-4B0D-BDE6-EDF6633FD038}"/>
              </a:ext>
            </a:extLst>
          </p:cNvPr>
          <p:cNvSpPr>
            <a:spLocks noGrp="1"/>
          </p:cNvSpPr>
          <p:nvPr/>
        </p:nvSpPr>
        <p:spPr>
          <a:xfrm>
            <a:off x="10868025" y="3590925"/>
            <a:ext cx="666750" cy="161925"/>
          </a:xfrm>
          <a:prstGeom prst="rect">
            <a:avLst/>
          </a:prstGeom>
          <a:noFill/>
          <a:ln w="0">
            <a:noFill/>
          </a:ln>
        </p:spPr>
        <p:txBody>
          <a:bodyPr wrap="square" lIns="0" tIns="0" rIns="0" bIns="0" anchor="ctr">
            <a:normAutofit/>
          </a:bodyPr>
          <a:lstStyle>
            <a:defPPr>
              <a:defRPr sz="575"/>
            </a:defPPr>
          </a:lstStyle>
          <a:p>
            <a:pPr algn="l">
              <a:buNone/>
              <a:defRPr sz="575" b="1">
                <a:solidFill>
                  <a:srgbClr val="17231F"/>
                </a:solidFill>
                <a:latin typeface="Noto Sans KR"/>
                <a:ea typeface="Noto Sans KR"/>
                <a:cs typeface="Noto Sans KR"/>
              </a:defRPr>
            </a:pPr>
            <a:r>
              <a:rPr sz="575" b="1">
                <a:solidFill>
                  <a:srgbClr val="17231F"/>
                </a:solidFill>
                <a:latin typeface="Noto Sans KR"/>
                <a:ea typeface="Noto Sans KR"/>
                <a:cs typeface="Noto Sans KR"/>
              </a:rPr>
              <a:t>Failure stage</a:t>
            </a:r>
          </a:p>
        </p:txBody>
      </p:sp>
      <p:sp>
        <p:nvSpPr>
          <p:cNvPr id="85" name="사각형: 둥근 모서리 84">
            <a:extLst>
              <a:ext uri="{FF2B5EF4-FFF2-40B4-BE49-F238E27FC236}">
                <a16:creationId xmlns:a16="http://schemas.microsoft.com/office/drawing/2014/main" id="{D462D292-313D-4F7A-875D-C56F110C615D}"/>
              </a:ext>
            </a:extLst>
          </p:cNvPr>
          <p:cNvSpPr>
            <a:spLocks noGrp="1"/>
          </p:cNvSpPr>
          <p:nvPr/>
        </p:nvSpPr>
        <p:spPr>
          <a:xfrm>
            <a:off x="10677525" y="3876675"/>
            <a:ext cx="933450" cy="257175"/>
          </a:xfrm>
          <a:prstGeom prst="roundRect">
            <a:avLst>
              <a:gd name="adj" fmla="val 25926"/>
            </a:avLst>
          </a:prstGeom>
          <a:solidFill>
            <a:srgbClr val="F7F9F8"/>
          </a:solidFill>
          <a:ln w="0">
            <a:noFill/>
          </a:ln>
        </p:spPr>
        <p:txBody>
          <a:bodyPr/>
          <a:lstStyle/>
          <a:p>
            <a:endParaRPr/>
          </a:p>
        </p:txBody>
      </p:sp>
      <p:sp>
        <p:nvSpPr>
          <p:cNvPr id="86" name="타원 85">
            <a:extLst>
              <a:ext uri="{FF2B5EF4-FFF2-40B4-BE49-F238E27FC236}">
                <a16:creationId xmlns:a16="http://schemas.microsoft.com/office/drawing/2014/main" id="{EB8C7C16-811F-40A0-8A9F-98961AD26BAC}"/>
              </a:ext>
            </a:extLst>
          </p:cNvPr>
          <p:cNvSpPr>
            <a:spLocks noGrp="1"/>
          </p:cNvSpPr>
          <p:nvPr/>
        </p:nvSpPr>
        <p:spPr>
          <a:xfrm>
            <a:off x="10753725" y="3971925"/>
            <a:ext cx="66675" cy="66675"/>
          </a:xfrm>
          <a:prstGeom prst="ellipse">
            <a:avLst/>
          </a:prstGeom>
          <a:solidFill>
            <a:srgbClr val="6B4BB2"/>
          </a:solidFill>
          <a:ln w="0">
            <a:noFill/>
          </a:ln>
        </p:spPr>
        <p:txBody>
          <a:bodyPr/>
          <a:lstStyle/>
          <a:p>
            <a:endParaRPr/>
          </a:p>
        </p:txBody>
      </p:sp>
      <p:sp>
        <p:nvSpPr>
          <p:cNvPr id="87" name="직사각형 86">
            <a:extLst>
              <a:ext uri="{FF2B5EF4-FFF2-40B4-BE49-F238E27FC236}">
                <a16:creationId xmlns:a16="http://schemas.microsoft.com/office/drawing/2014/main" id="{6A761228-3706-426D-8088-2223835BA583}"/>
              </a:ext>
            </a:extLst>
          </p:cNvPr>
          <p:cNvSpPr>
            <a:spLocks noGrp="1"/>
          </p:cNvSpPr>
          <p:nvPr/>
        </p:nvSpPr>
        <p:spPr>
          <a:xfrm>
            <a:off x="10868025" y="3924300"/>
            <a:ext cx="666750" cy="161925"/>
          </a:xfrm>
          <a:prstGeom prst="rect">
            <a:avLst/>
          </a:prstGeom>
          <a:noFill/>
          <a:ln w="0">
            <a:noFill/>
          </a:ln>
        </p:spPr>
        <p:txBody>
          <a:bodyPr wrap="square" lIns="0" tIns="0" rIns="0" bIns="0" anchor="ctr">
            <a:normAutofit/>
          </a:bodyPr>
          <a:lstStyle>
            <a:defPPr>
              <a:defRPr sz="575"/>
            </a:defPPr>
          </a:lstStyle>
          <a:p>
            <a:pPr algn="l">
              <a:buNone/>
              <a:defRPr sz="575" b="1">
                <a:solidFill>
                  <a:srgbClr val="17231F"/>
                </a:solidFill>
                <a:latin typeface="Noto Sans KR"/>
                <a:ea typeface="Noto Sans KR"/>
                <a:cs typeface="Noto Sans KR"/>
              </a:defRPr>
            </a:pPr>
            <a:r>
              <a:rPr sz="575" b="1">
                <a:solidFill>
                  <a:srgbClr val="17231F"/>
                </a:solidFill>
                <a:latin typeface="Noto Sans KR"/>
                <a:ea typeface="Noto Sans KR"/>
                <a:cs typeface="Noto Sans KR"/>
              </a:rPr>
              <a:t>Quality gap</a:t>
            </a:r>
          </a:p>
        </p:txBody>
      </p:sp>
      <p:sp>
        <p:nvSpPr>
          <p:cNvPr id="88" name="직사각형 87">
            <a:extLst>
              <a:ext uri="{FF2B5EF4-FFF2-40B4-BE49-F238E27FC236}">
                <a16:creationId xmlns:a16="http://schemas.microsoft.com/office/drawing/2014/main" id="{B8C66EC5-DF49-4EAD-AD82-4CBE20E139F3}"/>
              </a:ext>
            </a:extLst>
          </p:cNvPr>
          <p:cNvSpPr>
            <a:spLocks noGrp="1"/>
          </p:cNvSpPr>
          <p:nvPr/>
        </p:nvSpPr>
        <p:spPr>
          <a:xfrm>
            <a:off x="10677525" y="4219575"/>
            <a:ext cx="933450" cy="209550"/>
          </a:xfrm>
          <a:prstGeom prst="rect">
            <a:avLst/>
          </a:prstGeom>
          <a:noFill/>
          <a:ln w="0">
            <a:noFill/>
          </a:ln>
        </p:spPr>
        <p:txBody>
          <a:bodyPr wrap="square" lIns="0" tIns="0" rIns="0" bIns="0" anchor="ctr">
            <a:normAutofit/>
          </a:bodyPr>
          <a:lstStyle>
            <a:defPPr>
              <a:defRPr sz="563"/>
            </a:defPPr>
          </a:lstStyle>
          <a:p>
            <a:pPr algn="l">
              <a:buNone/>
              <a:defRPr sz="563" b="0">
                <a:solidFill>
                  <a:srgbClr val="64716B"/>
                </a:solidFill>
                <a:latin typeface="Noto Sans KR"/>
                <a:ea typeface="Noto Sans KR"/>
                <a:cs typeface="Noto Sans KR"/>
              </a:defRPr>
            </a:pPr>
            <a:r>
              <a:rPr sz="563" b="0">
                <a:solidFill>
                  <a:srgbClr val="64716B"/>
                </a:solidFill>
                <a:latin typeface="Noto Sans KR"/>
                <a:ea typeface="Noto Sans KR"/>
                <a:cs typeface="Noto Sans KR"/>
              </a:rPr>
              <a:t>Record failure causes</a:t>
            </a:r>
          </a:p>
          <a:p>
            <a:pPr algn="l">
              <a:buNone/>
              <a:defRPr sz="563" b="0">
                <a:solidFill>
                  <a:srgbClr val="64716B"/>
                </a:solidFill>
                <a:latin typeface="Noto Sans KR"/>
                <a:ea typeface="Noto Sans KR"/>
                <a:cs typeface="Noto Sans KR"/>
              </a:defRPr>
            </a:pPr>
            <a:r>
              <a:rPr sz="563" b="0">
                <a:solidFill>
                  <a:srgbClr val="64716B"/>
                </a:solidFill>
                <a:latin typeface="Noto Sans KR"/>
                <a:ea typeface="Noto Sans KR"/>
                <a:cs typeface="Noto Sans KR"/>
              </a:rPr>
              <a:t>and model differences</a:t>
            </a:r>
          </a:p>
        </p:txBody>
      </p:sp>
      <p:sp>
        <p:nvSpPr>
          <p:cNvPr id="89" name="직선 연결선 88">
            <a:extLst>
              <a:ext uri="{FF2B5EF4-FFF2-40B4-BE49-F238E27FC236}">
                <a16:creationId xmlns:a16="http://schemas.microsoft.com/office/drawing/2014/main" id="{BB85C6CF-C3C9-41E7-A434-F06392DE9537}"/>
              </a:ext>
            </a:extLst>
          </p:cNvPr>
          <p:cNvSpPr>
            <a:spLocks noGrp="1"/>
          </p:cNvSpPr>
          <p:nvPr/>
        </p:nvSpPr>
        <p:spPr>
          <a:xfrm>
            <a:off x="1905000" y="3571875"/>
            <a:ext cx="457200" cy="0"/>
          </a:xfrm>
          <a:prstGeom prst="line">
            <a:avLst/>
          </a:prstGeom>
          <a:noFill/>
          <a:ln w="16193">
            <a:solidFill>
              <a:srgbClr val="8B9992"/>
            </a:solidFill>
            <a:prstDash val="solid"/>
          </a:ln>
        </p:spPr>
        <p:txBody>
          <a:bodyPr/>
          <a:lstStyle/>
          <a:p>
            <a:endParaRPr/>
          </a:p>
        </p:txBody>
      </p:sp>
      <p:sp>
        <p:nvSpPr>
          <p:cNvPr id="91" name="직선 연결선 90">
            <a:extLst>
              <a:ext uri="{FF2B5EF4-FFF2-40B4-BE49-F238E27FC236}">
                <a16:creationId xmlns:a16="http://schemas.microsoft.com/office/drawing/2014/main" id="{8969A9AC-10E2-484F-924D-90C72438BD1F}"/>
              </a:ext>
            </a:extLst>
          </p:cNvPr>
          <p:cNvSpPr>
            <a:spLocks noGrp="1"/>
          </p:cNvSpPr>
          <p:nvPr/>
        </p:nvSpPr>
        <p:spPr>
          <a:xfrm>
            <a:off x="7981950" y="3577590"/>
            <a:ext cx="142875" cy="0"/>
          </a:xfrm>
          <a:prstGeom prst="line">
            <a:avLst/>
          </a:prstGeom>
          <a:noFill/>
          <a:ln w="16193">
            <a:solidFill>
              <a:srgbClr val="8B9992"/>
            </a:solidFill>
            <a:prstDash val="solid"/>
          </a:ln>
        </p:spPr>
        <p:txBody>
          <a:bodyPr/>
          <a:lstStyle/>
          <a:p>
            <a:endParaRPr/>
          </a:p>
        </p:txBody>
      </p:sp>
      <p:sp>
        <p:nvSpPr>
          <p:cNvPr id="92" name="직선 연결선 91">
            <a:extLst>
              <a:ext uri="{FF2B5EF4-FFF2-40B4-BE49-F238E27FC236}">
                <a16:creationId xmlns:a16="http://schemas.microsoft.com/office/drawing/2014/main" id="{D9AC0A4A-F47A-439A-9D21-4410D690F3AB}"/>
              </a:ext>
            </a:extLst>
          </p:cNvPr>
          <p:cNvSpPr>
            <a:spLocks noGrp="1"/>
          </p:cNvSpPr>
          <p:nvPr/>
        </p:nvSpPr>
        <p:spPr>
          <a:xfrm>
            <a:off x="8124825" y="2748915"/>
            <a:ext cx="0" cy="1657350"/>
          </a:xfrm>
          <a:prstGeom prst="line">
            <a:avLst/>
          </a:prstGeom>
          <a:noFill/>
          <a:ln w="16193">
            <a:solidFill>
              <a:srgbClr val="8B9992"/>
            </a:solidFill>
            <a:prstDash val="solid"/>
          </a:ln>
        </p:spPr>
        <p:txBody>
          <a:bodyPr/>
          <a:lstStyle/>
          <a:p>
            <a:endParaRPr/>
          </a:p>
        </p:txBody>
      </p:sp>
      <p:sp>
        <p:nvSpPr>
          <p:cNvPr id="93" name="직선 연결선 92">
            <a:extLst>
              <a:ext uri="{FF2B5EF4-FFF2-40B4-BE49-F238E27FC236}">
                <a16:creationId xmlns:a16="http://schemas.microsoft.com/office/drawing/2014/main" id="{B27F3FFE-A062-4688-9E02-1C829FE60CBE}"/>
              </a:ext>
            </a:extLst>
          </p:cNvPr>
          <p:cNvSpPr>
            <a:spLocks noGrp="1"/>
          </p:cNvSpPr>
          <p:nvPr/>
        </p:nvSpPr>
        <p:spPr>
          <a:xfrm>
            <a:off x="8124825" y="2748915"/>
            <a:ext cx="142875" cy="0"/>
          </a:xfrm>
          <a:prstGeom prst="line">
            <a:avLst/>
          </a:prstGeom>
          <a:noFill/>
          <a:ln w="16193">
            <a:solidFill>
              <a:srgbClr val="8B9992"/>
            </a:solidFill>
            <a:prstDash val="solid"/>
          </a:ln>
        </p:spPr>
        <p:txBody>
          <a:bodyPr/>
          <a:lstStyle/>
          <a:p>
            <a:endParaRPr/>
          </a:p>
        </p:txBody>
      </p:sp>
      <p:sp>
        <p:nvSpPr>
          <p:cNvPr id="94" name="직선 연결선 93">
            <a:extLst>
              <a:ext uri="{FF2B5EF4-FFF2-40B4-BE49-F238E27FC236}">
                <a16:creationId xmlns:a16="http://schemas.microsoft.com/office/drawing/2014/main" id="{497DF05B-8B43-484F-A24D-702B93A67813}"/>
              </a:ext>
            </a:extLst>
          </p:cNvPr>
          <p:cNvSpPr>
            <a:spLocks noGrp="1"/>
          </p:cNvSpPr>
          <p:nvPr/>
        </p:nvSpPr>
        <p:spPr>
          <a:xfrm>
            <a:off x="8124825" y="3577590"/>
            <a:ext cx="142875" cy="0"/>
          </a:xfrm>
          <a:prstGeom prst="line">
            <a:avLst/>
          </a:prstGeom>
          <a:noFill/>
          <a:ln w="16193">
            <a:solidFill>
              <a:srgbClr val="8B9992"/>
            </a:solidFill>
            <a:prstDash val="solid"/>
          </a:ln>
        </p:spPr>
        <p:txBody>
          <a:bodyPr/>
          <a:lstStyle/>
          <a:p>
            <a:endParaRPr/>
          </a:p>
        </p:txBody>
      </p:sp>
      <p:sp>
        <p:nvSpPr>
          <p:cNvPr id="95" name="직선 연결선 94">
            <a:extLst>
              <a:ext uri="{FF2B5EF4-FFF2-40B4-BE49-F238E27FC236}">
                <a16:creationId xmlns:a16="http://schemas.microsoft.com/office/drawing/2014/main" id="{6F1C4ADA-0B01-49C7-B9DE-91EAAB853501}"/>
              </a:ext>
            </a:extLst>
          </p:cNvPr>
          <p:cNvSpPr>
            <a:spLocks noGrp="1"/>
          </p:cNvSpPr>
          <p:nvPr/>
        </p:nvSpPr>
        <p:spPr>
          <a:xfrm>
            <a:off x="8124825" y="4406265"/>
            <a:ext cx="142875" cy="0"/>
          </a:xfrm>
          <a:prstGeom prst="line">
            <a:avLst/>
          </a:prstGeom>
          <a:noFill/>
          <a:ln w="16193">
            <a:solidFill>
              <a:srgbClr val="8B9992"/>
            </a:solidFill>
            <a:prstDash val="solid"/>
          </a:ln>
        </p:spPr>
        <p:txBody>
          <a:bodyPr/>
          <a:lstStyle/>
          <a:p>
            <a:endParaRPr/>
          </a:p>
        </p:txBody>
      </p:sp>
      <p:sp>
        <p:nvSpPr>
          <p:cNvPr id="96" name="직선 연결선 95">
            <a:extLst>
              <a:ext uri="{FF2B5EF4-FFF2-40B4-BE49-F238E27FC236}">
                <a16:creationId xmlns:a16="http://schemas.microsoft.com/office/drawing/2014/main" id="{6C598B6A-2D7C-4B80-B99C-E6CE6A2D9818}"/>
              </a:ext>
            </a:extLst>
          </p:cNvPr>
          <p:cNvSpPr>
            <a:spLocks noGrp="1"/>
          </p:cNvSpPr>
          <p:nvPr/>
        </p:nvSpPr>
        <p:spPr>
          <a:xfrm>
            <a:off x="10267950" y="2748915"/>
            <a:ext cx="142875" cy="0"/>
          </a:xfrm>
          <a:prstGeom prst="line">
            <a:avLst/>
          </a:prstGeom>
          <a:noFill/>
          <a:ln w="16193">
            <a:solidFill>
              <a:srgbClr val="8B9992"/>
            </a:solidFill>
            <a:prstDash val="solid"/>
          </a:ln>
        </p:spPr>
        <p:txBody>
          <a:bodyPr/>
          <a:lstStyle/>
          <a:p>
            <a:endParaRPr/>
          </a:p>
        </p:txBody>
      </p:sp>
      <p:sp>
        <p:nvSpPr>
          <p:cNvPr id="97" name="직선 연결선 96">
            <a:extLst>
              <a:ext uri="{FF2B5EF4-FFF2-40B4-BE49-F238E27FC236}">
                <a16:creationId xmlns:a16="http://schemas.microsoft.com/office/drawing/2014/main" id="{7E40DDEF-2BDF-404B-B992-07D44B7BC8B4}"/>
              </a:ext>
            </a:extLst>
          </p:cNvPr>
          <p:cNvSpPr>
            <a:spLocks noGrp="1"/>
          </p:cNvSpPr>
          <p:nvPr/>
        </p:nvSpPr>
        <p:spPr>
          <a:xfrm>
            <a:off x="10267950" y="3577590"/>
            <a:ext cx="142875" cy="0"/>
          </a:xfrm>
          <a:prstGeom prst="line">
            <a:avLst/>
          </a:prstGeom>
          <a:noFill/>
          <a:ln w="16193">
            <a:solidFill>
              <a:srgbClr val="8B9992"/>
            </a:solidFill>
            <a:prstDash val="solid"/>
          </a:ln>
        </p:spPr>
        <p:txBody>
          <a:bodyPr/>
          <a:lstStyle/>
          <a:p>
            <a:endParaRPr/>
          </a:p>
        </p:txBody>
      </p:sp>
      <p:sp>
        <p:nvSpPr>
          <p:cNvPr id="98" name="직선 연결선 97">
            <a:extLst>
              <a:ext uri="{FF2B5EF4-FFF2-40B4-BE49-F238E27FC236}">
                <a16:creationId xmlns:a16="http://schemas.microsoft.com/office/drawing/2014/main" id="{B3625A52-9BB6-4AE0-94C4-756066A0963F}"/>
              </a:ext>
            </a:extLst>
          </p:cNvPr>
          <p:cNvSpPr>
            <a:spLocks noGrp="1"/>
          </p:cNvSpPr>
          <p:nvPr/>
        </p:nvSpPr>
        <p:spPr>
          <a:xfrm>
            <a:off x="10267950" y="4406265"/>
            <a:ext cx="142875" cy="0"/>
          </a:xfrm>
          <a:prstGeom prst="line">
            <a:avLst/>
          </a:prstGeom>
          <a:noFill/>
          <a:ln w="16193">
            <a:solidFill>
              <a:srgbClr val="8B9992"/>
            </a:solidFill>
            <a:prstDash val="solid"/>
          </a:ln>
        </p:spPr>
        <p:txBody>
          <a:bodyPr/>
          <a:lstStyle/>
          <a:p>
            <a:endParaRPr/>
          </a:p>
        </p:txBody>
      </p:sp>
      <p:sp>
        <p:nvSpPr>
          <p:cNvPr id="99" name="직선 연결선 98">
            <a:extLst>
              <a:ext uri="{FF2B5EF4-FFF2-40B4-BE49-F238E27FC236}">
                <a16:creationId xmlns:a16="http://schemas.microsoft.com/office/drawing/2014/main" id="{EE5BAC8A-6B3B-4322-8E57-E5B8BD2F120F}"/>
              </a:ext>
            </a:extLst>
          </p:cNvPr>
          <p:cNvSpPr>
            <a:spLocks noGrp="1"/>
          </p:cNvSpPr>
          <p:nvPr/>
        </p:nvSpPr>
        <p:spPr>
          <a:xfrm>
            <a:off x="10410825" y="2748915"/>
            <a:ext cx="0" cy="1657350"/>
          </a:xfrm>
          <a:prstGeom prst="line">
            <a:avLst/>
          </a:prstGeom>
          <a:noFill/>
          <a:ln w="16193">
            <a:solidFill>
              <a:srgbClr val="8B9992"/>
            </a:solidFill>
            <a:prstDash val="solid"/>
          </a:ln>
        </p:spPr>
        <p:txBody>
          <a:bodyPr/>
          <a:lstStyle/>
          <a:p>
            <a:endParaRPr/>
          </a:p>
        </p:txBody>
      </p:sp>
      <p:sp>
        <p:nvSpPr>
          <p:cNvPr id="100" name="직선 연결선 99">
            <a:extLst>
              <a:ext uri="{FF2B5EF4-FFF2-40B4-BE49-F238E27FC236}">
                <a16:creationId xmlns:a16="http://schemas.microsoft.com/office/drawing/2014/main" id="{9CA92CED-DBDA-41B4-AE0B-BD8A4287598F}"/>
              </a:ext>
            </a:extLst>
          </p:cNvPr>
          <p:cNvSpPr>
            <a:spLocks noGrp="1"/>
          </p:cNvSpPr>
          <p:nvPr/>
        </p:nvSpPr>
        <p:spPr>
          <a:xfrm>
            <a:off x="10410825" y="3577590"/>
            <a:ext cx="142875" cy="0"/>
          </a:xfrm>
          <a:prstGeom prst="line">
            <a:avLst/>
          </a:prstGeom>
          <a:noFill/>
          <a:ln w="16193">
            <a:solidFill>
              <a:srgbClr val="8B9992"/>
            </a:solidFill>
            <a:prstDash val="solid"/>
          </a:ln>
        </p:spPr>
        <p:txBody>
          <a:bodyPr/>
          <a:lstStyle/>
          <a:p>
            <a:endParaRPr/>
          </a:p>
        </p:txBody>
      </p:sp>
      <p:sp>
        <p:nvSpPr>
          <p:cNvPr id="101" name="사각형: 둥근 모서리 100">
            <a:extLst>
              <a:ext uri="{FF2B5EF4-FFF2-40B4-BE49-F238E27FC236}">
                <a16:creationId xmlns:a16="http://schemas.microsoft.com/office/drawing/2014/main" id="{C0B5ED88-4912-43DD-933C-F35485933358}"/>
              </a:ext>
            </a:extLst>
          </p:cNvPr>
          <p:cNvSpPr>
            <a:spLocks noGrp="1"/>
          </p:cNvSpPr>
          <p:nvPr/>
        </p:nvSpPr>
        <p:spPr>
          <a:xfrm>
            <a:off x="3314700" y="5143500"/>
            <a:ext cx="8420100" cy="428625"/>
          </a:xfrm>
          <a:prstGeom prst="roundRect">
            <a:avLst>
              <a:gd name="adj" fmla="val 28889"/>
            </a:avLst>
          </a:prstGeom>
          <a:solidFill>
            <a:srgbClr val="FFF5E6"/>
          </a:solidFill>
          <a:ln w="11430">
            <a:solidFill>
              <a:srgbClr val="A56216"/>
            </a:solidFill>
            <a:prstDash val="dash"/>
          </a:ln>
        </p:spPr>
        <p:txBody>
          <a:bodyPr/>
          <a:lstStyle/>
          <a:p>
            <a:endParaRPr/>
          </a:p>
        </p:txBody>
      </p:sp>
      <p:sp>
        <p:nvSpPr>
          <p:cNvPr id="102" name="직사각형 101">
            <a:extLst>
              <a:ext uri="{FF2B5EF4-FFF2-40B4-BE49-F238E27FC236}">
                <a16:creationId xmlns:a16="http://schemas.microsoft.com/office/drawing/2014/main" id="{F03EEC5A-AF69-41A3-81D5-C3D53EB6C463}"/>
              </a:ext>
            </a:extLst>
          </p:cNvPr>
          <p:cNvSpPr>
            <a:spLocks noGrp="1"/>
          </p:cNvSpPr>
          <p:nvPr/>
        </p:nvSpPr>
        <p:spPr>
          <a:xfrm>
            <a:off x="3476625" y="5257800"/>
            <a:ext cx="1276350" cy="190500"/>
          </a:xfrm>
          <a:prstGeom prst="rect">
            <a:avLst/>
          </a:prstGeom>
          <a:noFill/>
          <a:ln w="0">
            <a:noFill/>
          </a:ln>
        </p:spPr>
        <p:txBody>
          <a:bodyPr wrap="square" lIns="0" tIns="0" rIns="0" bIns="0" anchor="ctr">
            <a:normAutofit/>
          </a:bodyPr>
          <a:lstStyle>
            <a:defPPr>
              <a:defRPr sz="578"/>
            </a:defPPr>
          </a:lstStyle>
          <a:p>
            <a:pPr algn="l">
              <a:buNone/>
              <a:defRPr sz="578" b="1">
                <a:solidFill>
                  <a:srgbClr val="A56216"/>
                </a:solidFill>
                <a:latin typeface="Noto Sans KR"/>
                <a:ea typeface="Noto Sans KR"/>
                <a:cs typeface="Noto Sans KR"/>
              </a:defRPr>
            </a:pPr>
            <a:r>
              <a:rPr sz="578" b="1">
                <a:solidFill>
                  <a:srgbClr val="A56216"/>
                </a:solidFill>
                <a:latin typeface="Noto Sans KR"/>
                <a:ea typeface="Noto Sans KR"/>
                <a:cs typeface="Noto Sans KR"/>
              </a:rPr>
              <a:t>Improvements from evaluation</a:t>
            </a:r>
          </a:p>
        </p:txBody>
      </p:sp>
      <p:sp>
        <p:nvSpPr>
          <p:cNvPr id="103" name="직사각형 102">
            <a:extLst>
              <a:ext uri="{FF2B5EF4-FFF2-40B4-BE49-F238E27FC236}">
                <a16:creationId xmlns:a16="http://schemas.microsoft.com/office/drawing/2014/main" id="{DB1DC837-D256-451B-8CC0-87C4C5445EEC}"/>
              </a:ext>
            </a:extLst>
          </p:cNvPr>
          <p:cNvSpPr>
            <a:spLocks noGrp="1"/>
          </p:cNvSpPr>
          <p:nvPr/>
        </p:nvSpPr>
        <p:spPr>
          <a:xfrm>
            <a:off x="4848225" y="5257800"/>
            <a:ext cx="4048125" cy="190500"/>
          </a:xfrm>
          <a:prstGeom prst="rect">
            <a:avLst/>
          </a:prstGeom>
          <a:noFill/>
          <a:ln w="0">
            <a:noFill/>
          </a:ln>
        </p:spPr>
        <p:txBody>
          <a:bodyPr wrap="square" lIns="0" tIns="0" rIns="0" bIns="0" anchor="ctr">
            <a:normAutofit/>
          </a:bodyPr>
          <a:lstStyle>
            <a:defPPr>
              <a:defRPr sz="640"/>
            </a:defPPr>
          </a:lstStyle>
          <a:p>
            <a:pPr algn="l">
              <a:buNone/>
              <a:defRPr sz="640" b="1">
                <a:solidFill>
                  <a:srgbClr val="765023"/>
                </a:solidFill>
                <a:latin typeface="Noto Sans KR"/>
                <a:ea typeface="Noto Sans KR"/>
                <a:cs typeface="Noto Sans KR"/>
              </a:defRPr>
            </a:pPr>
            <a:r>
              <a:rPr sz="640" b="1">
                <a:solidFill>
                  <a:srgbClr val="765023"/>
                </a:solidFill>
                <a:latin typeface="Noto Sans KR"/>
                <a:ea typeface="Noto Sans KR"/>
                <a:cs typeface="Noto Sans KR"/>
              </a:rPr>
              <a:t>Prompts, model roles, retrieval settings, and evaluation cases</a:t>
            </a:r>
          </a:p>
        </p:txBody>
      </p:sp>
      <p:sp>
        <p:nvSpPr>
          <p:cNvPr id="104" name="직사각형 103">
            <a:extLst>
              <a:ext uri="{FF2B5EF4-FFF2-40B4-BE49-F238E27FC236}">
                <a16:creationId xmlns:a16="http://schemas.microsoft.com/office/drawing/2014/main" id="{286F8A00-55C4-47B7-A396-48E0085CE34C}"/>
              </a:ext>
            </a:extLst>
          </p:cNvPr>
          <p:cNvSpPr>
            <a:spLocks noGrp="1"/>
          </p:cNvSpPr>
          <p:nvPr/>
        </p:nvSpPr>
        <p:spPr>
          <a:xfrm>
            <a:off x="9753600" y="5257800"/>
            <a:ext cx="1809750" cy="190500"/>
          </a:xfrm>
          <a:prstGeom prst="rect">
            <a:avLst/>
          </a:prstGeom>
          <a:noFill/>
          <a:ln w="0">
            <a:noFill/>
          </a:ln>
        </p:spPr>
        <p:txBody>
          <a:bodyPr wrap="square" lIns="0" tIns="0" rIns="0" bIns="0" anchor="ctr">
            <a:normAutofit/>
          </a:bodyPr>
          <a:lstStyle>
            <a:defPPr>
              <a:defRPr sz="620"/>
            </a:defPPr>
          </a:lstStyle>
          <a:p>
            <a:pPr algn="r">
              <a:buNone/>
              <a:defRPr sz="620" b="1">
                <a:solidFill>
                  <a:srgbClr val="765023"/>
                </a:solidFill>
                <a:latin typeface="Noto Sans KR"/>
                <a:ea typeface="Noto Sans KR"/>
                <a:cs typeface="Noto Sans KR"/>
              </a:defRPr>
            </a:pPr>
            <a:r>
              <a:rPr sz="620" b="1">
                <a:solidFill>
                  <a:srgbClr val="765023"/>
                </a:solidFill>
                <a:latin typeface="Noto Sans KR"/>
                <a:ea typeface="Noto Sans KR"/>
                <a:cs typeface="Noto Sans KR"/>
              </a:rPr>
              <a:t>Rerun the fixed evaluation set ↩</a:t>
            </a:r>
          </a:p>
        </p:txBody>
      </p:sp>
      <p:sp>
        <p:nvSpPr>
          <p:cNvPr id="105" name="직선 연결선 104">
            <a:extLst>
              <a:ext uri="{FF2B5EF4-FFF2-40B4-BE49-F238E27FC236}">
                <a16:creationId xmlns:a16="http://schemas.microsoft.com/office/drawing/2014/main" id="{79A1F1F5-C0D5-4A4E-BB64-C3DDFF7DDD87}"/>
              </a:ext>
            </a:extLst>
          </p:cNvPr>
          <p:cNvSpPr>
            <a:spLocks noGrp="1"/>
          </p:cNvSpPr>
          <p:nvPr/>
        </p:nvSpPr>
        <p:spPr>
          <a:xfrm>
            <a:off x="11144250" y="4505325"/>
            <a:ext cx="0" cy="638175"/>
          </a:xfrm>
          <a:prstGeom prst="line">
            <a:avLst/>
          </a:prstGeom>
          <a:noFill/>
          <a:ln w="13335">
            <a:solidFill>
              <a:srgbClr val="A56216"/>
            </a:solidFill>
            <a:prstDash val="dash"/>
          </a:ln>
        </p:spPr>
        <p:txBody>
          <a:bodyPr/>
          <a:lstStyle/>
          <a:p>
            <a:endParaRPr/>
          </a:p>
        </p:txBody>
      </p:sp>
      <p:sp>
        <p:nvSpPr>
          <p:cNvPr id="107" name="직선 연결선 106">
            <a:extLst>
              <a:ext uri="{FF2B5EF4-FFF2-40B4-BE49-F238E27FC236}">
                <a16:creationId xmlns:a16="http://schemas.microsoft.com/office/drawing/2014/main" id="{5438E92F-BC03-4F63-9D78-CA5883284336}"/>
              </a:ext>
            </a:extLst>
          </p:cNvPr>
          <p:cNvSpPr>
            <a:spLocks noGrp="1"/>
          </p:cNvSpPr>
          <p:nvPr/>
        </p:nvSpPr>
        <p:spPr>
          <a:xfrm>
            <a:off x="457200" y="6191250"/>
            <a:ext cx="11277600" cy="0"/>
          </a:xfrm>
          <a:prstGeom prst="line">
            <a:avLst/>
          </a:prstGeom>
          <a:noFill/>
          <a:ln w="9525">
            <a:solidFill>
              <a:srgbClr val="D8E3DE"/>
            </a:solidFill>
            <a:prstDash val="solid"/>
          </a:ln>
        </p:spPr>
        <p:txBody>
          <a:bodyPr/>
          <a:lstStyle/>
          <a:p>
            <a:endParaRPr/>
          </a:p>
        </p:txBody>
      </p:sp>
      <p:sp>
        <p:nvSpPr>
          <p:cNvPr id="108" name="직사각형 107">
            <a:extLst>
              <a:ext uri="{FF2B5EF4-FFF2-40B4-BE49-F238E27FC236}">
                <a16:creationId xmlns:a16="http://schemas.microsoft.com/office/drawing/2014/main" id="{F2C96383-8D82-4A2F-8CF8-0FDF97CDDB8D}"/>
              </a:ext>
            </a:extLst>
          </p:cNvPr>
          <p:cNvSpPr>
            <a:spLocks noGrp="1"/>
          </p:cNvSpPr>
          <p:nvPr/>
        </p:nvSpPr>
        <p:spPr>
          <a:xfrm>
            <a:off x="457200" y="6315075"/>
            <a:ext cx="685800" cy="190500"/>
          </a:xfrm>
          <a:prstGeom prst="rect">
            <a:avLst/>
          </a:prstGeom>
          <a:noFill/>
          <a:ln w="0">
            <a:noFill/>
          </a:ln>
        </p:spPr>
        <p:txBody>
          <a:bodyPr wrap="square" lIns="0" tIns="0" rIns="0" bIns="0" anchor="ctr">
            <a:normAutofit/>
          </a:bodyPr>
          <a:lstStyle>
            <a:defPPr>
              <a:defRPr sz="563"/>
            </a:defPPr>
          </a:lstStyle>
          <a:p>
            <a:pPr algn="l">
              <a:buNone/>
              <a:defRPr sz="563" b="1">
                <a:solidFill>
                  <a:srgbClr val="27664F"/>
                </a:solidFill>
                <a:latin typeface="Noto Sans KR"/>
                <a:ea typeface="Noto Sans KR"/>
                <a:cs typeface="Noto Sans KR"/>
              </a:defRPr>
            </a:pPr>
            <a:r>
              <a:rPr sz="563" b="1">
                <a:solidFill>
                  <a:srgbClr val="27664F"/>
                </a:solidFill>
                <a:latin typeface="Noto Sans KR"/>
                <a:ea typeface="Noto Sans KR"/>
                <a:cs typeface="Noto Sans KR"/>
              </a:rPr>
              <a:t>MODEL ROLES:</a:t>
            </a:r>
          </a:p>
        </p:txBody>
      </p:sp>
      <p:sp>
        <p:nvSpPr>
          <p:cNvPr id="109" name="직사각형 108">
            <a:extLst>
              <a:ext uri="{FF2B5EF4-FFF2-40B4-BE49-F238E27FC236}">
                <a16:creationId xmlns:a16="http://schemas.microsoft.com/office/drawing/2014/main" id="{4038DC3C-7E11-4642-964A-7D7FDC4ABA5B}"/>
              </a:ext>
            </a:extLst>
          </p:cNvPr>
          <p:cNvSpPr>
            <a:spLocks noGrp="1"/>
          </p:cNvSpPr>
          <p:nvPr/>
        </p:nvSpPr>
        <p:spPr>
          <a:xfrm>
            <a:off x="1219200" y="6315075"/>
            <a:ext cx="10515600" cy="190500"/>
          </a:xfrm>
          <a:prstGeom prst="rect">
            <a:avLst/>
          </a:prstGeom>
          <a:noFill/>
          <a:ln w="0">
            <a:noFill/>
          </a:ln>
        </p:spPr>
        <p:txBody>
          <a:bodyPr wrap="square" lIns="0" tIns="0" rIns="0" bIns="0" anchor="ctr">
            <a:normAutofit/>
          </a:bodyPr>
          <a:lstStyle>
            <a:defPPr>
              <a:defRPr sz="674"/>
            </a:defPPr>
          </a:lstStyle>
          <a:p>
            <a:pPr algn="l">
              <a:buNone/>
              <a:defRPr sz="674" b="1">
                <a:solidFill>
                  <a:srgbClr val="46564F"/>
                </a:solidFill>
                <a:latin typeface="Noto Sans KR"/>
                <a:ea typeface="Noto Sans KR"/>
                <a:cs typeface="Noto Sans KR"/>
              </a:defRPr>
            </a:pPr>
            <a:r>
              <a:rPr sz="674" b="1">
                <a:solidFill>
                  <a:srgbClr val="46564F"/>
                </a:solidFill>
                <a:latin typeface="Noto Sans KR"/>
                <a:ea typeface="Noto Sans KR"/>
                <a:cs typeface="Noto Sans KR"/>
              </a:rPr>
              <a:t>API runs Terra and Luna. Local runs GPT-OSS 20B and Qwen3-8B. Sol or Gemma evaluates the resulting trace under one scorecard.</a:t>
            </a:r>
          </a:p>
        </p:txBody>
      </p:sp>
      <p:sp>
        <p:nvSpPr>
          <p:cNvPr id="191" name="직선 연결선 190">
            <a:extLst>
              <a:ext uri="{FF2B5EF4-FFF2-40B4-BE49-F238E27FC236}">
                <a16:creationId xmlns:a16="http://schemas.microsoft.com/office/drawing/2014/main" id="{54DEC309-4498-4097-9D3F-664BB52CFF7F}"/>
              </a:ext>
            </a:extLst>
          </p:cNvPr>
          <p:cNvSpPr>
            <a:spLocks noGrp="1"/>
          </p:cNvSpPr>
          <p:nvPr/>
        </p:nvSpPr>
        <p:spPr>
          <a:xfrm>
            <a:off x="2362200" y="2981325"/>
            <a:ext cx="0" cy="1162050"/>
          </a:xfrm>
          <a:prstGeom prst="line">
            <a:avLst/>
          </a:prstGeom>
          <a:noFill/>
          <a:ln w="19050">
            <a:solidFill>
              <a:srgbClr val="8A9B93"/>
            </a:solidFill>
            <a:prstDash val="solid"/>
          </a:ln>
        </p:spPr>
        <p:txBody>
          <a:bodyPr/>
          <a:lstStyle/>
          <a:p>
            <a:endParaRPr lang="ko-KR" altLang="en-US"/>
          </a:p>
        </p:txBody>
      </p:sp>
      <p:sp>
        <p:nvSpPr>
          <p:cNvPr id="192" name="직선 연결선 191">
            <a:extLst>
              <a:ext uri="{FF2B5EF4-FFF2-40B4-BE49-F238E27FC236}">
                <a16:creationId xmlns:a16="http://schemas.microsoft.com/office/drawing/2014/main" id="{9A3ECA2E-EA5B-44D4-85A3-8BA186ACA60D}"/>
              </a:ext>
            </a:extLst>
          </p:cNvPr>
          <p:cNvSpPr>
            <a:spLocks noGrp="1"/>
          </p:cNvSpPr>
          <p:nvPr/>
        </p:nvSpPr>
        <p:spPr>
          <a:xfrm>
            <a:off x="2362200" y="2981325"/>
            <a:ext cx="352425" cy="0"/>
          </a:xfrm>
          <a:prstGeom prst="line">
            <a:avLst/>
          </a:prstGeom>
          <a:noFill/>
          <a:ln w="19050">
            <a:solidFill>
              <a:srgbClr val="8A9B93"/>
            </a:solidFill>
            <a:prstDash val="solid"/>
          </a:ln>
        </p:spPr>
        <p:txBody>
          <a:bodyPr/>
          <a:lstStyle/>
          <a:p>
            <a:endParaRPr lang="ko-KR" altLang="en-US"/>
          </a:p>
        </p:txBody>
      </p:sp>
      <p:sp>
        <p:nvSpPr>
          <p:cNvPr id="193" name="직선 연결선 192">
            <a:extLst>
              <a:ext uri="{FF2B5EF4-FFF2-40B4-BE49-F238E27FC236}">
                <a16:creationId xmlns:a16="http://schemas.microsoft.com/office/drawing/2014/main" id="{86922696-58EC-49F6-8411-DA9597202B0E}"/>
              </a:ext>
            </a:extLst>
          </p:cNvPr>
          <p:cNvSpPr>
            <a:spLocks noGrp="1"/>
          </p:cNvSpPr>
          <p:nvPr/>
        </p:nvSpPr>
        <p:spPr>
          <a:xfrm>
            <a:off x="2362200" y="4143375"/>
            <a:ext cx="352425" cy="0"/>
          </a:xfrm>
          <a:prstGeom prst="line">
            <a:avLst/>
          </a:prstGeom>
          <a:noFill/>
          <a:ln w="19050">
            <a:solidFill>
              <a:srgbClr val="8A9B93"/>
            </a:solidFill>
            <a:prstDash val="solid"/>
          </a:ln>
        </p:spPr>
        <p:txBody>
          <a:bodyPr/>
          <a:lstStyle/>
          <a:p>
            <a:endParaRPr lang="ko-KR" altLang="en-US"/>
          </a:p>
        </p:txBody>
      </p:sp>
      <p:sp>
        <p:nvSpPr>
          <p:cNvPr id="194" name="직선 연결선 193">
            <a:extLst>
              <a:ext uri="{FF2B5EF4-FFF2-40B4-BE49-F238E27FC236}">
                <a16:creationId xmlns:a16="http://schemas.microsoft.com/office/drawing/2014/main" id="{F300D420-5702-4B4B-89B4-9553A25195CB}"/>
              </a:ext>
            </a:extLst>
          </p:cNvPr>
          <p:cNvSpPr>
            <a:spLocks noGrp="1"/>
          </p:cNvSpPr>
          <p:nvPr/>
        </p:nvSpPr>
        <p:spPr>
          <a:xfrm>
            <a:off x="5572125" y="2981325"/>
            <a:ext cx="238125" cy="0"/>
          </a:xfrm>
          <a:prstGeom prst="line">
            <a:avLst/>
          </a:prstGeom>
          <a:noFill/>
          <a:ln w="19050">
            <a:solidFill>
              <a:srgbClr val="8A9B93"/>
            </a:solidFill>
            <a:prstDash val="solid"/>
          </a:ln>
        </p:spPr>
        <p:txBody>
          <a:bodyPr/>
          <a:lstStyle/>
          <a:p>
            <a:endParaRPr lang="ko-KR" altLang="en-US"/>
          </a:p>
        </p:txBody>
      </p:sp>
      <p:sp>
        <p:nvSpPr>
          <p:cNvPr id="195" name="직선 연결선 194">
            <a:extLst>
              <a:ext uri="{FF2B5EF4-FFF2-40B4-BE49-F238E27FC236}">
                <a16:creationId xmlns:a16="http://schemas.microsoft.com/office/drawing/2014/main" id="{FA9739FA-E799-4926-91FB-8E271E4C71B5}"/>
              </a:ext>
            </a:extLst>
          </p:cNvPr>
          <p:cNvSpPr>
            <a:spLocks noGrp="1"/>
          </p:cNvSpPr>
          <p:nvPr/>
        </p:nvSpPr>
        <p:spPr>
          <a:xfrm>
            <a:off x="5572125" y="4143375"/>
            <a:ext cx="238125" cy="0"/>
          </a:xfrm>
          <a:prstGeom prst="line">
            <a:avLst/>
          </a:prstGeom>
          <a:noFill/>
          <a:ln w="19050">
            <a:solidFill>
              <a:srgbClr val="8A9B93"/>
            </a:solidFill>
            <a:prstDash val="solid"/>
          </a:ln>
        </p:spPr>
        <p:txBody>
          <a:bodyPr/>
          <a:lstStyle/>
          <a:p>
            <a:endParaRPr lang="ko-KR" altLang="en-US"/>
          </a:p>
        </p:txBody>
      </p:sp>
      <p:sp>
        <p:nvSpPr>
          <p:cNvPr id="196" name="직선 연결선 195">
            <a:extLst>
              <a:ext uri="{FF2B5EF4-FFF2-40B4-BE49-F238E27FC236}">
                <a16:creationId xmlns:a16="http://schemas.microsoft.com/office/drawing/2014/main" id="{E86E4668-81BC-4E74-BAFE-B9455DE0C399}"/>
              </a:ext>
            </a:extLst>
          </p:cNvPr>
          <p:cNvSpPr>
            <a:spLocks noGrp="1"/>
          </p:cNvSpPr>
          <p:nvPr/>
        </p:nvSpPr>
        <p:spPr>
          <a:xfrm>
            <a:off x="5810250" y="2981325"/>
            <a:ext cx="0" cy="1162050"/>
          </a:xfrm>
          <a:prstGeom prst="line">
            <a:avLst/>
          </a:prstGeom>
          <a:noFill/>
          <a:ln w="19050">
            <a:solidFill>
              <a:srgbClr val="8A9B93"/>
            </a:solidFill>
            <a:prstDash val="solid"/>
          </a:ln>
        </p:spPr>
        <p:txBody>
          <a:bodyPr/>
          <a:lstStyle/>
          <a:p>
            <a:endParaRPr lang="ko-KR" altLang="en-US"/>
          </a:p>
        </p:txBody>
      </p:sp>
      <p:sp>
        <p:nvSpPr>
          <p:cNvPr id="197" name="직선 연결선 196">
            <a:extLst>
              <a:ext uri="{FF2B5EF4-FFF2-40B4-BE49-F238E27FC236}">
                <a16:creationId xmlns:a16="http://schemas.microsoft.com/office/drawing/2014/main" id="{D55A9169-F506-4AC8-A019-884AFF2A30B9}"/>
              </a:ext>
            </a:extLst>
          </p:cNvPr>
          <p:cNvSpPr>
            <a:spLocks noGrp="1"/>
          </p:cNvSpPr>
          <p:nvPr/>
        </p:nvSpPr>
        <p:spPr>
          <a:xfrm>
            <a:off x="5810250" y="3571875"/>
            <a:ext cx="647700" cy="0"/>
          </a:xfrm>
          <a:prstGeom prst="line">
            <a:avLst/>
          </a:prstGeom>
          <a:noFill/>
          <a:ln w="19050">
            <a:solidFill>
              <a:srgbClr val="8A9B93"/>
            </a:solidFill>
            <a:prstDash val="solid"/>
          </a:ln>
        </p:spPr>
        <p:txBody>
          <a:bodyPr/>
          <a:lstStyle/>
          <a:p>
            <a:endParaRPr lang="ko-KR" altLang="en-US"/>
          </a:p>
        </p:txBody>
      </p:sp>
      <p:sp>
        <p:nvSpPr>
          <p:cNvPr id="106" name="직선 연결선 105">
            <a:extLst>
              <a:ext uri="{FF2B5EF4-FFF2-40B4-BE49-F238E27FC236}">
                <a16:creationId xmlns:a16="http://schemas.microsoft.com/office/drawing/2014/main" id="{7707960D-F9DB-4C19-AB35-4E4CE6DC880D}"/>
              </a:ext>
            </a:extLst>
          </p:cNvPr>
          <p:cNvSpPr>
            <a:spLocks noGrp="1"/>
          </p:cNvSpPr>
          <p:nvPr/>
        </p:nvSpPr>
        <p:spPr>
          <a:xfrm>
            <a:off x="4095750" y="4605868"/>
            <a:ext cx="0" cy="554737"/>
          </a:xfrm>
          <a:prstGeom prst="line">
            <a:avLst/>
          </a:prstGeom>
          <a:noFill/>
          <a:ln w="13335">
            <a:solidFill>
              <a:srgbClr val="A56216"/>
            </a:solidFill>
            <a:prstDash val="dash"/>
          </a:ln>
        </p:spPr>
        <p:txBody>
          <a:bodyPr/>
          <a:lstStyle/>
          <a:p>
            <a:endParaRPr/>
          </a:p>
        </p:txBody>
      </p:sp>
    </p:spTree>
    <p:extLst>
      <p:ext uri="{BB962C8B-B14F-4D97-AF65-F5344CB8AC3E}">
        <p14:creationId xmlns:p14="http://schemas.microsoft.com/office/powerpoint/2010/main" val="20786461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289</Words>
  <Application>Microsoft Office PowerPoint</Application>
  <DocSecurity>0</DocSecurity>
  <PresentationFormat>와이드스크린</PresentationFormat>
  <Paragraphs>55</Paragraphs>
  <Slides>1</Slides>
  <Notes>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vt:i4>
      </vt:variant>
    </vt:vector>
  </HeadingPairs>
  <TitlesOfParts>
    <vt:vector size="4" baseType="lpstr">
      <vt:lpstr>Noto Sans KR</vt:lpstr>
      <vt:lpstr>Calibri</vt:lpstr>
      <vt:lpstr>ChatGPT</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수현 우</cp:lastModifiedBy>
  <cp:revision>1</cp:revision>
  <dcterms:created xsi:type="dcterms:W3CDTF">2026-10-09T08:52:47Z</dcterms:created>
  <dcterms:modified xsi:type="dcterms:W3CDTF">2026-10-09T09:04:51Z</dcterms:modified>
</cp:coreProperties>
</file>