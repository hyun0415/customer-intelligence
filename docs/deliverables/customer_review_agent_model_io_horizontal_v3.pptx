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7f8073de6a45bb" /><Relationship Type="http://schemas.openxmlformats.org/officeDocument/2006/relationships/extended-properties" Target="/docProps/app.xml" Id="R9118377d6014435b" /><Relationship Type="http://schemas.openxmlformats.org/officeDocument/2006/relationships/officeDocument" Target="/ppt/presentation.xml" Id="R1a58412375004f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a1ec4b63e54365"/>
  </p:sldMasterIdLst>
  <p:notesMasterIdLst>
    <p:notesMasterId xmlns:r="http://schemas.openxmlformats.org/officeDocument/2006/relationships" r:id="R110474b6def74215"/>
  </p:notesMasterIdLst>
  <p:sldIdLst>
    <p:sldId xmlns:r="http://schemas.openxmlformats.org/officeDocument/2006/relationships" id="256" r:id="Raf0c5a99f6ab4f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aafc846cc04e05" /><Relationship Type="http://schemas.openxmlformats.org/officeDocument/2006/relationships/slideMaster" Target="/ppt/slideMasters/slideMaster1.xml" Id="R4ea1ec4b63e54365" /><Relationship Type="http://schemas.openxmlformats.org/officeDocument/2006/relationships/notesMaster" Target="/ppt/notesMasters/notesMaster1.xml" Id="R110474b6def74215" /><Relationship Type="http://schemas.openxmlformats.org/officeDocument/2006/relationships/presProps" Target="/ppt/presProps.xml" Id="R939c067b52044c56" /><Relationship Type="http://schemas.openxmlformats.org/officeDocument/2006/relationships/tableStyles" Target="/ppt/tableStyles.xml" Id="Rd7f85bc562a8484f" /><Relationship Type="http://schemas.openxmlformats.org/officeDocument/2006/relationships/slide" Target="/ppt/slides/slide1.xml" Id="Raf0c5a99f6ab4f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df23bee6f747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5365fdd7c24c5f" /><Relationship Type="http://schemas.openxmlformats.org/officeDocument/2006/relationships/notesMaster" Target="/ppt/notesMasters/notesMaster1.xml" Id="Rb4d648d223464a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기술 표기 참고: OpenAI API https://openai.com/brand/ ; LangGraph https://docs.langchain.com/ ; PostgreSQL https://wiki.postgresql.org/wiki/Logo ; Python https://www.python.org/community/logos/ . 제품 로고를 변형하지 않고, 도식에는 자체 제작한 중립 픽토그램과 공식 기술명을 사용했다.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e7bb75d4fa47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6440814cf942ae" /><Relationship Type="http://schemas.openxmlformats.org/officeDocument/2006/relationships/slideLayout" Target="/ppt/slideLayouts/slideLayout1.xml" Id="Rdb93b5fef21f49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93b5fef21f49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7c4e5f659439b" /><Relationship Type="http://schemas.openxmlformats.org/officeDocument/2006/relationships/image" Target="/ppt/media/image.png" Id="R237243f11f05469d" /><Relationship Type="http://schemas.openxmlformats.org/officeDocument/2006/relationships/image" Target="/ppt/media/image.svg" Id="R553aafc4a7e14c88" /><Relationship Type="http://schemas.openxmlformats.org/officeDocument/2006/relationships/image" Target="/ppt/media/image2.png" Id="R44136156857d40c9" /><Relationship Type="http://schemas.openxmlformats.org/officeDocument/2006/relationships/image" Target="/ppt/media/image2.svg" Id="R5a6efc2ee8414def" /><Relationship Type="http://schemas.openxmlformats.org/officeDocument/2006/relationships/image" Target="/ppt/media/image3.png" Id="Ref8a88c638c4438d" /><Relationship Type="http://schemas.openxmlformats.org/officeDocument/2006/relationships/image" Target="/ppt/media/image3.svg" Id="Rc809f6050b4d4d61" /><Relationship Type="http://schemas.openxmlformats.org/officeDocument/2006/relationships/image" Target="/ppt/media/image4.png" Id="R9cd12ae714f442c9" /><Relationship Type="http://schemas.openxmlformats.org/officeDocument/2006/relationships/image" Target="/ppt/media/image4.svg" Id="Rb5f13cb1099c4571" /><Relationship Type="http://schemas.openxmlformats.org/officeDocument/2006/relationships/image" Target="/ppt/media/image5.png" Id="R460a1ecea4504b5c" /><Relationship Type="http://schemas.openxmlformats.org/officeDocument/2006/relationships/image" Target="/ppt/media/image5.svg" Id="Rcbb0a8e11e9e4dc2" /><Relationship Type="http://schemas.openxmlformats.org/officeDocument/2006/relationships/image" Target="/ppt/media/image6.png" Id="R39146cc73a1f4a57" /><Relationship Type="http://schemas.openxmlformats.org/officeDocument/2006/relationships/image" Target="/ppt/media/image6.svg" Id="Rc03e85326e774a0e" /><Relationship Type="http://schemas.openxmlformats.org/officeDocument/2006/relationships/image" Target="/ppt/media/image7.png" Id="R9ed0583445bc4ba9" /><Relationship Type="http://schemas.openxmlformats.org/officeDocument/2006/relationships/image" Target="/ppt/media/image7.svg" Id="R95b14b0a2d064661" /><Relationship Type="http://schemas.openxmlformats.org/officeDocument/2006/relationships/image" Target="/ppt/media/image8.png" Id="Ra8dd59695e6644c9" /><Relationship Type="http://schemas.openxmlformats.org/officeDocument/2006/relationships/image" Target="/ppt/media/image8.svg" Id="Re3565ee0163049b2" /><Relationship Type="http://schemas.openxmlformats.org/officeDocument/2006/relationships/image" Target="/ppt/media/image9.png" Id="Rcef407b300ae4178" /><Relationship Type="http://schemas.openxmlformats.org/officeDocument/2006/relationships/image" Target="/ppt/media/image9.svg" Id="R2537670ea5974799" /><Relationship Type="http://schemas.openxmlformats.org/officeDocument/2006/relationships/image" Target="/ppt/media/image10.png" Id="R599698f18c884af7" /><Relationship Type="http://schemas.openxmlformats.org/officeDocument/2006/relationships/image" Target="/ppt/media/image10.svg" Id="Rc7854bfd8c644505" /><Relationship Type="http://schemas.openxmlformats.org/officeDocument/2006/relationships/image" Target="/ppt/media/image11.png" Id="Rab96ab3f719a424a" /><Relationship Type="http://schemas.openxmlformats.org/officeDocument/2006/relationships/image" Target="/ppt/media/image11.svg" Id="Rdc212c8e8be44c49" /><Relationship Type="http://schemas.openxmlformats.org/officeDocument/2006/relationships/notesSlide" Target="/ppt/notesSlides/notesSlide1.xml" Id="Rcc70d8f1fb3244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2F486DD-E093-4FFF-A76F-3AE3F03F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20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7664F"/>
                </a:solidFill>
                <a:latin typeface="Noto Sans KR"/>
                <a:ea typeface="Noto Sans KR"/>
                <a:cs typeface="Noto Sans KR"/>
              </a:defRPr>
            </a:pPr>
            <a:r>
              <a:rPr sz="863" b="1">
                <a:solidFill>
                  <a:srgbClr val="27664F"/>
                </a:solidFill>
                <a:latin typeface="Noto Sans KR"/>
                <a:ea typeface="Noto Sans KR"/>
                <a:cs typeface="Noto Sans KR"/>
              </a:rPr>
              <a:t>CUSTOMER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FB1FC4-0B91-4BF0-BD05-EFA7B7EA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1025"/>
            <a:ext cx="11201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고객 리뷰 분석 Agent의 모델 입력과 출력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5A4CD5-8E0E-4CB6-803F-96CBFF25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19175"/>
            <a:ext cx="11201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99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각 단계에서 모델이 받는 정보와 생성 결과를 분리하고, 조회·검증·집계는 테스트 가능한 코드로 통제했습니다.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A0F6B6-AD0B-434D-AE0D-E8FE22AF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38275"/>
            <a:ext cx="3276600" cy="4619625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BFCFB"/>
          </a:solidFill>
          <a:ln xmlns:a="http://schemas.openxmlformats.org/drawingml/2006/main" w="9525">
            <a:solidFill>
              <a:srgbClr val="D8E3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628B5B-FC27-4854-9DC1-04A6A73D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314325" cy="3143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31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BD0818-EB83-498B-815A-6C4B4837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619250"/>
            <a:ext cx="2476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9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129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Tool 호출과 리뷰 조회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3B9697-67B1-4DDE-8B5B-97D61E41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438275"/>
            <a:ext cx="3276600" cy="4619625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BFCFB"/>
          </a:solidFill>
          <a:ln xmlns:a="http://schemas.openxmlformats.org/drawingml/2006/main" w="9525">
            <a:solidFill>
              <a:srgbClr val="D8E3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56F402-3770-4F93-94EE-0125DC7F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09725"/>
            <a:ext cx="314325" cy="3143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31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92352E-FBFA-46DD-9782-07497F58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619250"/>
            <a:ext cx="2476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9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129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Tool 내부 분석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097CFB-4DA5-4BE2-A48B-D6F9FF80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438275"/>
            <a:ext cx="3276600" cy="4619625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BFCFB"/>
          </a:solidFill>
          <a:ln xmlns:a="http://schemas.openxmlformats.org/drawingml/2006/main" w="9525">
            <a:solidFill>
              <a:srgbClr val="D8E3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80F7B2-7814-4627-8F03-8D3DDA77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609725"/>
            <a:ext cx="314325" cy="3143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31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E4A2CC-3786-4009-A93D-CE3469B6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619250"/>
            <a:ext cx="2476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9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1290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최종 답변 생성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487EE6-05A3-46CE-BD8C-F548E10E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11430">
            <a:solidFill>
              <a:srgbClr val="8B989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8B19D3-CDE4-4645-8892-224A9C50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76475"/>
            <a:ext cx="371475" cy="371475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7243f11f05469d">
            <a:extLst>
              <a:ext uri="{96DAC541-7B7A-43D3-8B79-37D633B846F1}">
                <asvg:svgBlip xmlns:asvg="http://schemas.microsoft.com/office/drawing/2016/SVG/main" r:embed="R553aafc4a7e14c8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" y="234315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568125-4973-4415-98A2-3D6D449B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200275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INPUT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CB3B6A-50B0-4E7C-BD45-037691B0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371725"/>
            <a:ext cx="2114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77122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“이 상품의 반복 불만과</a:t>
            </a:r>
          </a:p>
          <a:p xmlns:a="http://schemas.openxmlformats.org/drawingml/2006/main">
            <a:pPr algn="l">
              <a:def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개선점을 알려줘”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735F71-C821-4C74-B625-73C73BD8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619375"/>
            <a:ext cx="2114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사용자 질문과 대화 맥락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D947F0-1FCD-42EF-9D50-25101D26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86075"/>
            <a:ext cx="7620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B999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D9D755-F452-4ACD-AD23-4458743C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57525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1ECFB"/>
          </a:solidFill>
          <a:ln xmlns:a="http://schemas.openxmlformats.org/drawingml/2006/main" w="23813">
            <a:solidFill>
              <a:srgbClr val="6B4BB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CB24B5-0F6D-4293-90B8-1C6640A3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38500"/>
            <a:ext cx="371475" cy="371475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136156857d40c9">
            <a:extLst>
              <a:ext uri="{96DAC541-7B7A-43D3-8B79-37D633B846F1}">
                <asvg:svgBlip xmlns:asvg="http://schemas.microsoft.com/office/drawing/2016/SVG/main" r:embed="R5a6efc2ee8414de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" y="330517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B07A58-2DCB-4E47-992D-179ED44B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162300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MODEL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7B9F8F-3CDA-45FE-A52F-0B1D62A8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333750"/>
            <a:ext cx="2114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Agent LLM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DD40A6-C3D7-4D40-9DAF-1C8DB922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581400"/>
            <a:ext cx="2114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질문 의도와 조회 조건 해석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14A853-4CA9-4978-8922-2697CDC2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133725"/>
            <a:ext cx="638175" cy="180975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111111"/>
            </a:solidFill>
            <a:prstDash val="solid"/>
          </a:ln>
        </p:spPr>
        <p:txBody>
          <a:bodyPr xmlns:a="http://schemas.openxmlformats.org/drawingml/2006/main" wrap="non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61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OpenAI API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AA7EB4-CF60-45A8-9C27-65655C0C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133725"/>
            <a:ext cx="619125" cy="180975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5B3DA1"/>
            </a:solidFill>
            <a:prstDash val="solid"/>
          </a:ln>
        </p:spPr>
        <p:txBody>
          <a:bodyPr xmlns:a="http://schemas.openxmlformats.org/drawingml/2006/main" wrap="non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5B3DA1"/>
                </a:solidFill>
                <a:latin typeface="Noto Sans KR"/>
                <a:ea typeface="Noto Sans KR"/>
                <a:cs typeface="Noto Sans KR"/>
              </a:defRPr>
            </a:pPr>
            <a:r>
              <a:rPr sz="615" b="1">
                <a:solidFill>
                  <a:srgbClr val="5B3DA1"/>
                </a:solidFill>
                <a:latin typeface="Noto Sans KR"/>
                <a:ea typeface="Noto Sans KR"/>
                <a:cs typeface="Noto Sans KR"/>
              </a:rPr>
              <a:t>LangGraph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494215-2C49-466A-9C9E-89713B3A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48100"/>
            <a:ext cx="7620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B9992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108C4A-DD13-49FE-B535-85D64778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DF7F2"/>
          </a:solidFill>
          <a:ln xmlns:a="http://schemas.openxmlformats.org/drawingml/2006/main" w="11430">
            <a:solidFill>
              <a:srgbClr val="2F765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8D7613-6147-41B9-814D-B2BC3356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00525"/>
            <a:ext cx="371475" cy="371475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8a88c638c4438d">
            <a:extLst>
              <a:ext uri="{96DAC541-7B7A-43D3-8B79-37D633B846F1}">
                <asvg:svgBlip xmlns:asvg="http://schemas.microsoft.com/office/drawing/2016/SVG/main" r:embed="Rc809f6050b4d4d6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" y="426720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C86282-1252-49B2-A94B-9AA4CEEF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124325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TOOL CALL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CC659D-BEB4-450F-AD97-121A353C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295775"/>
            <a:ext cx="2114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get_review_patterns_tool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F3AD1F-95E9-4FEA-BA00-123EE613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543425"/>
            <a:ext cx="2114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parent_asin · limit=20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D667AD-CFA1-4D18-A593-A1715B32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10125"/>
            <a:ext cx="7620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B9992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B0A629-9795-4CF4-9DA4-B6570354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81575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DF6FC"/>
          </a:solidFill>
          <a:ln xmlns:a="http://schemas.openxmlformats.org/drawingml/2006/main" w="11430">
            <a:solidFill>
              <a:srgbClr val="2E6F9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719A87-FE8F-4E65-9343-F1EF0074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162550"/>
            <a:ext cx="371475" cy="371475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d12ae714f442c9">
            <a:extLst>
              <a:ext uri="{96DAC541-7B7A-43D3-8B79-37D633B846F1}">
                <asvg:svgBlip xmlns:asvg="http://schemas.microsoft.com/office/drawing/2016/SVG/main" r:embed="Rb5f13cb1099c457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" y="522922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6E6D736-87E4-4A12-B20A-3F26E5DF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5086350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TOOL INTERNAL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7DD0919-3AAA-45FF-BE3C-97FFD60E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5257800"/>
            <a:ext cx="2114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검증된 SQL로 리뷰 조회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8415A66-CF42-4459-BC3D-DEA92441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5505450"/>
            <a:ext cx="2114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3점 이하·공감표 1 이상 표본 선별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2F7FBC4-0558-4BC0-85A9-221B202E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5057775"/>
            <a:ext cx="685800" cy="180975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336791"/>
            </a:solidFill>
            <a:prstDash val="solid"/>
          </a:ln>
        </p:spPr>
        <p:txBody>
          <a:bodyPr xmlns:a="http://schemas.openxmlformats.org/drawingml/2006/main" wrap="non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336791"/>
                </a:solidFill>
                <a:latin typeface="Noto Sans KR"/>
                <a:ea typeface="Noto Sans KR"/>
                <a:cs typeface="Noto Sans KR"/>
              </a:defRPr>
            </a:pPr>
            <a:r>
              <a:rPr sz="615" b="1">
                <a:solidFill>
                  <a:srgbClr val="336791"/>
                </a:solidFill>
                <a:latin typeface="Noto Sans KR"/>
                <a:ea typeface="Noto Sans KR"/>
                <a:cs typeface="Noto Sans KR"/>
              </a:rPr>
              <a:t>PostgreSQL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5B0E4BE-FDB1-4CC3-9F67-F7829663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0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11430">
            <a:solidFill>
              <a:srgbClr val="8B989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DC03F96-8311-4BCB-979D-EBB39C055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276475"/>
            <a:ext cx="371475" cy="371475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0a1ecea4504b5c">
            <a:extLst>
              <a:ext uri="{96DAC541-7B7A-43D3-8B79-37D633B846F1}">
                <asvg:svgBlip xmlns:asvg="http://schemas.microsoft.com/office/drawing/2016/SVG/main" r:embed="Rcbb0a8e11e9e4dc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38700" y="234315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9D1B4A5-50A8-4BA1-93BE-26B81AB0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200275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TOOL INTERNAL INPUT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208148F-F741-41D6-845A-9E59E77F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371725"/>
            <a:ext cx="2114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조회된 리뷰 표본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9582A28-BA14-4A11-AD53-31779837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619375"/>
            <a:ext cx="2114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826"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리뷰 원문·평점·공감표</a:t>
            </a:r>
          </a:p>
          <a:p xmlns:a="http://schemas.openxmlformats.org/drawingml/2006/main">
            <a:pPr algn="l">
              <a:def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추출 규칙·JSON Schema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112E89E-5D79-43C5-B737-5CA14F48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86075"/>
            <a:ext cx="7620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B9992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EE6F1FA-CD8E-48C1-B3CD-96200892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57525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1ECFB"/>
          </a:solidFill>
          <a:ln xmlns:a="http://schemas.openxmlformats.org/drawingml/2006/main" w="23813">
            <a:solidFill>
              <a:srgbClr val="6B4BB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58012D7-91CD-4ACC-99ED-E7CA5EE1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238500"/>
            <a:ext cx="371475" cy="371475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146cc73a1f4a57">
            <a:extLst>
              <a:ext uri="{96DAC541-7B7A-43D3-8B79-37D633B846F1}">
                <asvg:svgBlip xmlns:asvg="http://schemas.microsoft.com/office/drawing/2016/SVG/main" r:embed="Rc03e85326e774a0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38700" y="330517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F11B51E-4624-4CF5-B758-8F4FE2FF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162300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MODEL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65AAFD9-9C5B-448A-A349-57986BC3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333750"/>
            <a:ext cx="2114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Aspect Extractor LLM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4161FCF-347E-45D4-8EC9-F20FFE65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581400"/>
            <a:ext cx="2114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불만 유형과 감성, 근거 문장 식별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15235CE-57E2-413E-AB73-34C4D9F5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33725"/>
            <a:ext cx="638175" cy="180975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111111"/>
            </a:solidFill>
            <a:prstDash val="solid"/>
          </a:ln>
        </p:spPr>
        <p:txBody>
          <a:bodyPr xmlns:a="http://schemas.openxmlformats.org/drawingml/2006/main" wrap="non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61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OpenAI API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11737A8-2536-42D9-AC39-3581FF3F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848100"/>
            <a:ext cx="7620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B9992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6AAFF9A-94CF-4CDE-B3E6-C6A6D5CA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19550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DF7F2"/>
          </a:solidFill>
          <a:ln xmlns:a="http://schemas.openxmlformats.org/drawingml/2006/main" w="11430">
            <a:solidFill>
              <a:srgbClr val="2F765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21EF86D-9A05-4153-8684-4AEA9F10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200525"/>
            <a:ext cx="371475" cy="371475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d0583445bc4ba9">
            <a:extLst>
              <a:ext uri="{96DAC541-7B7A-43D3-8B79-37D633B846F1}">
                <asvg:svgBlip xmlns:asvg="http://schemas.microsoft.com/office/drawing/2016/SVG/main" r:embed="R95b14b0a2d06466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38700" y="426720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779B57C-D490-4488-974C-B3CE4AA4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124325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MODEL OUTPUT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75C4798-B3EE-4890-A286-013AE75C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295775"/>
            <a:ext cx="2114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Aspect JSON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2524A26-7A0D-471E-AF79-9695B7A6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543425"/>
            <a:ext cx="2114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Aspect Term · Sentiment · Evidence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E82AA74-0344-4CF8-8318-CF99914A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810125"/>
            <a:ext cx="7620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B9992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47208B7-DBDA-4B4A-8EA3-63CAEA29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81575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DF7F2"/>
          </a:solidFill>
          <a:ln xmlns:a="http://schemas.openxmlformats.org/drawingml/2006/main" w="11430">
            <a:solidFill>
              <a:srgbClr val="2F765B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5E3A007-FC58-47BB-B0B1-5B9937C8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162550"/>
            <a:ext cx="371475" cy="371475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dd59695e6644c9">
            <a:extLst>
              <a:ext uri="{96DAC541-7B7A-43D3-8B79-37D633B846F1}">
                <asvg:svgBlip xmlns:asvg="http://schemas.microsoft.com/office/drawing/2016/SVG/main" r:embed="Re3565ee0163049b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38700" y="522922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E2D2334-2A84-4927-AC8C-BA373E01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86350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TOOL RESULT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9F34080-57AC-47E8-B866-8CBE788E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257800"/>
            <a:ext cx="2114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788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ReviewPatternResult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A9E1AC4-05EF-4C49-A497-107F5FFF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505450"/>
            <a:ext cx="2114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원문 검증 후 Aspect 빈도·표본 내 비율·근거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A110CD4-6DEE-4C73-978C-C3282F29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057775"/>
            <a:ext cx="609600" cy="180975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286DA8"/>
            </a:solidFill>
            <a:prstDash val="solid"/>
          </a:ln>
        </p:spPr>
        <p:txBody>
          <a:bodyPr xmlns:a="http://schemas.openxmlformats.org/drawingml/2006/main" wrap="non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286DA8"/>
                </a:solidFill>
                <a:latin typeface="Noto Sans KR"/>
                <a:ea typeface="Noto Sans KR"/>
                <a:cs typeface="Noto Sans KR"/>
              </a:defRPr>
            </a:pPr>
            <a:r>
              <a:rPr sz="615" b="1">
                <a:solidFill>
                  <a:srgbClr val="286DA8"/>
                </a:solidFill>
                <a:latin typeface="Noto Sans KR"/>
                <a:ea typeface="Noto Sans KR"/>
                <a:cs typeface="Noto Sans KR"/>
              </a:rPr>
              <a:t>Python 집계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6B3608A-A2AB-4EF0-818A-8EFAA5B7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95500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11430">
            <a:solidFill>
              <a:srgbClr val="8B9892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1AE16C6-AC6A-4A74-A3E9-EAA098C2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276475"/>
            <a:ext cx="371475" cy="371475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f407b300ae4178">
            <a:extLst>
              <a:ext uri="{96DAC541-7B7A-43D3-8B79-37D633B846F1}">
                <asvg:svgBlip xmlns:asvg="http://schemas.microsoft.com/office/drawing/2016/SVG/main" r:embed="R2537670ea597479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01100" y="234315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8B76B7F-2E63-49BC-86B8-64DD7534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200275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INPUT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FE00CC5-7DD1-405E-899B-08A7A76A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371725"/>
            <a:ext cx="2114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질문 + ReviewPatternResult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05106D0-E1DD-45F0-9090-1A5DC2F6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619375"/>
            <a:ext cx="2114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826"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선정 기준·Aspect 빈도·표본 내 비율</a:t>
            </a:r>
          </a:p>
          <a:p xmlns:a="http://schemas.openxmlformats.org/drawingml/2006/main">
            <a:pPr algn="l">
              <a:def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대표 리뷰 원문 근거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728245D-3D30-4EA5-A2B8-5D0FC40C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86075"/>
            <a:ext cx="7620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B9992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DEEA7A3-16C3-4B7C-8222-4AB177E6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57525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1ECFB"/>
          </a:solidFill>
          <a:ln xmlns:a="http://schemas.openxmlformats.org/drawingml/2006/main" w="23813">
            <a:solidFill>
              <a:srgbClr val="6B4BB2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4C126F6-D833-405E-A7E2-E8DC9D9A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238500"/>
            <a:ext cx="371475" cy="371475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9698f18c884af7">
            <a:extLst>
              <a:ext uri="{96DAC541-7B7A-43D3-8B79-37D633B846F1}">
                <asvg:svgBlip xmlns:asvg="http://schemas.microsoft.com/office/drawing/2016/SVG/main" r:embed="Rc7854bfd8c64450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01100" y="3305175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C06DB59-668F-420E-9C0C-12E084A2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162300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MODEL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F2B33D4-F4D3-4171-A1A6-311F4417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333750"/>
            <a:ext cx="2114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Final Agent LLM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B4C369E-D2F3-4565-833C-882DFA63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581400"/>
            <a:ext cx="2114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검증 결과를 업무 관점으로 해석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11C7588-A1B3-414B-A62E-1E58B991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133725"/>
            <a:ext cx="638175" cy="180975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111111"/>
            </a:solidFill>
            <a:prstDash val="solid"/>
          </a:ln>
        </p:spPr>
        <p:txBody>
          <a:bodyPr xmlns:a="http://schemas.openxmlformats.org/drawingml/2006/main" wrap="non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defRPr>
            </a:pPr>
            <a:r>
              <a:rPr sz="615" b="1">
                <a:solidFill>
                  <a:srgbClr val="111111"/>
                </a:solidFill>
                <a:latin typeface="Noto Sans KR"/>
                <a:ea typeface="Noto Sans KR"/>
                <a:cs typeface="Noto Sans KR"/>
              </a:rPr>
              <a:t>OpenAI API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C8AD596-3CC4-4B95-BC3A-7CB01494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848100"/>
            <a:ext cx="7620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8B9992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A21F6D6-0565-4DD3-9425-EF46220F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19550"/>
            <a:ext cx="2857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DF7F2"/>
          </a:solidFill>
          <a:ln xmlns:a="http://schemas.openxmlformats.org/drawingml/2006/main" w="11430">
            <a:solidFill>
              <a:srgbClr val="2F765B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9B6C142-50F8-42C4-83A2-30709872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200525"/>
            <a:ext cx="371475" cy="371475"/>
          </a:xfrm>
          <a:prstGeom xmlns:a="http://schemas.openxmlformats.org/drawingml/2006/main" prst="roundRect">
            <a:avLst>
              <a:gd name="adj" fmla="val 256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96ab3f719a424a">
            <a:extLst>
              <a:ext uri="{96DAC541-7B7A-43D3-8B79-37D633B846F1}">
                <asvg:svgBlip xmlns:asvg="http://schemas.microsoft.com/office/drawing/2016/SVG/main" r:embed="Rdc212c8e8be44c4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01100" y="426720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CC30905-11F7-4A7E-A121-5092633C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124325"/>
            <a:ext cx="2114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660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FINAL OUTPUT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6A04E96-E47B-4725-973C-2E10C898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295775"/>
            <a:ext cx="2114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defRPr>
            </a:pPr>
            <a:r>
              <a:rPr sz="1013" b="1">
                <a:solidFill>
                  <a:srgbClr val="17231F"/>
                </a:solidFill>
                <a:latin typeface="Noto Sans KR"/>
                <a:ea typeface="Noto Sans KR"/>
                <a:cs typeface="Noto Sans KR"/>
              </a:rPr>
              <a:t>업무 활용 답변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11CA259-105B-4566-8D77-CABF6268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543425"/>
            <a:ext cx="2114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826"/>
          </a:bodyPr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반복 불만·수치·대표 근거</a:t>
            </a:r>
          </a:p>
          <a:p xmlns:a="http://schemas.openxmlformats.org/drawingml/2006/main">
            <a:pPr algn="l">
              <a:def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20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제품 개선 우선순위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8D2E936-5BEA-47F6-878E-4D4DB2CA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38137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05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조회된</a:t>
            </a:r>
          </a:p>
          <a:p xmlns:a="http://schemas.openxmlformats.org/drawingml/2006/main">
            <a:pPr algn="ctr">
              <a:defRPr sz="705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05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리뷰 표본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F95076D-FFAF-41A7-8335-0FBC42B8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72427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7664F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F48674E-A3FA-4FF2-87FE-A8C41170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381375"/>
            <a:ext cx="742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05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구조화된</a:t>
            </a:r>
          </a:p>
          <a:p xmlns:a="http://schemas.openxmlformats.org/drawingml/2006/main">
            <a:pPr algn="ctr">
              <a:defRPr sz="705" b="1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05" b="1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Tool 결과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ABD481F-E5E6-422E-8B7A-ADFDBFFC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72427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27664F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F156ACD-BE04-4F16-BF43-CB6E9292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05550"/>
            <a:ext cx="104775" cy="104775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7F9F8"/>
          </a:solidFill>
          <a:ln xmlns:a="http://schemas.openxmlformats.org/drawingml/2006/main" w="4763">
            <a:solidFill>
              <a:srgbClr val="D8E3DE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3EC9661-C429-4383-8B53-AC22E7F4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25792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입력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A0CB4E9-403A-418C-96F7-4B0C2B04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305550"/>
            <a:ext cx="104775" cy="104775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1ECFB"/>
          </a:solidFill>
          <a:ln xmlns:a="http://schemas.openxmlformats.org/drawingml/2006/main" w="4763">
            <a:solidFill>
              <a:srgbClr val="D8E3DE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2AE6AD0-D044-44F4-9FB7-4B720385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625792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LLM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E5E3872-73ED-478B-91B9-6127C172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6305550"/>
            <a:ext cx="104775" cy="104775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DF7F2"/>
          </a:solidFill>
          <a:ln xmlns:a="http://schemas.openxmlformats.org/drawingml/2006/main" w="4763">
            <a:solidFill>
              <a:srgbClr val="D8E3DE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3CACC4E-C222-4FDF-97A6-7D032E05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625792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모델 출력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2735829-428B-4104-B891-53953FBE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6305550"/>
            <a:ext cx="104775" cy="104775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DF6FC"/>
          </a:solidFill>
          <a:ln xmlns:a="http://schemas.openxmlformats.org/drawingml/2006/main" w="4763">
            <a:solidFill>
              <a:srgbClr val="D8E3DE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EF817DE-D50F-4E67-A23B-2166FD2A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6257925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defRPr>
            </a:pPr>
            <a:r>
              <a:rPr sz="765" b="0">
                <a:solidFill>
                  <a:srgbClr val="64716B"/>
                </a:solidFill>
                <a:latin typeface="Noto Sans KR"/>
                <a:ea typeface="Noto Sans KR"/>
                <a:cs typeface="Noto Sans KR"/>
              </a:rPr>
              <a:t>검증된 코드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0158447-6F28-49CB-A679-E61D59E7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6257925"/>
            <a:ext cx="531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0" b="1">
                <a:solidFill>
                  <a:srgbClr val="48564F"/>
                </a:solidFill>
                <a:latin typeface="Noto Sans KR"/>
                <a:ea typeface="Noto Sans KR"/>
                <a:cs typeface="Noto Sans KR"/>
              </a:defRPr>
            </a:pPr>
            <a:r>
              <a:rPr sz="780" b="1">
                <a:solidFill>
                  <a:srgbClr val="48564F"/>
                </a:solidFill>
                <a:latin typeface="Noto Sans KR"/>
                <a:ea typeface="Noto Sans KR"/>
                <a:cs typeface="Noto Sans KR"/>
              </a:rPr>
              <a:t>LLM이 SQL을 직접 생성하지 않으며, 원문에 없는 Evidence는 집계 전에 제거합니다.</a:t>
            </a:r>
          </a:p>
        </p:txBody>
      </p:sp>
    </p:spTree>
    <p:extLst>
      <p:ext uri="{BB962C8B-B14F-4D97-AF65-F5344CB8AC3E}">
        <p14:creationId xmlns:p14="http://schemas.microsoft.com/office/powerpoint/2010/main" val="6356844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2026-09-05T13:26:03.3120000Z</dcterms:created>
  <dcterms:modified xsi:type="dcterms:W3CDTF">2026-09-05T13:26:03.3130000Z</dcterms:modified>
</coreProperties>
</file>