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da5c3bcae04d00" /><Relationship Type="http://schemas.openxmlformats.org/officeDocument/2006/relationships/extended-properties" Target="/docProps/app.xml" Id="R099e9ba0eed043cb" /><Relationship Type="http://schemas.openxmlformats.org/officeDocument/2006/relationships/officeDocument" Target="/ppt/presentation.xml" Id="R5f3451f2b8c741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79449281a6483d"/>
  </p:sldMasterIdLst>
  <p:notesMasterIdLst>
    <p:notesMasterId xmlns:r="http://schemas.openxmlformats.org/officeDocument/2006/relationships" r:id="R2c530395349e434f"/>
  </p:notesMasterIdLst>
  <p:sldIdLst>
    <p:sldId xmlns:r="http://schemas.openxmlformats.org/officeDocument/2006/relationships" id="256" r:id="R803445ac0637435f"/>
  </p:sldIdLst>
  <p:sldSz cx="756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f4ecc59ee142d3" /><Relationship Type="http://schemas.openxmlformats.org/officeDocument/2006/relationships/slideMaster" Target="/ppt/slideMasters/slideMaster1.xml" Id="R7579449281a6483d" /><Relationship Type="http://schemas.openxmlformats.org/officeDocument/2006/relationships/notesMaster" Target="/ppt/notesMasters/notesMaster1.xml" Id="R2c530395349e434f" /><Relationship Type="http://schemas.openxmlformats.org/officeDocument/2006/relationships/presProps" Target="/ppt/presProps.xml" Id="R741fcc396963491f" /><Relationship Type="http://schemas.openxmlformats.org/officeDocument/2006/relationships/tableStyles" Target="/ppt/tableStyles.xml" Id="R9b8755121f504afd" /><Relationship Type="http://schemas.openxmlformats.org/officeDocument/2006/relationships/slide" Target="/ppt/slides/slide1.xml" Id="R803445ac063743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128d43f8fc49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821be7d1b34df3" /><Relationship Type="http://schemas.openxmlformats.org/officeDocument/2006/relationships/notesMaster" Target="/ppt/notesMasters/notesMaster1.xml" Id="Rf29b3258e0f6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고객 리뷰 분석 Agent의 핵심 흐름. 모든 요소는 PowerPoint에서 편집 가능한 도형과 텍스트로 구성했다.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0bf932c2846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bc4344311e4f55" /><Relationship Type="http://schemas.openxmlformats.org/officeDocument/2006/relationships/slideLayout" Target="/ppt/slideLayouts/slideLayout1.xml" Id="R628e315702cf41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8e315702cf41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d5170773d44de" /><Relationship Type="http://schemas.openxmlformats.org/officeDocument/2006/relationships/notesSlide" Target="/ppt/notesSlides/notesSlide1.xml" Id="R131a16e53fdf45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E070667-2AF8-429A-9DDD-412CD424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735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4735B"/>
                </a:solidFill>
                <a:latin typeface="Noto Sans KR"/>
                <a:ea typeface="Noto Sans KR"/>
                <a:cs typeface="Noto Sans KR"/>
              </a:rPr>
              <a:t>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FF115-AD75-42D6-88F3-B50F2E2D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561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검증된 SQL과 Aspect 기반 고객 리뷰 분석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0672E-53AD-4CF1-ACAF-CEC45D7F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LLM은 질문을 해석하고, 검증된 코드가 조회·검증·집계를 수행합니다.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01011-B28A-4A8E-88B5-F9BBEAEF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DE00A-855A-4CF8-A846-4A849CC8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6762750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ED358-FE6D-4FA4-81FB-FFF33883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819275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E4916-C5CF-4DB7-92E1-6DCA959E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676400"/>
            <a:ext cx="38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727CB-BF8D-4FD8-A6D8-A56C09AF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192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37146-F925-4F16-9467-A3E37B11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0225"/>
            <a:ext cx="122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LLM의 SQL 생성 위험을 제거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4B09E-756C-409B-9D2E-C84E2D15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14575"/>
            <a:ext cx="152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Agent는 SQL을 직접 만들지 않고 사전에 구현하고 테스트한 Tool만 선택합니다.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55989-3D24-4997-94B5-9636B4A1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84785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6F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9753B-357C-4AF5-A718-10D5ED4E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9240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6611A-BFC7-46CC-8C95-CBBE785C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3357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사용자 질문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FA805-C19F-414D-AE42-0F56F432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21932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자연어 분석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D80EA-4E81-4FCA-9040-ABB605A2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184785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6F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24145-491A-4C32-B5E4-CD93B44C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19240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rPr>
              <a:t>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CABB9-6C5F-4488-B1D7-68282E21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3" y="193357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876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Agent Tool 선택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79F26-9AB1-4C7E-9059-3882C356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221932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의도와 조건 해석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788E7-DEEC-42A6-BB06-EF09CE2D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4785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22860">
            <a:solidFill>
              <a:srgbClr val="2F6F9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F392E-B097-4925-A7F4-9FC556DF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240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rPr>
              <a:t>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6193C-C861-4B7A-9FAC-D935C2B6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3357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876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검증된 SQL Tool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823D6-E05D-4BB2-AB8E-9E2C15F8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1932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고정 Query와 입력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E9DA9F-7010-4E90-B954-DCAD8C1D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184785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6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21B5F-89D4-407F-80DA-F0A2111B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19240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rPr>
              <a:t>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65F89-680B-4A1C-A30C-6D14F3C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838" y="193357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PostgreSQL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30746-1AF3-4C28-989F-C10C1B3E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88" y="221932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리뷰 표본과 정량 통계</a:t>
            </a:r>
          </a:p>
        </p:txBody>
      </p:sp>
      <p:cxnSp>
        <p:nvCxnSpPr>
          <p:cNvPr id="142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405188" y="220027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6F9F"/>
            </a:solidFill>
            <a:prstDash val="solid"/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600576" y="2200275"/>
            <a:ext cx="180974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6F9F"/>
            </a:solidFill>
            <a:prstDash val="solid"/>
            <a:tail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795963" y="220027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6F9F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44C7A3-AD44-48A7-ABE0-68F46C84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19375"/>
            <a:ext cx="31908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2F6F9F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defRPr>
            </a:pPr>
            <a:r>
              <a:rPr sz="645" b="1">
                <a:solidFill>
                  <a:srgbClr val="2F6F9F"/>
                </a:solidFill>
                <a:latin typeface="Noto Sans KR"/>
                <a:ea typeface="Noto Sans KR"/>
                <a:cs typeface="Noto Sans KR"/>
              </a:rPr>
              <a:t>LLM 직접 SQL 생성 없음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A4780D-C842-4E4F-A0F1-0E5E32EE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6762750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CCF431-30C7-4D2F-9CAB-2B1E76F6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1819275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2EDF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F15FE-4ADB-45BA-9A4F-5B7A499D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81325"/>
            <a:ext cx="38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8A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AD6E3-8EC5-43E5-9897-4C558D70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8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C05C21-5872-4777-A3CC-551FCBE5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05150"/>
            <a:ext cx="122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리뷰를 Aspect 단위로 구조화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90432C-23AA-4767-A88F-E0BCA99E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52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선별 리뷰에서 불만 유형과 판단 근거를 리뷰별 JSON으로 추출합니다.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19C63C-754F-4AD4-9D99-D1101CBC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52775"/>
            <a:ext cx="136207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48A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0E9403-B0C9-4E11-A9DD-9E6EF76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289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DFB"/>
          </a:solidFill>
          <a:ln xmlns:a="http://schemas.openxmlformats.org/drawingml/2006/main" w="9525">
            <a:solidFill>
              <a:srgbClr val="6848A8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rPr>
              <a:t>TXT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0DDF96-76E7-449C-B456-4DBE4BE1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선별 리뷰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086EF1-2761-48F1-A42B-16BDEBF8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52425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저평점과 고공감 표본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5BD0EF-320D-4E54-A5E0-1C96E275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52775"/>
            <a:ext cx="136207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2EDFB"/>
          </a:solidFill>
          <a:ln xmlns:a="http://schemas.openxmlformats.org/drawingml/2006/main" w="22860">
            <a:solidFill>
              <a:srgbClr val="6848A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582A2-E463-46CB-972F-F20ACCA0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2289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DFB"/>
          </a:solidFill>
          <a:ln xmlns:a="http://schemas.openxmlformats.org/drawingml/2006/main" w="9525">
            <a:solidFill>
              <a:srgbClr val="6848A8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rPr>
              <a:t>AI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692EE8-10DB-4BE5-8F22-B473D668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162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Aspect Extractor LLM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A0F6DA-A6EF-4517-B621-86872CFA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52425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불만 유형과 감성 분석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37B91A-E9D1-4345-BC83-CCC7AD2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52775"/>
            <a:ext cx="136207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48A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1F5D87-9009-4582-92AA-04729F0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289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DFB"/>
          </a:solidFill>
          <a:ln xmlns:a="http://schemas.openxmlformats.org/drawingml/2006/main" w="9525">
            <a:solidFill>
              <a:srgbClr val="6848A8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rPr>
              <a:t>{ }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1F4F85-BDAC-459F-ABB5-84CDAE12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Aspect JSON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42BBF0-1444-47E2-82B6-C811CB05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52425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Topic, Sentiment, Evidence</a:t>
            </a:r>
          </a:p>
        </p:txBody>
      </p:sp>
      <p:cxnSp>
        <p:nvCxnSpPr>
          <p:cNvPr id="164" name=""/>
          <p:cNvCxnSpPr>
            <a:stCxn xmlns:a="http://schemas.openxmlformats.org/drawingml/2006/main" id="37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752850" y="358616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848A8"/>
            </a:solidFill>
            <a:prstDash val="solid"/>
            <a:tailEnd type="triangle" w="sm" len="sm"/>
          </a:ln>
        </p:spPr>
      </p:cxnSp>
      <p:cxnSp>
        <p:nvCxnSpPr>
          <p:cNvPr id="165" name=""/>
          <p:cNvCxnSpPr>
            <a:stCxn xmlns:a="http://schemas.openxmlformats.org/drawingml/2006/main" id="41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72100" y="358616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848A8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21C674-1779-499A-B003-86D2F869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6762750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670340-51C4-4F1C-A25E-81F10837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819275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2458C5-B3AD-4E68-B914-0B62A9BC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86250"/>
            <a:ext cx="38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5B583C-89D4-4A1B-BE89-7653F5E9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A1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F11226-898E-4BE5-9933-B1DCB1D3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10075"/>
            <a:ext cx="122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원문 검증 후 반복 불만을 정량화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67EFEF-4B91-45A7-A720-5EAA63F8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152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LLM 결과를 그대로 사용하지 않고 Python 코드로 검증하고 집계합니다.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7DABDAA-45C3-4023-8C31-DD8D6745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45770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6A1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3B8B1C-0079-4EAC-9374-19877ECD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5339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C96A1B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rPr>
              <a:t>{ }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9B1920-C2A1-4F3B-A03B-C31CB379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4342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301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Aspect JSON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E0DFC6-89B6-43A0-997E-650ABABA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82917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리뷰별 추출 결과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B9D05C-3E4D-49CC-AAFB-B57635A2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445770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22860">
            <a:solidFill>
              <a:srgbClr val="C96A1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D60904-B1B9-4577-89A1-F7F63587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5339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C96A1B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91079A-AED8-466F-B744-2D073825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3" y="454342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106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원문 근거 검증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A01909-8E92-4571-9B05-0216C8B6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482917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없는 Evidence 제거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B5B01D-5BE8-4AF2-9D45-449F3F76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5770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6A1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5EB0AA3-3B17-4837-9B8E-C5C66205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339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C96A1B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rPr>
              <a:t>Py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8E9D0A-E29C-46B4-A43B-AFDC05D1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4342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Python 집계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170AA0E-F7BE-4E7C-99A3-A7ECA7ED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2917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중복 제거와 빈도 계산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E08BC1-1C39-4C07-B127-E388077E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4457700"/>
            <a:ext cx="1014413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6A1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EE7D3A-DD61-447E-BD90-1369F569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45339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C96A1B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rPr>
              <a:t>#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22D4D2B-B335-45A8-AF03-2B5A46A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838" y="4543425"/>
            <a:ext cx="60483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구조화 결과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FA36F8-AB8A-4663-B9B1-CFE811CB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88" y="4829175"/>
            <a:ext cx="82391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Aspect, 빈도, 비율, 근거</a:t>
            </a:r>
          </a:p>
        </p:txBody>
      </p:sp>
      <p:cxnSp>
        <p:nvCxnSpPr>
          <p:cNvPr id="188" name=""/>
          <p:cNvCxnSpPr>
            <a:stCxn xmlns:a="http://schemas.openxmlformats.org/drawingml/2006/main" id="57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3405188" y="48101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96A1B"/>
            </a:solidFill>
            <a:prstDash val="solid"/>
            <a:tailEnd type="triangle" w="sm" len="sm"/>
          </a:ln>
        </p:spPr>
      </p:cxnSp>
      <p:cxnSp>
        <p:nvCxnSpPr>
          <p:cNvPr id="189" name=""/>
          <p:cNvCxnSpPr>
            <a:stCxn xmlns:a="http://schemas.openxmlformats.org/drawingml/2006/main" id="61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4600576" y="4810125"/>
            <a:ext cx="180974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96A1B"/>
            </a:solidFill>
            <a:prstDash val="solid"/>
            <a:tailEnd type="triangle" w="sm" len="sm"/>
          </a:ln>
        </p:spPr>
      </p:cxnSp>
      <p:cxnSp>
        <p:nvCxnSpPr>
          <p:cNvPr id="190" name=""/>
          <p:cNvCxnSpPr>
            <a:stCxn xmlns:a="http://schemas.openxmlformats.org/drawingml/2006/main" id="65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5795963" y="48101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96A1B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50229F-2FCF-4F8C-B1E7-BF7E7A3A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29225"/>
            <a:ext cx="31908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C96A1B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defRPr>
            </a:pPr>
            <a:r>
              <a:rPr sz="645" b="1">
                <a:solidFill>
                  <a:srgbClr val="C96A1B"/>
                </a:solidFill>
                <a:latin typeface="Noto Sans KR"/>
                <a:ea typeface="Noto Sans KR"/>
                <a:cs typeface="Noto Sans KR"/>
              </a:rPr>
              <a:t>원문에 존재하는 근거만 유지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117CA1A-DBFA-41BA-933C-00ACC63F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6762750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A96A0A7-5CA6-434C-B68D-54B20A75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1819275" cy="12192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3B9EC17-8E1D-4532-ACA5-A33BA8EF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591175"/>
            <a:ext cx="38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35B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6B9041A-4313-487A-A590-0FF0AF61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73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86E80B1-50BC-4C56-AB03-BD709433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715000"/>
            <a:ext cx="122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106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구조화 결과를 Agent 판단 근거로 활용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2403222-888D-4AB3-BFB0-F36A4076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52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정량 통계와 검증된 Evidence를 최종 LLM 입력으로 제공합니다.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CFF56B2-364B-4376-8576-40F8692E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762625"/>
            <a:ext cx="136207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4735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B80EFCC-4A20-417E-908B-C880389C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8388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2"/>
          </a:solidFill>
          <a:ln xmlns:a="http://schemas.openxmlformats.org/drawingml/2006/main" w="9525">
            <a:solidFill>
              <a:srgbClr val="34735B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4735B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1">
                <a:solidFill>
                  <a:srgbClr val="34735B"/>
                </a:solidFill>
                <a:latin typeface="Noto Sans KR"/>
                <a:ea typeface="Noto Sans KR"/>
                <a:cs typeface="Noto Sans KR"/>
              </a:rPr>
              <a:t>CTX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0246CC5-F861-42F7-B59D-5FAD8318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848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Grounded Context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AE6C263-AAF7-403D-8710-30857DBE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613410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SQL 통계와 Aspect Pattern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B7EE490-803F-42A4-B683-F95A191F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762625"/>
            <a:ext cx="136207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22860">
            <a:solidFill>
              <a:srgbClr val="34735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76587AF-9120-43E9-8E98-15E0EF2E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8388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2"/>
          </a:solidFill>
          <a:ln xmlns:a="http://schemas.openxmlformats.org/drawingml/2006/main" w="9525">
            <a:solidFill>
              <a:srgbClr val="34735B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4735B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34735B"/>
                </a:solidFill>
                <a:latin typeface="Noto Sans KR"/>
                <a:ea typeface="Noto Sans KR"/>
                <a:cs typeface="Noto Sans KR"/>
              </a:rPr>
              <a:t>AI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1F027F8-D8AA-4E1D-850E-21D66780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848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Final Agent LLM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171DE88-5572-4906-8213-CEE234E2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613410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검증 결과 기반 해석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7E44D26-7A88-4ECA-8E2C-F8CA3E5D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762625"/>
            <a:ext cx="136207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4735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0AA68AB-8B04-42AB-965B-B2BC5355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8388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2"/>
          </a:solidFill>
          <a:ln xmlns:a="http://schemas.openxmlformats.org/drawingml/2006/main" w="9525">
            <a:solidFill>
              <a:srgbClr val="34735B"/>
            </a:solidFill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4735B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1">
                <a:solidFill>
                  <a:srgbClr val="34735B"/>
                </a:solidFill>
                <a:latin typeface="Noto Sans KR"/>
                <a:ea typeface="Noto Sans KR"/>
                <a:cs typeface="Noto Sans KR"/>
              </a:rPr>
              <a:t>ANS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7E0745B-E6F4-4DDA-9DD9-2F553C34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848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업무 활용 답변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BBFC915-9375-4612-8D06-A4809A76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613410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0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반복 불만과 개선 우선순위</a:t>
            </a:r>
          </a:p>
        </p:txBody>
      </p:sp>
      <p:cxnSp>
        <p:nvCxnSpPr>
          <p:cNvPr id="210" name=""/>
          <p:cNvCxnSpPr>
            <a:stCxn xmlns:a="http://schemas.openxmlformats.org/drawingml/2006/main" id="83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3752850" y="619601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4735B"/>
            </a:solidFill>
            <a:prstDash val="solid"/>
            <a:tailEnd type="triangle" w="sm" len="sm"/>
          </a:ln>
        </p:spPr>
      </p:cxnSp>
      <p:cxnSp>
        <p:nvCxnSpPr>
          <p:cNvPr id="211" name=""/>
          <p:cNvCxnSpPr>
            <a:stCxn xmlns:a="http://schemas.openxmlformats.org/drawingml/2006/main" id="87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5372100" y="6196013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4735B"/>
            </a:solidFill>
            <a:prstDash val="solid"/>
            <a:tailEnd type="triangle" w="sm" len="sm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ED49EA5-899A-4FF6-9D08-168F720E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6755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F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7387FD1-4CEF-4B00-A57A-7622101C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구현 방식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E5FF40E-D802-4126-BF8E-3461F726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48575"/>
            <a:ext cx="257175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8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4A23401-3B50-48A6-966C-FBD144B9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2F6F9F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2F6F9F"/>
                </a:solidFill>
                <a:latin typeface="Noto Sans KR"/>
                <a:ea typeface="Noto Sans KR"/>
                <a:cs typeface="Noto Sans KR"/>
              </a:rPr>
              <a:t>결정론적 SQL 조회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B4F3E9-CE7B-4D26-A260-007D9AE8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77175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Agent가 검증된 SQL Tool을 선택해 리뷰 표본과 통계를 조회합니다. LLM의 임의 SQL 생성을 차단해 집계 오류를 줄였습니다.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DFC6514-18F3-4778-A491-FDB3EAC1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648575"/>
            <a:ext cx="257175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8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F83330D-E84C-422C-BE64-3B9D8F74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390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848A8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6848A8"/>
                </a:solidFill>
                <a:latin typeface="Noto Sans KR"/>
                <a:ea typeface="Noto Sans KR"/>
                <a:cs typeface="Noto Sans KR"/>
              </a:rPr>
              <a:t>Aspect Term 추출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35A6609-BB25-486F-87AB-66A7CF1A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877175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Extractor LLM이 리뷰별 불만 유형과 감성, 직접 경험 여부, 근거 문장을 구조화된 JSON으로 반환합니다.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D0C2FC7-85EF-4B90-A206-57C881D9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34400"/>
            <a:ext cx="257175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8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B483870-61AD-461D-AFE3-129D6464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248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C96A1B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C96A1B"/>
                </a:solidFill>
                <a:latin typeface="Noto Sans KR"/>
                <a:ea typeface="Noto Sans KR"/>
                <a:cs typeface="Noto Sans KR"/>
              </a:rPr>
              <a:t>원문 검증과 Python 집계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CB35C56-3ED4-451D-A01F-EE1945AF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Evidence가 리뷰 원문에 실제 존재하는지 확인한 뒤 Aspect별 빈도와 표본 내 비율, 대표 근거를 계산합니다.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DC65BB8-5589-43D1-B41F-15FE7A1A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8534400"/>
            <a:ext cx="257175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8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B08F1F2-AB6F-4509-89A1-2105EB4E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248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34735B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34735B"/>
                </a:solidFill>
                <a:latin typeface="Noto Sans KR"/>
                <a:ea typeface="Noto Sans KR"/>
                <a:cs typeface="Noto Sans KR"/>
              </a:rPr>
              <a:t>Grounded Agent 답변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E6A813F-3918-4A3D-A59A-0BBC83A8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763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0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최종 Agent는 검증된 통계와 리뷰 근거만 입력받아 반복 불만과 제품 개선 우선순위를 설명합니다.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088BC89-F52F-4C28-B386-DFA86614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525000"/>
            <a:ext cx="6762750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2EDFB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F782A20-F5F4-40EB-B13A-E297A60E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525000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8A8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B6B6F10-D17A-4073-8AD0-01D86D1A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9648825"/>
            <a:ext cx="828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848A8"/>
                </a:solidFill>
                <a:latin typeface="Noto Sans KR"/>
                <a:ea typeface="Noto Sans KR"/>
                <a:cs typeface="Noto Sans KR"/>
              </a:rPr>
              <a:t>핵심 설계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E2DE0E7-09DC-41DC-8345-2DBBD8F9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610725"/>
            <a:ext cx="556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48" b="1">
                <a:solidFill>
                  <a:srgbClr val="18231F"/>
                </a:solidFill>
                <a:latin typeface="Noto Sans KR"/>
                <a:ea typeface="Noto Sans KR"/>
                <a:cs typeface="Noto Sans KR"/>
              </a:defRPr>
            </a:pPr>
            <a:r>
              <a:rPr sz="848" b="1">
                <a:solidFill>
                  <a:srgbClr val="18231F"/>
                </a:solidFill>
                <a:latin typeface="Noto Sans KR"/>
                <a:ea typeface="Noto Sans KR"/>
                <a:cs typeface="Noto Sans KR"/>
              </a:rPr>
              <a:t>LLM에는 질문 해석과 의미 분류를 맡기고, 수치 조회·근거 검증·집계는 테스트 가능한 코드로 통제했습니다.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B18E537-8716-4A9E-B899-0D2FB567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325100"/>
            <a:ext cx="676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36D"/>
                </a:solidFill>
                <a:latin typeface="Noto Sans KR"/>
                <a:ea typeface="Noto Sans KR"/>
                <a:cs typeface="Noto Sans KR"/>
              </a:defRPr>
            </a:pPr>
            <a:r>
              <a:rPr sz="638" b="0">
                <a:solidFill>
                  <a:srgbClr val="66736D"/>
                </a:solidFill>
                <a:latin typeface="Noto Sans KR"/>
                <a:ea typeface="Noto Sans KR"/>
                <a:cs typeface="Noto Sans KR"/>
              </a:rPr>
              <a:t>Customer Intelligence · Review Analysis Agent</a:t>
            </a:r>
          </a:p>
        </p:txBody>
      </p:sp>
    </p:spTree>
    <p:extLst>
      <p:ext uri="{BB962C8B-B14F-4D97-AF65-F5344CB8AC3E}">
        <p14:creationId xmlns:p14="http://schemas.microsoft.com/office/powerpoint/2010/main" val="276362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2026-09-05T08:12:43.8580000Z</dcterms:created>
  <dcterms:modified xsi:type="dcterms:W3CDTF">2026-09-05T08:12:43.8580000Z</dcterms:modified>
</coreProperties>
</file>