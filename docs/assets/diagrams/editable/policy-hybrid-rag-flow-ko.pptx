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95f7f0787248ed" /><Relationship Type="http://schemas.openxmlformats.org/officeDocument/2006/relationships/extended-properties" Target="/docProps/app.xml" Id="Rb3907a4b4a9e4672" /><Relationship Type="http://schemas.openxmlformats.org/officeDocument/2006/relationships/officeDocument" Target="/ppt/presentation.xml" Id="R55db77b462134c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a3f935b4d34ea3"/>
  </p:sldMasterIdLst>
  <p:notesMasterIdLst>
    <p:notesMasterId xmlns:r="http://schemas.openxmlformats.org/officeDocument/2006/relationships" r:id="Rc7fcad4e9e3444c9"/>
  </p:notesMasterIdLst>
  <p:sldIdLst>
    <p:sldId xmlns:r="http://schemas.openxmlformats.org/officeDocument/2006/relationships" id="256" r:id="R4b5d9152e964487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0c4e53866f4e8a" /><Relationship Type="http://schemas.openxmlformats.org/officeDocument/2006/relationships/slideMaster" Target="/ppt/slideMasters/slideMaster1.xml" Id="R2ca3f935b4d34ea3" /><Relationship Type="http://schemas.openxmlformats.org/officeDocument/2006/relationships/notesMaster" Target="/ppt/notesMasters/notesMaster1.xml" Id="Rc7fcad4e9e3444c9" /><Relationship Type="http://schemas.openxmlformats.org/officeDocument/2006/relationships/presProps" Target="/ppt/presProps.xml" Id="Rc9ef2eb0de1f4a40" /><Relationship Type="http://schemas.openxmlformats.org/officeDocument/2006/relationships/viewProps" Target="/ppt/viewProps.xml" Id="Rdb262b8495b9478e" /><Relationship Type="http://schemas.openxmlformats.org/officeDocument/2006/relationships/tableStyles" Target="/ppt/tableStyles.xml" Id="R4abb9c2b4ca94721" /><Relationship Type="http://schemas.openxmlformats.org/officeDocument/2006/relationships/slide" Target="/ppt/slides/slide1.xml" Id="R4b5d9152e96448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a5090a43bd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23b69675ed428d" /><Relationship Type="http://schemas.openxmlformats.org/officeDocument/2006/relationships/notesMaster" Target="/ppt/notesMasters/notesMaster1.xml" Id="Rfc6a25166d1248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src/rag/retriever.py, src/rag/rerankers.py, src/rag/evidence.py, src/rag/config.py. PostgreSQL FTS와 OpenAI Embedding 검색을 RRF로 통합하고, BGE-M3 multi-vector MaxSim 재정렬, 정책 우선순위, LLM 근거 유효성 판정을 거쳐 응답 상태를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8aa2f844c40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ccfcfb2874e1e" /><Relationship Type="http://schemas.openxmlformats.org/officeDocument/2006/relationships/slideLayout" Target="/ppt/slideLayouts/slideLayout1.xml" Id="R1d3dc2f08ed24b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dc2f08ed24b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264cae0c04d1b" /><Relationship Type="http://schemas.openxmlformats.org/officeDocument/2006/relationships/image" Target="/ppt/media/image.png" Id="R0055d2eff67d4075" /><Relationship Type="http://schemas.openxmlformats.org/officeDocument/2006/relationships/image" Target="/ppt/media/image.svg" Id="Rf442d953af724291" /><Relationship Type="http://schemas.openxmlformats.org/officeDocument/2006/relationships/image" Target="/ppt/media/image2.png" Id="R0d94b87b0b9f440f" /><Relationship Type="http://schemas.openxmlformats.org/officeDocument/2006/relationships/image" Target="/ppt/media/image2.svg" Id="R9e7c0d1f4ce24a09" /><Relationship Type="http://schemas.openxmlformats.org/officeDocument/2006/relationships/image" Target="/ppt/media/image3.png" Id="Re762d7b7e91e4739" /><Relationship Type="http://schemas.openxmlformats.org/officeDocument/2006/relationships/image" Target="/ppt/media/image3.svg" Id="Ra609e5a7650943c4" /><Relationship Type="http://schemas.openxmlformats.org/officeDocument/2006/relationships/image" Target="/ppt/media/image4.png" Id="R2ab1fb6f91284fb3" /><Relationship Type="http://schemas.openxmlformats.org/officeDocument/2006/relationships/image" Target="/ppt/media/image4.svg" Id="Rf95315a8f87b4046" /><Relationship Type="http://schemas.openxmlformats.org/officeDocument/2006/relationships/image" Target="/ppt/media/image5.png" Id="R57a0f8f19fc941c3" /><Relationship Type="http://schemas.openxmlformats.org/officeDocument/2006/relationships/image" Target="/ppt/media/image5.svg" Id="R3505bc22ca724746" /><Relationship Type="http://schemas.openxmlformats.org/officeDocument/2006/relationships/image" Target="/ppt/media/image6.png" Id="R0d397861fdfd4606" /><Relationship Type="http://schemas.openxmlformats.org/officeDocument/2006/relationships/image" Target="/ppt/media/image6.svg" Id="R14e9b0d04c354b9c" /><Relationship Type="http://schemas.openxmlformats.org/officeDocument/2006/relationships/image" Target="/ppt/media/image7.png" Id="R04eef1d5e2f441a9" /><Relationship Type="http://schemas.openxmlformats.org/officeDocument/2006/relationships/image" Target="/ppt/media/image7.svg" Id="R941169fe990348de" /><Relationship Type="http://schemas.openxmlformats.org/officeDocument/2006/relationships/notesSlide" Target="/ppt/notesSlides/notesSlide1.xml" Id="R59d422b802164c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93B79834-FB4D-422B-AE3E-F59E3A18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CUSTOMER INTELLIGENCE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3D88C71-CBAB-457A-99C0-3A51D90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정책 Hybrid RAG 검색과 근거 판정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91A9DB5-42FE-4A3C-B522-1332B63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서버가 권한과 유효 범위를 먼저 강제하고, Parent 후보를 재정렬·판정해 응답 상태를 결정합니다.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B09AEB1-CFBF-42F8-8183-68FB4F74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01  범위 제한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02DD3F8-9330-4321-8721-B48CDF1C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02  후보 검색과 정밀 재정렬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0202126-7D77-4A2D-A4DE-61D95FA4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049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03  근거 판정과 응답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3819FCAE-E78D-483C-88F3-8BB2BE46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B61075C9-87DC-4851-B972-C26D0D19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7165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52316E05-48EF-41D9-BC60-2682310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716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0385C5B1-5460-462B-B760-F9F74B4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1428750" cy="1000125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FE4FCBF-2454-4D88-86A5-765B52C7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21" name="그래픽 120">
            <a:extLst xmlns:a="http://schemas.openxmlformats.org/drawingml/2006/main">
              <a:ext uri="{FF2B5EF4-FFF2-40B4-BE49-F238E27FC236}">
                <a16:creationId xmlns:a16="http://schemas.microsoft.com/office/drawing/2014/main" id="{438CB460-D9A5-4113-9F2A-0D4D734883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5d2eff67d4075">
            <a:extLst>
              <a:ext uri="{96DAC541-7B7A-43D3-8B79-37D633B846F1}">
                <asvg:svgBlip xmlns:asvg="http://schemas.microsoft.com/office/drawing/2016/SVG/main" r:embed="Rf442d953af7242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2809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2F48715-C74A-43E8-8092-85955F6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43200"/>
            <a:ext cx="828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INPUT</a:t>
            </a:r>
            <a:endParaRPr sz="623" b="1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43F8872-A3D4-4BF7-944F-E0460D89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4650"/>
            <a:ext cx="828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정책 질문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7F0D695-7F4C-4113-9E07-923F6FC1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71825"/>
            <a:ext cx="82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질문과 사용자 권한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D39B7B2D-8076-4BF7-921F-68F74D8E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47925"/>
            <a:ext cx="1809750" cy="1381125"/>
          </a:xfrm>
          <a:prstGeom xmlns:a="http://schemas.openxmlformats.org/drawingml/2006/main" prst="roundRect">
            <a:avLst>
              <a:gd name="adj" fmla="val 8966"/>
            </a:avLst>
          </a:prstGeom>
          <a:solidFill xmlns:a="http://schemas.openxmlformats.org/drawingml/2006/main">
            <a:srgbClr val="F2FAF6"/>
          </a:solidFill>
          <a:ln xmlns:a="http://schemas.openxmlformats.org/drawingml/2006/main" w="11430">
            <a:solidFill>
              <a:srgbClr val="5E8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2DDB6D22-FAFA-4912-8DC5-B50EA56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622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27" name="그래픽 126">
            <a:extLst xmlns:a="http://schemas.openxmlformats.org/drawingml/2006/main">
              <a:ext uri="{FF2B5EF4-FFF2-40B4-BE49-F238E27FC236}">
                <a16:creationId xmlns:a16="http://schemas.microsoft.com/office/drawing/2014/main" id="{F166F041-54D3-45C4-A7A6-03FE3AEDB8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4b87b0b9f440f">
            <a:extLst>
              <a:ext uri="{96DAC541-7B7A-43D3-8B79-37D633B846F1}">
                <asvg:svgBlip xmlns:asvg="http://schemas.microsoft.com/office/drawing/2016/SVG/main" r:embed="R9e7c0d1f4ce24a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26193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9C93906F-66AD-4214-B7D8-C1DD9872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52700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SERVER FILTER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BB34C7E5-CD39-45B7-BD53-0D5ABF43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24150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정책 범위 필터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21252AE3-7CA6-4D1F-851E-FEC97D00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81325"/>
            <a:ext cx="12096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승인·제품·유효기간</a:t>
            </a:r>
            <a:endParaRPr sz="800" b="0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Collection·관할·부서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801F7FF-21CD-4650-85ED-D02CCA9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57575"/>
            <a:ext cx="6381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7664F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권한 강제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E3EFCCC9-57FB-415E-91CE-B16814A3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1809750" cy="981075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CB97060C-3DF4-4E9B-925F-DA017A77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34" name="그래픽 133">
            <a:extLst xmlns:a="http://schemas.openxmlformats.org/drawingml/2006/main">
              <a:ext uri="{FF2B5EF4-FFF2-40B4-BE49-F238E27FC236}">
                <a16:creationId xmlns:a16="http://schemas.microsoft.com/office/drawing/2014/main" id="{6B0ACF68-7BDE-40B2-A159-5A572ACE87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2d7b7e91e4739">
            <a:extLst>
              <a:ext uri="{96DAC541-7B7A-43D3-8B79-37D633B846F1}">
                <asvg:svgBlip xmlns:asvg="http://schemas.microsoft.com/office/drawing/2016/SVG/main" r:embed="Ra609e5a7650943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2152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6FE55EF3-ABA9-4295-8C7C-6603E68B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85975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KEYWORD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875F37A5-55EF-4A6B-A467-A49934E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57425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PostgreSQL FTS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CD47889-D184-4A5C-8F32-5E61F96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14600"/>
            <a:ext cx="1209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websearch_to_tsquery</a:t>
            </a:r>
            <a:endParaRPr sz="800" b="0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Child 후보 10개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DE2DCBEA-F5A3-4620-B308-7C05865D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1809750" cy="981075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11430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F21B299E-0349-4B3F-810F-3BD497A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40" name="그래픽 139">
            <a:extLst xmlns:a="http://schemas.openxmlformats.org/drawingml/2006/main">
              <a:ext uri="{FF2B5EF4-FFF2-40B4-BE49-F238E27FC236}">
                <a16:creationId xmlns:a16="http://schemas.microsoft.com/office/drawing/2014/main" id="{83882E9C-F4ED-44F4-B7D3-8798E3506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1fb6f91284fb3">
            <a:extLst>
              <a:ext uri="{96DAC541-7B7A-43D3-8B79-37D633B846F1}">
                <asvg:svgBlip xmlns:asvg="http://schemas.microsoft.com/office/drawing/2016/SVG/main" r:embed="Rf95315a8f87b40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3638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21F7B810-C47D-4637-87E8-74EC285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71875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SEMANTIC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82E8BA3-7429-4A08-8D74-B70DA39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43325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Embedding </a:t>
            </a: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기반</a:t>
            </a: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 </a:t>
            </a: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검색</a:t>
            </a:r>
            <a:endParaRPr sz="990" b="1">
              <a:solidFill>
                <a:srgbClr val="17231F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695E82F7-376F-448E-8D80-4C699B58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00500"/>
            <a:ext cx="1209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cosine + HNSW</a:t>
            </a:r>
            <a:endParaRPr sz="800" b="0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Child 후보 10개</a:t>
            </a:r>
          </a:p>
        </p:txBody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9E31B081-F6B2-4B6F-BA5B-8D95B0CA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19050">
            <a:solidFill>
              <a:srgbClr val="27664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FUSION RRF</a:t>
            </a:r>
            <a:endParaRPr sz="800" b="1">
              <a:solidFill>
                <a:srgbClr val="27664F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ctr">
              <a:buNone/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</a:p>
          <a:p xmlns:a="http://schemas.openxmlformats.org/drawingml/2006/main">
            <a:pPr algn="ctr">
              <a:buNone/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Parent 기준 통합</a:t>
            </a:r>
          </a:p>
          <a:p xmlns:a="http://schemas.openxmlformats.org/drawingml/2006/main">
            <a:pPr algn="ctr">
              <a:buNone/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k = 60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F4A6780-8CDF-44B6-8990-F280E58A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95525"/>
            <a:ext cx="1809750" cy="1685925"/>
          </a:xfrm>
          <a:prstGeom xmlns:a="http://schemas.openxmlformats.org/drawingml/2006/main" prst="roundRect">
            <a:avLst>
              <a:gd name="adj" fmla="val 7345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19050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EA38C7C0-BAD4-4DB3-88A5-5891413C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098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47" name="그래픽 146">
            <a:extLst xmlns:a="http://schemas.openxmlformats.org/drawingml/2006/main">
              <a:ext uri="{FF2B5EF4-FFF2-40B4-BE49-F238E27FC236}">
                <a16:creationId xmlns:a16="http://schemas.microsoft.com/office/drawing/2014/main" id="{AAD2E907-E1E7-4501-98AC-798AC60694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0f8f19fc941c3">
            <a:extLst>
              <a:ext uri="{96DAC541-7B7A-43D3-8B79-37D633B846F1}">
                <asvg:svgBlip xmlns:asvg="http://schemas.microsoft.com/office/drawing/2016/SVG/main" r:embed="R3505bc22ca7247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81975" y="2466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8EE758A5-3D53-4DA4-B1EB-E0A9C816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RERANKER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BE6CA177-BB3F-40DB-8668-E446350D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BGE-M3 </a:t>
            </a: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재정렬</a:t>
            </a:r>
            <a:endParaRPr sz="990" b="1">
              <a:solidFill>
                <a:srgbClr val="17231F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AE6C1D7D-367F-4B16-A2FF-459C03A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12096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Parent 후보 10개</a:t>
            </a:r>
            <a:endParaRPr sz="800" b="0">
              <a:solidFill>
                <a:srgbClr val="64716B"/>
              </a:solidFill>
              <a:latin typeface="나눔고딕OTF"/>
              <a:ea typeface="나눔고딕OTF"/>
              <a:cs typeface="나눔고딕OTF"/>
            </a:endParaRP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ColBERT Late Interaction</a:t>
            </a: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질문 토큰별 MaxSim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5B5B728A-C31C-4B52-A0C8-F91A4B17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58A20C6B-FC8F-4AF0-8E21-A48C0DD0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9631921E-E5ED-4F23-8170-7A6198AA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01264B33-0348-413F-8B0B-B6D12262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57188E84-4849-4EAD-A2EC-21A4C11B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084E9CA4-3CCC-4D26-BD2A-14F53321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FFF0515D-58FD-4DF0-8190-790FA013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49" name="사각형: 둥근 모서리 48">
            <a:extLst xmlns:a="http://schemas.openxmlformats.org/drawingml/2006/main">
              <a:ext uri="{FF2B5EF4-FFF2-40B4-BE49-F238E27FC236}">
                <a16:creationId xmlns:a16="http://schemas.microsoft.com/office/drawing/2014/main" id="{AF57A2A6-461D-4091-B61B-E45F08D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4B578B54-9DCF-4A91-8FAD-77B1960A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34BB8860-F09B-4EC9-908B-1D445D58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2" name="사각형: 둥근 모서리 51">
            <a:extLst xmlns:a="http://schemas.openxmlformats.org/drawingml/2006/main">
              <a:ext uri="{FF2B5EF4-FFF2-40B4-BE49-F238E27FC236}">
                <a16:creationId xmlns:a16="http://schemas.microsoft.com/office/drawing/2014/main" id="{27CEE076-114A-4C88-8C8F-F8991570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AD497F72-1512-4BEF-B195-E97A8EF8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4" name="사각형: 둥근 모서리 53">
            <a:extLst xmlns:a="http://schemas.openxmlformats.org/drawingml/2006/main">
              <a:ext uri="{FF2B5EF4-FFF2-40B4-BE49-F238E27FC236}">
                <a16:creationId xmlns:a16="http://schemas.microsoft.com/office/drawing/2014/main" id="{26552B2E-EEF1-49C6-A0C5-EC877410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5" name="사각형: 둥근 모서리 54">
            <a:extLst xmlns:a="http://schemas.openxmlformats.org/drawingml/2006/main">
              <a:ext uri="{FF2B5EF4-FFF2-40B4-BE49-F238E27FC236}">
                <a16:creationId xmlns:a16="http://schemas.microsoft.com/office/drawing/2014/main" id="{254B0905-56BF-4615-A2A2-A1F7C811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6" name="사각형: 둥근 모서리 55">
            <a:extLst xmlns:a="http://schemas.openxmlformats.org/drawingml/2006/main">
              <a:ext uri="{FF2B5EF4-FFF2-40B4-BE49-F238E27FC236}">
                <a16:creationId xmlns:a16="http://schemas.microsoft.com/office/drawing/2014/main" id="{BC7BC762-9986-46F4-80DA-81E5EDA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7" name="사각형: 둥근 모서리 56">
            <a:extLst xmlns:a="http://schemas.openxmlformats.org/drawingml/2006/main">
              <a:ext uri="{FF2B5EF4-FFF2-40B4-BE49-F238E27FC236}">
                <a16:creationId xmlns:a16="http://schemas.microsoft.com/office/drawing/2014/main" id="{7D70F92E-A043-41B4-BA6C-8258653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28825"/>
            <a:ext cx="1562100" cy="800100"/>
          </a:xfrm>
          <a:prstGeom xmlns:a="http://schemas.openxmlformats.org/drawingml/2006/main" prst="roundRect">
            <a:avLst>
              <a:gd name="adj" fmla="val 15476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13208817-AE35-4C72-A0B7-5562DFE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431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68" name="그래픽 167">
            <a:extLst xmlns:a="http://schemas.openxmlformats.org/drawingml/2006/main">
              <a:ext uri="{FF2B5EF4-FFF2-40B4-BE49-F238E27FC236}">
                <a16:creationId xmlns:a16="http://schemas.microsoft.com/office/drawing/2014/main" id="{5D650B7A-6CE0-4009-BD20-F88C8F009A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97861fdfd4606">
            <a:extLst>
              <a:ext uri="{96DAC541-7B7A-43D3-8B79-37D633B846F1}">
                <asvg:svgBlip xmlns:asvg="http://schemas.microsoft.com/office/drawing/2016/SVG/main" r:embed="R14e9b0d04c354b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2200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374E1E27-CC70-4A14-B421-BE9B1416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133600"/>
            <a:ext cx="9620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POLICY RULE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2D80535D-94FC-47FB-BF8D-5F231A6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305050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정책 우선순위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47624DFC-B437-4072-A5DE-420F210D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562225"/>
            <a:ext cx="962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제품 범위·Authority·최신 유효 버전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D46B47BD-0984-40B8-B5D5-92986495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81350"/>
            <a:ext cx="1562100" cy="971550"/>
          </a:xfrm>
          <a:prstGeom xmlns:a="http://schemas.openxmlformats.org/drawingml/2006/main" prst="roundRect">
            <a:avLst>
              <a:gd name="adj" fmla="val 12745"/>
            </a:avLst>
          </a:prstGeom>
          <a:solidFill xmlns:a="http://schemas.openxmlformats.org/drawingml/2006/main">
            <a:srgbClr val="F6F1FB"/>
          </a:solidFill>
          <a:ln xmlns:a="http://schemas.openxmlformats.org/drawingml/2006/main" w="19050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64" name="사각형: 둥근 모서리 63">
            <a:extLst xmlns:a="http://schemas.openxmlformats.org/drawingml/2006/main">
              <a:ext uri="{FF2B5EF4-FFF2-40B4-BE49-F238E27FC236}">
                <a16:creationId xmlns:a16="http://schemas.microsoft.com/office/drawing/2014/main" id="{9B12D04C-D83C-489B-AE4B-D0B9C4D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9565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pic>
        <p:nvPicPr>
          <p:cNvPr id="174" name="그래픽 173">
            <a:extLst xmlns:a="http://schemas.openxmlformats.org/drawingml/2006/main">
              <a:ext uri="{FF2B5EF4-FFF2-40B4-BE49-F238E27FC236}">
                <a16:creationId xmlns:a16="http://schemas.microsoft.com/office/drawing/2014/main" id="{03A64693-E7B8-4DC7-A75E-182AA9A392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ef1d5e2f441a9">
            <a:extLst>
              <a:ext uri="{96DAC541-7B7A-43D3-8B79-37D633B846F1}">
                <asvg:svgBlip xmlns:asvg="http://schemas.microsoft.com/office/drawing/2016/SVG/main" r:embed="R941169fe990348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3352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4B3747A0-B65E-4D46-91C0-AA268EBF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286125"/>
            <a:ext cx="9620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LLM JUDGMENT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FA833241-67E7-4ED7-AECB-22B0EE8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457575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근거</a:t>
            </a: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 </a:t>
            </a: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유효성</a:t>
            </a: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 </a:t>
            </a:r>
            <a:r>
              <a:rPr sz="99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판정</a:t>
            </a:r>
            <a:endParaRPr sz="990" b="1">
              <a:solidFill>
                <a:srgbClr val="17231F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9FCE45AF-3412-4449-B377-CBD1AEF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714750"/>
            <a:ext cx="962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8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최종 Parent K=5</a:t>
            </a: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</a:p>
          <a:p xmlns:a="http://schemas.openxmlformats.org/drawingml/2006/main">
            <a:pPr algn="l">
              <a:buNone/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sufficient · insufficient · conflict</a:t>
            </a:r>
          </a:p>
        </p:txBody>
      </p:sp>
      <p:sp>
        <p:nvSpPr>
          <p:cNvPr id="69" name="사각형: 둥근 모서리 68">
            <a:extLst xmlns:a="http://schemas.openxmlformats.org/drawingml/2006/main">
              <a:ext uri="{FF2B5EF4-FFF2-40B4-BE49-F238E27FC236}">
                <a16:creationId xmlns:a16="http://schemas.microsoft.com/office/drawing/2014/main" id="{7C18903D-73D0-4A2F-9A82-20910F62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A8018E2F-CA49-46A4-BEB0-334EF0DB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27664F"/>
                </a:solidFill>
                <a:latin typeface="나눔고딕OTF"/>
                <a:ea typeface="나눔고딕OTF"/>
                <a:cs typeface="나눔고딕OTF"/>
              </a:rPr>
              <a:t>SUFFICIENT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D62CD120-E027-4382-821A-747E16C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근거</a:t>
            </a:r>
            <a:r>
              <a:rPr sz="8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 </a:t>
            </a:r>
            <a:r>
              <a:rPr sz="8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인용</a:t>
            </a:r>
            <a:r>
              <a:rPr sz="8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 </a:t>
            </a:r>
            <a:r>
              <a:rPr sz="8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답변</a:t>
            </a:r>
            <a:endParaRPr sz="840" b="1">
              <a:solidFill>
                <a:srgbClr val="17231F"/>
              </a:solidFill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91B712C-1C02-4E1B-A9A7-DFDB853E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유효 정책과 출처</a:t>
            </a:r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E6E61133-560F-4F42-A4B7-1A01E1F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885914C1-7ACA-4D57-BCD7-7F12FF8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INSUFFICIENT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59ACDC9-5A39-4DD4-BF2E-92F88E6F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근거 부족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64E5320F-7DB9-40C3-A035-E9B90AAE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no_evidence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461427BB-A5B5-4CD1-9B01-1C30389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A562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5C37F421-40C6-445B-A767-8C23F9A2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A5621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A56216"/>
                </a:solidFill>
                <a:latin typeface="나눔고딕OTF"/>
                <a:ea typeface="나눔고딕OTF"/>
                <a:cs typeface="나눔고딕OTF"/>
              </a:rPr>
              <a:t>CONFLICT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CA0E312F-A924-4127-997F-AD7F24AB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정책 충돌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792D298-7DBD-4567-B611-AE6C5D80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담당자 확인</a:t>
            </a:r>
          </a:p>
        </p:txBody>
      </p:sp>
      <p:sp>
        <p:nvSpPr>
          <p:cNvPr id="81" name="사각형: 둥근 모서리 80">
            <a:extLst xmlns:a="http://schemas.openxmlformats.org/drawingml/2006/main">
              <a:ext uri="{FF2B5EF4-FFF2-40B4-BE49-F238E27FC236}">
                <a16:creationId xmlns:a16="http://schemas.microsoft.com/office/drawing/2014/main" id="{16FCA979-1090-43A3-95D6-0BFA3183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1430">
            <a:solidFill>
              <a:srgbClr val="A13C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45D2B199-DFE2-43DE-AA7A-FCA9087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" b="1">
                <a:solidFill>
                  <a:srgbClr val="A13C4A"/>
                </a:solidFill>
                <a:latin typeface="Noto Sans KR"/>
                <a:ea typeface="Noto Sans KR"/>
                <a:cs typeface="Noto Sans KR"/>
              </a:defRPr>
            </a:pPr>
            <a:r>
              <a:rPr sz="700" b="1">
                <a:solidFill>
                  <a:srgbClr val="A13C4A"/>
                </a:solidFill>
                <a:latin typeface="나눔고딕OTF"/>
                <a:ea typeface="나눔고딕OTF"/>
                <a:cs typeface="나눔고딕OTF"/>
              </a:rPr>
              <a:t>MEDICAL · SAFETY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2AA49179-5B99-4D55-AC14-13EBBB8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17231F"/>
                </a:solidFill>
                <a:latin typeface="나눔고딕OTF"/>
                <a:ea typeface="나눔고딕OTF"/>
                <a:cs typeface="나눔고딕OTF"/>
              </a:rPr>
              <a:t>즉시 Escalation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183F22DB-FBC9-4FF7-AA0C-EAB4F5CC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4716B"/>
                </a:solidFill>
                <a:latin typeface="나눔고딕OTF"/>
                <a:ea typeface="나눔고딕OTF"/>
                <a:cs typeface="나눔고딕OTF"/>
              </a:rPr>
              <a:t>안전 담당자 연결</a:t>
            </a:r>
          </a:p>
        </p:txBody>
      </p:sp>
      <p:sp>
        <p:nvSpPr>
          <p:cNvPr id="85" name="직선 연결선 84">
            <a:extLst xmlns:a="http://schemas.openxmlformats.org/drawingml/2006/main">
              <a:ext uri="{FF2B5EF4-FFF2-40B4-BE49-F238E27FC236}">
                <a16:creationId xmlns:a16="http://schemas.microsoft.com/office/drawing/2014/main" id="{FDC0003D-EC8C-4B11-AE54-9B26233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337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6" name="직선 연결선 85">
            <a:extLst xmlns:a="http://schemas.openxmlformats.org/drawingml/2006/main">
              <a:ext uri="{FF2B5EF4-FFF2-40B4-BE49-F238E27FC236}">
                <a16:creationId xmlns:a16="http://schemas.microsoft.com/office/drawing/2014/main" id="{FF85C434-977D-4FC2-9731-D912D569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337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7" name="직선 연결선 86">
            <a:extLst xmlns:a="http://schemas.openxmlformats.org/drawingml/2006/main">
              <a:ext uri="{FF2B5EF4-FFF2-40B4-BE49-F238E27FC236}">
                <a16:creationId xmlns:a16="http://schemas.microsoft.com/office/drawing/2014/main" id="{9A1E5ABD-450B-4E3C-8B8A-2338EBBD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6697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8" name="직선 연결선 87">
            <a:extLst xmlns:a="http://schemas.openxmlformats.org/drawingml/2006/main">
              <a:ext uri="{FF2B5EF4-FFF2-40B4-BE49-F238E27FC236}">
                <a16:creationId xmlns:a16="http://schemas.microsoft.com/office/drawing/2014/main" id="{0982BF80-595C-49C5-840A-A91BAA36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669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89" name="직선 연결선 88">
            <a:extLst xmlns:a="http://schemas.openxmlformats.org/drawingml/2006/main">
              <a:ext uri="{FF2B5EF4-FFF2-40B4-BE49-F238E27FC236}">
                <a16:creationId xmlns:a16="http://schemas.microsoft.com/office/drawing/2014/main" id="{3C06DD03-1A4C-42D1-BF8A-6C6DB2BE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337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0" name="직선 연결선 89">
            <a:extLst xmlns:a="http://schemas.openxmlformats.org/drawingml/2006/main">
              <a:ext uri="{FF2B5EF4-FFF2-40B4-BE49-F238E27FC236}">
                <a16:creationId xmlns:a16="http://schemas.microsoft.com/office/drawing/2014/main" id="{0D7DAB72-F2DE-45DE-A937-CC375FB4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33725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1" name="직선 연결선 90">
            <a:extLst xmlns:a="http://schemas.openxmlformats.org/drawingml/2006/main">
              <a:ext uri="{FF2B5EF4-FFF2-40B4-BE49-F238E27FC236}">
                <a16:creationId xmlns:a16="http://schemas.microsoft.com/office/drawing/2014/main" id="{9F9D7CC3-EBB7-475E-A87A-DC0CA061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52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2" name="직선 연결선 91">
            <a:extLst xmlns:a="http://schemas.openxmlformats.org/drawingml/2006/main">
              <a:ext uri="{FF2B5EF4-FFF2-40B4-BE49-F238E27FC236}">
                <a16:creationId xmlns:a16="http://schemas.microsoft.com/office/drawing/2014/main" id="{0F049F24-615F-47BF-9D1B-9073F60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669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3" name="직선 연결선 92">
            <a:extLst xmlns:a="http://schemas.openxmlformats.org/drawingml/2006/main">
              <a:ext uri="{FF2B5EF4-FFF2-40B4-BE49-F238E27FC236}">
                <a16:creationId xmlns:a16="http://schemas.microsoft.com/office/drawing/2014/main" id="{6B99DCB3-3A6E-4F3B-AF6F-8E22E9CE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4" name="직선 연결선 93">
            <a:extLst xmlns:a="http://schemas.openxmlformats.org/drawingml/2006/main">
              <a:ext uri="{FF2B5EF4-FFF2-40B4-BE49-F238E27FC236}">
                <a16:creationId xmlns:a16="http://schemas.microsoft.com/office/drawing/2014/main" id="{03E9E5FD-4D86-4AB6-8DA0-F20C5FA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5" name="직선 연결선 94">
            <a:extLst xmlns:a="http://schemas.openxmlformats.org/drawingml/2006/main">
              <a:ext uri="{FF2B5EF4-FFF2-40B4-BE49-F238E27FC236}">
                <a16:creationId xmlns:a16="http://schemas.microsoft.com/office/drawing/2014/main" id="{1057FA4A-F133-47FB-AE4A-C6AD6F5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528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6" name="직선 연결선 95">
            <a:extLst xmlns:a="http://schemas.openxmlformats.org/drawingml/2006/main">
              <a:ext uri="{FF2B5EF4-FFF2-40B4-BE49-F238E27FC236}">
                <a16:creationId xmlns:a16="http://schemas.microsoft.com/office/drawing/2014/main" id="{68B0F59C-9010-43F4-BAAA-DA08CB7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7" name="직선 연결선 96">
            <a:extLst xmlns:a="http://schemas.openxmlformats.org/drawingml/2006/main">
              <a:ext uri="{FF2B5EF4-FFF2-40B4-BE49-F238E27FC236}">
                <a16:creationId xmlns:a16="http://schemas.microsoft.com/office/drawing/2014/main" id="{3932EA79-B944-474E-ABD2-97C08A2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8" name="직선 연결선 97">
            <a:extLst xmlns:a="http://schemas.openxmlformats.org/drawingml/2006/main">
              <a:ext uri="{FF2B5EF4-FFF2-40B4-BE49-F238E27FC236}">
                <a16:creationId xmlns:a16="http://schemas.microsoft.com/office/drawing/2014/main" id="{002F3415-E128-4CA6-BF81-79868EE6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99" name="직선 연결선 98">
            <a:extLst xmlns:a="http://schemas.openxmlformats.org/drawingml/2006/main">
              <a:ext uri="{FF2B5EF4-FFF2-40B4-BE49-F238E27FC236}">
                <a16:creationId xmlns:a16="http://schemas.microsoft.com/office/drawing/2014/main" id="{EDE0283B-DB0A-478B-8F94-E695A446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1738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0" name="직선 연결선 99">
            <a:extLst xmlns:a="http://schemas.openxmlformats.org/drawingml/2006/main">
              <a:ext uri="{FF2B5EF4-FFF2-40B4-BE49-F238E27FC236}">
                <a16:creationId xmlns:a16="http://schemas.microsoft.com/office/drawing/2014/main" id="{E3414997-86FF-4417-B041-A6A952A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2892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1" name="직선 연결선 100">
            <a:extLst xmlns:a="http://schemas.openxmlformats.org/drawingml/2006/main">
              <a:ext uri="{FF2B5EF4-FFF2-40B4-BE49-F238E27FC236}">
                <a16:creationId xmlns:a16="http://schemas.microsoft.com/office/drawing/2014/main" id="{2498DAD6-79A5-4250-8955-633DB007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529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2" name="직선 연결선 101">
            <a:extLst xmlns:a="http://schemas.openxmlformats.org/drawingml/2006/main">
              <a:ext uri="{FF2B5EF4-FFF2-40B4-BE49-F238E27FC236}">
                <a16:creationId xmlns:a16="http://schemas.microsoft.com/office/drawing/2014/main" id="{47E4C878-9C09-430D-8A77-BCEB2E9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91350" y="4514849"/>
            <a:ext cx="4109466" cy="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3" name="직선 연결선 102">
            <a:extLst xmlns:a="http://schemas.openxmlformats.org/drawingml/2006/main">
              <a:ext uri="{FF2B5EF4-FFF2-40B4-BE49-F238E27FC236}">
                <a16:creationId xmlns:a16="http://schemas.microsoft.com/office/drawing/2014/main" id="{AA5FFB60-625A-44A7-AEB8-E79772A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4" name="직선 연결선 103">
            <a:extLst xmlns:a="http://schemas.openxmlformats.org/drawingml/2006/main">
              <a:ext uri="{FF2B5EF4-FFF2-40B4-BE49-F238E27FC236}">
                <a16:creationId xmlns:a16="http://schemas.microsoft.com/office/drawing/2014/main" id="{2C3AE90C-17C2-4CB6-A00F-0206432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5" name="직선 연결선 104">
            <a:extLst xmlns:a="http://schemas.openxmlformats.org/drawingml/2006/main">
              <a:ext uri="{FF2B5EF4-FFF2-40B4-BE49-F238E27FC236}">
                <a16:creationId xmlns:a16="http://schemas.microsoft.com/office/drawing/2014/main" id="{3C7CF1A4-67CB-447E-9346-4931FD0E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6" name="직선 연결선 105">
            <a:extLst xmlns:a="http://schemas.openxmlformats.org/drawingml/2006/main">
              <a:ext uri="{FF2B5EF4-FFF2-40B4-BE49-F238E27FC236}">
                <a16:creationId xmlns:a16="http://schemas.microsoft.com/office/drawing/2014/main" id="{B950FB83-8F04-4C49-BBE2-CD0B5158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나눔고딕OTF"/>
              <a:ea typeface="나눔고딕OTF"/>
              <a:cs typeface="나눔고딕OTF"/>
            </a:endParaRPr>
          </a:p>
        </p:txBody>
      </p:sp>
      <p:sp>
        <p:nvSpPr>
          <p:cNvPr id="107" name="직선 연결선 106">
            <a:extLst xmlns:a="http://schemas.openxmlformats.org/drawingml/2006/main">
              <a:ext uri="{FF2B5EF4-FFF2-40B4-BE49-F238E27FC236}">
                <a16:creationId xmlns:a16="http://schemas.microsoft.com/office/drawing/2014/main" id="{96025AA7-8FB6-4B71-B455-A7ADEB4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696C4C47-EE47-451E-8960-52D1FAC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150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핵심 통제: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F026D076-3A86-47EB-AECA-B117C060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15075"/>
            <a:ext cx="1051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6564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46564F"/>
                </a:solidFill>
                <a:latin typeface="Noto Sans KR"/>
                <a:ea typeface="Noto Sans KR"/>
                <a:cs typeface="Noto Sans KR"/>
              </a:rPr>
              <a:t>서버 필터를 통과한 Child만 검색하고, Parent 재정렬과 근거 판정을 통과한 정책만 Agent 답변에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022943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2026-10-09T08:09:33.5300000Z</dcterms:created>
  <dcterms:modified xsi:type="dcterms:W3CDTF">2026-10-09T08:09:33.5300000Z</dcterms:modified>
</coreProperties>
</file>